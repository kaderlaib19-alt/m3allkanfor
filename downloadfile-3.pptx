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0" r:id="rId3"/>
    <p:sldId id="281" r:id="rId4"/>
    <p:sldId id="282" r:id="rId5"/>
    <p:sldId id="283" r:id="rId6"/>
    <p:sldId id="277" r:id="rId7"/>
    <p:sldId id="279" r:id="rId8"/>
    <p:sldId id="259" r:id="rId9"/>
    <p:sldId id="256" r:id="rId10"/>
    <p:sldId id="273" r:id="rId11"/>
    <p:sldId id="278" r:id="rId12"/>
    <p:sldId id="284" r:id="rId13"/>
    <p:sldId id="268" r:id="rId14"/>
    <p:sldId id="263" r:id="rId15"/>
    <p:sldId id="261" r:id="rId16"/>
    <p:sldId id="271" r:id="rId17"/>
    <p:sldId id="267" r:id="rId18"/>
    <p:sldId id="274" r:id="rId19"/>
    <p:sldId id="265" r:id="rId20"/>
    <p:sldId id="258" r:id="rId21"/>
    <p:sldId id="269" r:id="rId22"/>
    <p:sldId id="262" r:id="rId23"/>
    <p:sldId id="275" r:id="rId24"/>
    <p:sldId id="270" r:id="rId25"/>
    <p:sldId id="276" r:id="rId26"/>
    <p:sldId id="272" r:id="rId27"/>
    <p:sldId id="266" r:id="rId28"/>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99FF"/>
    <a:srgbClr val="FF99CC"/>
    <a:srgbClr val="CC0099"/>
    <a:srgbClr val="990099"/>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1460"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1288169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1864269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31835071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469326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615570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2989521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519500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10804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341299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1459467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DDEA2E4-3727-4D18-A7B3-1911F1839DCE}" type="datetimeFigureOut">
              <a:rPr lang="fr-FR" smtClean="0"/>
              <a:pPr/>
              <a:t>14/10/2025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58A9D1E-EB32-4EAC-9440-F39C9448878B}" type="slidenum">
              <a:rPr lang="fr-FR" smtClean="0"/>
              <a:pPr/>
              <a:t>‹#›</a:t>
            </a:fld>
            <a:endParaRPr lang="fr-FR"/>
          </a:p>
        </p:txBody>
      </p:sp>
    </p:spTree>
    <p:extLst>
      <p:ext uri="{BB962C8B-B14F-4D97-AF65-F5344CB8AC3E}">
        <p14:creationId xmlns:p14="http://schemas.microsoft.com/office/powerpoint/2010/main" val="3724151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DEA2E4-3727-4D18-A7B3-1911F1839DCE}" type="datetimeFigureOut">
              <a:rPr lang="fr-FR" smtClean="0"/>
              <a:pPr/>
              <a:t>14/10/2025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8A9D1E-EB32-4EAC-9440-F39C9448878B}" type="slidenum">
              <a:rPr lang="fr-FR" smtClean="0"/>
              <a:pPr/>
              <a:t>‹#›</a:t>
            </a:fld>
            <a:endParaRPr lang="fr-FR"/>
          </a:p>
        </p:txBody>
      </p:sp>
    </p:spTree>
    <p:extLst>
      <p:ext uri="{BB962C8B-B14F-4D97-AF65-F5344CB8AC3E}">
        <p14:creationId xmlns:p14="http://schemas.microsoft.com/office/powerpoint/2010/main" val="35106945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8.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1.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69" y="0"/>
            <a:ext cx="903649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032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RÃ©sultat de recherche d'images pour &quot;â«Ø§ÙØ¬ÙØ§Ø² Ø§ÙÙØ¶ÙÙ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p:cNvSpPr/>
          <p:nvPr/>
        </p:nvSpPr>
        <p:spPr>
          <a:xfrm>
            <a:off x="6283479" y="188640"/>
            <a:ext cx="2754993"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algn="ctr"/>
            <a:r>
              <a:rPr lang="ar-DZ" sz="7200" b="1" dirty="0"/>
              <a:t>الميدان</a:t>
            </a:r>
            <a:endParaRPr lang="fr-FR" sz="7200" dirty="0"/>
          </a:p>
        </p:txBody>
      </p:sp>
      <p:sp>
        <p:nvSpPr>
          <p:cNvPr id="16" name="Rectangle 15"/>
          <p:cNvSpPr/>
          <p:nvPr/>
        </p:nvSpPr>
        <p:spPr>
          <a:xfrm>
            <a:off x="105528" y="127084"/>
            <a:ext cx="5856090" cy="132343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p>
            <a:pPr rtl="1"/>
            <a:r>
              <a:rPr lang="ar-DZ" sz="8000" b="1" dirty="0"/>
              <a:t>الإنسان و الصحة</a:t>
            </a:r>
            <a:endParaRPr lang="fr-FR" sz="8000" dirty="0"/>
          </a:p>
        </p:txBody>
      </p:sp>
      <p:pic>
        <p:nvPicPr>
          <p:cNvPr id="17" name="Picture 2" descr="Image associÃ©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4513729"/>
            <a:ext cx="4248472" cy="2336501"/>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Image associÃ©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4521500"/>
            <a:ext cx="4322456" cy="2328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619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3316"/>
                                        </p:tgtEl>
                                        <p:attrNameLst>
                                          <p:attrName>style.visibility</p:attrName>
                                        </p:attrNameLst>
                                      </p:cBhvr>
                                      <p:to>
                                        <p:strVal val="visible"/>
                                      </p:to>
                                    </p:set>
                                    <p:animEffect transition="in" filter="barn(inVertical)">
                                      <p:cBhvr>
                                        <p:cTn id="12" dur="500"/>
                                        <p:tgtEl>
                                          <p:spTgt spid="1331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barn(inVertical)">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3318"/>
                                        </p:tgtEl>
                                        <p:attrNameLst>
                                          <p:attrName>style.visibility</p:attrName>
                                        </p:attrNameLst>
                                      </p:cBhvr>
                                      <p:to>
                                        <p:strVal val="visible"/>
                                      </p:to>
                                    </p:set>
                                    <p:animEffect transition="in" filter="barn(inVertical)">
                                      <p:cBhvr>
                                        <p:cTn id="22" dur="500"/>
                                        <p:tgtEl>
                                          <p:spTgt spid="1331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barn(inVertical)">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184443" y="1742937"/>
            <a:ext cx="8784976" cy="280076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r" rtl="1"/>
            <a:r>
              <a:rPr lang="ar-DZ" sz="4400" b="1" dirty="0"/>
              <a:t>امام </a:t>
            </a:r>
            <a:r>
              <a:rPr lang="ar-SA" sz="4400" b="1" dirty="0"/>
              <a:t>اختلال وظيفي عضوي او وراثي ، يقدم إرشادات وجيهة بتجنيد موارده المتعلقة بالتنسيق الوظيفي للعضوية ،التكاثر وانتقال الصفات الوراثية</a:t>
            </a:r>
            <a:endParaRPr lang="fr-FR" sz="4400" dirty="0"/>
          </a:p>
        </p:txBody>
      </p:sp>
      <p:sp>
        <p:nvSpPr>
          <p:cNvPr id="8" name="Rectangle 7"/>
          <p:cNvSpPr/>
          <p:nvPr/>
        </p:nvSpPr>
        <p:spPr>
          <a:xfrm>
            <a:off x="2364849" y="332656"/>
            <a:ext cx="3286477" cy="830997"/>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ar-DZ" sz="4800" b="1" dirty="0"/>
              <a:t>الكفاءة الختامية</a:t>
            </a:r>
            <a:endParaRPr lang="fr-FR" sz="4800" dirty="0"/>
          </a:p>
        </p:txBody>
      </p:sp>
      <p:pic>
        <p:nvPicPr>
          <p:cNvPr id="11266" name="Picture 2" descr="RÃ©sultat de recherche d'images pour &quot;â«ØµÙÙÙØ§ ØªØµØ­ÙØ§â¬â&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43705"/>
            <a:ext cx="9143999" cy="23142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Ã©sultat de recherche d'images pour &quot;â«Ø§ÙÙØºØ© Ø§ÙØ¹Ø±Ø¨ÙØ©â¬â&quo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1927" y="0"/>
            <a:ext cx="3020107" cy="1742937"/>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RÃ©sultat de recherche d'images pour &quot;â«ØµØ¯Ù Ø§ÙÙÙ Ø§ÙØ¹Ø¸ÙÙâ¬â&quo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3449" y="113705"/>
            <a:ext cx="2251400" cy="1629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87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barn(inVertical)">
                                      <p:cBhvr>
                                        <p:cTn id="7" dur="500"/>
                                        <p:tgtEl>
                                          <p:spTgt spid="2048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1266"/>
                                        </p:tgtEl>
                                        <p:attrNameLst>
                                          <p:attrName>style.visibility</p:attrName>
                                        </p:attrNameLst>
                                      </p:cBhvr>
                                      <p:to>
                                        <p:strVal val="visible"/>
                                      </p:to>
                                    </p:set>
                                    <p:animEffect transition="in" filter="barn(inVertical)">
                                      <p:cBhvr>
                                        <p:cTn id="22"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828574" y="1484784"/>
            <a:ext cx="3486852" cy="923330"/>
          </a:xfrm>
          <a:prstGeom prst="rect">
            <a:avLst/>
          </a:prstGeom>
        </p:spPr>
        <p:style>
          <a:lnRef idx="1">
            <a:schemeClr val="accent1"/>
          </a:lnRef>
          <a:fillRef idx="3">
            <a:schemeClr val="accent1"/>
          </a:fillRef>
          <a:effectRef idx="2">
            <a:schemeClr val="accent1"/>
          </a:effectRef>
          <a:fontRef idx="minor">
            <a:schemeClr val="lt1"/>
          </a:fontRef>
        </p:style>
        <p:txBody>
          <a:bodyPr wrap="none">
            <a:spAutoFit/>
          </a:bodyPr>
          <a:lstStyle/>
          <a:p>
            <a:r>
              <a:rPr lang="ar-DZ" sz="5400" b="1" dirty="0"/>
              <a:t>المقطع التعلمي</a:t>
            </a:r>
            <a:endParaRPr lang="fr-FR" sz="5400" dirty="0"/>
          </a:p>
        </p:txBody>
      </p:sp>
      <p:sp>
        <p:nvSpPr>
          <p:cNvPr id="6" name="Rectangle 5"/>
          <p:cNvSpPr/>
          <p:nvPr/>
        </p:nvSpPr>
        <p:spPr>
          <a:xfrm>
            <a:off x="2195736" y="3284984"/>
            <a:ext cx="4464684" cy="923330"/>
          </a:xfrm>
          <a:prstGeom prst="rect">
            <a:avLst/>
          </a:prstGeom>
        </p:spPr>
        <p:style>
          <a:lnRef idx="1">
            <a:schemeClr val="accent2"/>
          </a:lnRef>
          <a:fillRef idx="3">
            <a:schemeClr val="accent2"/>
          </a:fillRef>
          <a:effectRef idx="2">
            <a:schemeClr val="accent2"/>
          </a:effectRef>
          <a:fontRef idx="minor">
            <a:schemeClr val="lt1"/>
          </a:fontRef>
        </p:style>
        <p:txBody>
          <a:bodyPr wrap="none">
            <a:spAutoFit/>
          </a:bodyPr>
          <a:lstStyle/>
          <a:p>
            <a:r>
              <a:rPr lang="ar-LB" sz="5400" b="1" dirty="0"/>
              <a:t>ا</a:t>
            </a:r>
            <a:r>
              <a:rPr lang="ar-DZ" sz="5400" b="1" dirty="0"/>
              <a:t>لتغذية عند الانسان</a:t>
            </a:r>
            <a:endParaRPr lang="fr-FR" sz="5400" dirty="0"/>
          </a:p>
        </p:txBody>
      </p:sp>
    </p:spTree>
    <p:extLst>
      <p:ext uri="{BB962C8B-B14F-4D97-AF65-F5344CB8AC3E}">
        <p14:creationId xmlns:p14="http://schemas.microsoft.com/office/powerpoint/2010/main" val="20208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482"/>
                                        </p:tgtEl>
                                        <p:attrNameLst>
                                          <p:attrName>style.visibility</p:attrName>
                                        </p:attrNameLst>
                                      </p:cBhvr>
                                      <p:to>
                                        <p:strVal val="visible"/>
                                      </p:to>
                                    </p:set>
                                    <p:animEffect transition="in" filter="barn(inVertical)">
                                      <p:cBhvr>
                                        <p:cTn id="7" dur="500"/>
                                        <p:tgtEl>
                                          <p:spTgt spid="2048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RÃ©sultat de recherche d'images pour &quot;â«ØµÙØ± Ø¹Ù Ø§ÙØ­ÙØ§Ø¸ Ø¹ÙÙ Ø§ÙØµØ­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76182" y="2564904"/>
            <a:ext cx="8391636" cy="2123658"/>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algn="r" rtl="1"/>
            <a:r>
              <a:rPr lang="ar-SA" sz="4400" b="1" dirty="0"/>
              <a:t>يقترح حلولا مؤسسة علميا استجابة لمشاكل متعلقة بالصحة و يشارك في حوارات مفتوحة حول المسائل الراهنة في المجال العلمي</a:t>
            </a:r>
            <a:endParaRPr lang="fr-FR" sz="4400" dirty="0"/>
          </a:p>
        </p:txBody>
      </p:sp>
      <p:sp>
        <p:nvSpPr>
          <p:cNvPr id="7" name="Rectangle 6"/>
          <p:cNvSpPr/>
          <p:nvPr/>
        </p:nvSpPr>
        <p:spPr>
          <a:xfrm>
            <a:off x="2781735" y="908720"/>
            <a:ext cx="3895618" cy="1015663"/>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r>
              <a:rPr lang="ar-LB" sz="6000" b="1" dirty="0"/>
              <a:t>الكفاءة الشاملة</a:t>
            </a:r>
            <a:endParaRPr lang="fr-FR" sz="6000" dirty="0"/>
          </a:p>
        </p:txBody>
      </p:sp>
    </p:spTree>
    <p:extLst>
      <p:ext uri="{BB962C8B-B14F-4D97-AF65-F5344CB8AC3E}">
        <p14:creationId xmlns:p14="http://schemas.microsoft.com/office/powerpoint/2010/main" val="2369408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barn(inVertical)">
                                      <p:cBhvr>
                                        <p:cTn id="7" dur="500"/>
                                        <p:tgtEl>
                                          <p:spTgt spid="2150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p:nvPr/>
        </p:nvPicPr>
        <p:blipFill rotWithShape="1">
          <a:blip r:embed="rId2">
            <a:extLst>
              <a:ext uri="{28A0092B-C50C-407E-A947-70E740481C1C}">
                <a14:useLocalDpi xmlns:a14="http://schemas.microsoft.com/office/drawing/2010/main" val="0"/>
              </a:ext>
            </a:extLst>
          </a:blip>
          <a:srcRect l="10319" t="18355" r="11427" b="10775"/>
          <a:stretch/>
        </p:blipFill>
        <p:spPr bwMode="auto">
          <a:xfrm>
            <a:off x="179512" y="836712"/>
            <a:ext cx="8784976" cy="5832648"/>
          </a:xfrm>
          <a:prstGeom prst="rect">
            <a:avLst/>
          </a:prstGeom>
          <a:ln>
            <a:solidFill>
              <a:schemeClr val="accent1"/>
            </a:solidFill>
          </a:ln>
          <a:extLst>
            <a:ext uri="{53640926-AAD7-44D8-BBD7-CCE9431645EC}">
              <a14:shadowObscured xmlns:a14="http://schemas.microsoft.com/office/drawing/2010/main"/>
            </a:ext>
          </a:extLst>
        </p:spPr>
      </p:pic>
      <p:sp>
        <p:nvSpPr>
          <p:cNvPr id="5" name="Rectangle 4"/>
          <p:cNvSpPr/>
          <p:nvPr/>
        </p:nvSpPr>
        <p:spPr>
          <a:xfrm>
            <a:off x="3347864" y="116632"/>
            <a:ext cx="1987540" cy="530349"/>
          </a:xfrm>
          <a:prstGeom prst="rect">
            <a:avLst/>
          </a:prstGeom>
          <a:solidFill>
            <a:srgbClr val="FF0000"/>
          </a:solidFill>
          <a:ln w="9525" cap="flat" cmpd="sng" algn="ctr">
            <a:solidFill>
              <a:srgbClr val="9BBB59">
                <a:shade val="95000"/>
                <a:satMod val="105000"/>
              </a:srgbClr>
            </a:solidFill>
            <a:prstDash val="solid"/>
          </a:ln>
          <a:effectLst>
            <a:outerShdw blurRad="40000" dist="20000" dir="5400000" rotWithShape="0">
              <a:srgbClr val="000000">
                <a:alpha val="38000"/>
              </a:srgbClr>
            </a:outerShdw>
          </a:effectLst>
        </p:spPr>
        <p:txBody>
          <a:bodyPr wrap="square">
            <a:noAutofit/>
          </a:bodyPr>
          <a:lstStyle/>
          <a:p>
            <a:pPr algn="r">
              <a:lnSpc>
                <a:spcPct val="115000"/>
              </a:lnSpc>
              <a:spcAft>
                <a:spcPts val="1000"/>
              </a:spcAft>
            </a:pPr>
            <a:r>
              <a:rPr lang="ar-DZ" sz="2400" b="1" kern="1200">
                <a:solidFill>
                  <a:srgbClr val="FFFFFF"/>
                </a:solidFill>
                <a:effectLst/>
                <a:latin typeface="Arial,Bold"/>
                <a:ea typeface="Calibri"/>
              </a:rPr>
              <a:t>المنهاج الوزاري</a:t>
            </a:r>
            <a:endParaRPr lang="fr-FR" sz="2400">
              <a:effectLst/>
              <a:latin typeface="Times New Roman"/>
              <a:ea typeface="Times New Roman"/>
            </a:endParaRPr>
          </a:p>
        </p:txBody>
      </p:sp>
    </p:spTree>
    <p:extLst>
      <p:ext uri="{BB962C8B-B14F-4D97-AF65-F5344CB8AC3E}">
        <p14:creationId xmlns:p14="http://schemas.microsoft.com/office/powerpoint/2010/main" val="3804423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p:cNvPicPr/>
          <p:nvPr/>
        </p:nvPicPr>
        <p:blipFill rotWithShape="1">
          <a:blip r:embed="rId2">
            <a:extLst>
              <a:ext uri="{28A0092B-C50C-407E-A947-70E740481C1C}">
                <a14:useLocalDpi xmlns:a14="http://schemas.microsoft.com/office/drawing/2010/main" val="0"/>
              </a:ext>
            </a:extLst>
          </a:blip>
          <a:srcRect l="20131" t="19291" r="19636" b="11652"/>
          <a:stretch/>
        </p:blipFill>
        <p:spPr bwMode="auto">
          <a:xfrm>
            <a:off x="107505" y="116632"/>
            <a:ext cx="8856984" cy="6552727"/>
          </a:xfrm>
          <a:prstGeom prst="rect">
            <a:avLst/>
          </a:prstGeom>
          <a:ln>
            <a:solidFill>
              <a:schemeClr val="accent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0563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7" name="Picture 7" descr="RÃ©sultat de recherche d'images pour &quot;â«Ø§ÙØµØ¯Ù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3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2987824" y="42779"/>
            <a:ext cx="3542958" cy="70788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none">
            <a:spAutoFit/>
          </a:bodyPr>
          <a:lstStyle/>
          <a:p>
            <a:pPr algn="r" rtl="1"/>
            <a:r>
              <a:rPr lang="ar-DZ" sz="4000" b="1" dirty="0"/>
              <a:t>مركّبة الكفاءة الثانية</a:t>
            </a:r>
            <a:endParaRPr lang="fr-FR" sz="4000" dirty="0"/>
          </a:p>
        </p:txBody>
      </p:sp>
      <p:sp>
        <p:nvSpPr>
          <p:cNvPr id="9" name="Rectangle 8"/>
          <p:cNvSpPr/>
          <p:nvPr/>
        </p:nvSpPr>
        <p:spPr>
          <a:xfrm>
            <a:off x="323528" y="908720"/>
            <a:ext cx="8172400"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r" rtl="1"/>
            <a:r>
              <a:rPr lang="ar-DZ" sz="3600" b="1" dirty="0"/>
              <a:t>تمييزمقرالامتصاص كسطح تبادل بين الدم ومحتوى المعي الدقيق</a:t>
            </a:r>
            <a:endParaRPr lang="fr-FR" sz="3600" dirty="0"/>
          </a:p>
        </p:txBody>
      </p:sp>
      <p:sp>
        <p:nvSpPr>
          <p:cNvPr id="10" name="Rectangle 9"/>
          <p:cNvSpPr/>
          <p:nvPr/>
        </p:nvSpPr>
        <p:spPr>
          <a:xfrm>
            <a:off x="6161326" y="2420888"/>
            <a:ext cx="2702984" cy="7078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ar-DZ" sz="4000" b="1" dirty="0"/>
              <a:t>المورد المعرفي</a:t>
            </a:r>
            <a:endParaRPr lang="fr-FR" sz="4000" dirty="0"/>
          </a:p>
        </p:txBody>
      </p:sp>
      <p:sp>
        <p:nvSpPr>
          <p:cNvPr id="11" name="Rectangle 10"/>
          <p:cNvSpPr/>
          <p:nvPr/>
        </p:nvSpPr>
        <p:spPr>
          <a:xfrm>
            <a:off x="2627784" y="2420888"/>
            <a:ext cx="3249608" cy="707886"/>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ar-DZ" sz="4000" b="1" dirty="0"/>
              <a:t>امتصاص المغذيات</a:t>
            </a:r>
            <a:endParaRPr lang="fr-FR" sz="4000" dirty="0"/>
          </a:p>
        </p:txBody>
      </p:sp>
      <p:sp>
        <p:nvSpPr>
          <p:cNvPr id="12" name="Rectangle 11"/>
          <p:cNvSpPr/>
          <p:nvPr/>
        </p:nvSpPr>
        <p:spPr>
          <a:xfrm>
            <a:off x="5489292" y="3645024"/>
            <a:ext cx="3430747" cy="584775"/>
          </a:xfrm>
          <a:prstGeom prst="rect">
            <a:avLst/>
          </a:prstGeom>
        </p:spPr>
        <p:style>
          <a:lnRef idx="1">
            <a:schemeClr val="accent5"/>
          </a:lnRef>
          <a:fillRef idx="2">
            <a:schemeClr val="accent5"/>
          </a:fillRef>
          <a:effectRef idx="1">
            <a:schemeClr val="accent5"/>
          </a:effectRef>
          <a:fontRef idx="minor">
            <a:schemeClr val="dk1"/>
          </a:fontRef>
        </p:style>
        <p:txBody>
          <a:bodyPr wrap="none">
            <a:spAutoFit/>
          </a:bodyPr>
          <a:lstStyle/>
          <a:p>
            <a:r>
              <a:rPr lang="ar-DZ" sz="3200" b="1" dirty="0"/>
              <a:t>معايير ومؤشرات التقويم</a:t>
            </a:r>
            <a:endParaRPr lang="fr-FR" sz="3200" dirty="0"/>
          </a:p>
        </p:txBody>
      </p:sp>
      <p:sp>
        <p:nvSpPr>
          <p:cNvPr id="13" name="Rectangle 12"/>
          <p:cNvSpPr/>
          <p:nvPr/>
        </p:nvSpPr>
        <p:spPr>
          <a:xfrm>
            <a:off x="1007738" y="4581128"/>
            <a:ext cx="7938120"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r" rtl="1"/>
            <a:r>
              <a:rPr lang="ar-DZ" sz="2800" b="1" dirty="0">
                <a:solidFill>
                  <a:srgbClr val="FF0000"/>
                </a:solidFill>
              </a:rPr>
              <a:t>مع 3 : يربط بين بنية الزغابة المعوية و الامتصاص المعوي</a:t>
            </a:r>
            <a:endParaRPr lang="fr-FR" sz="2800" b="1" dirty="0">
              <a:solidFill>
                <a:srgbClr val="FF0000"/>
              </a:solidFill>
            </a:endParaRPr>
          </a:p>
          <a:p>
            <a:pPr algn="r" rtl="1"/>
            <a:r>
              <a:rPr lang="ar-DZ" sz="2800" b="1" dirty="0"/>
              <a:t>­ مؤ1- يصف بنية الجدار الداخلي للمعي الدقيق.</a:t>
            </a:r>
            <a:endParaRPr lang="fr-FR" sz="2800" b="1" dirty="0"/>
          </a:p>
          <a:p>
            <a:pPr algn="r" rtl="1"/>
            <a:r>
              <a:rPr lang="ar-DZ" sz="2800" b="1" dirty="0"/>
              <a:t>­ مؤ2- يمثل برسم بنية الزغابة المعوية </a:t>
            </a:r>
            <a:endParaRPr lang="fr-FR" sz="2800" b="1" dirty="0"/>
          </a:p>
          <a:p>
            <a:pPr algn="r" rtl="1"/>
            <a:r>
              <a:rPr lang="ar-DZ" sz="2800" b="1" dirty="0"/>
              <a:t>­ مؤ3- يعرف الامتصاص</a:t>
            </a:r>
            <a:endParaRPr lang="fr-FR" sz="2800" b="1" dirty="0"/>
          </a:p>
        </p:txBody>
      </p:sp>
    </p:spTree>
    <p:extLst>
      <p:ext uri="{BB962C8B-B14F-4D97-AF65-F5344CB8AC3E}">
        <p14:creationId xmlns:p14="http://schemas.microsoft.com/office/powerpoint/2010/main" val="1560755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127"/>
                                        </p:tgtEl>
                                        <p:attrNameLst>
                                          <p:attrName>style.visibility</p:attrName>
                                        </p:attrNameLst>
                                      </p:cBhvr>
                                      <p:to>
                                        <p:strVal val="visible"/>
                                      </p:to>
                                    </p:set>
                                    <p:animEffect transition="in" filter="barn(inVertical)">
                                      <p:cBhvr>
                                        <p:cTn id="7" dur="500"/>
                                        <p:tgtEl>
                                          <p:spTgt spid="512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arn(inVertic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arn(inVertical)">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barn(inVertical)">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descr="RÃ©sultat de recherche d'images pour &quot;â«Ø§ÙØªØºØ°ÙØ© Ø¹ÙØ¯ Ø§ÙØ§ÙØ³Ø§Ù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122"/>
            <a:ext cx="9144000" cy="682987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48725" y="1152565"/>
            <a:ext cx="8519094" cy="2062103"/>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r" rtl="1"/>
            <a:r>
              <a:rPr lang="ar-SA" sz="3200" b="1" dirty="0"/>
              <a:t>عمر تلميذ يبلغ من العمر</a:t>
            </a:r>
            <a:r>
              <a:rPr lang="fr-FR" sz="3200" b="1" dirty="0"/>
              <a:t> 12 </a:t>
            </a:r>
            <a:r>
              <a:rPr lang="ar-SA" sz="3200" b="1" dirty="0"/>
              <a:t>سنوات ذكي ونشيط شد انتباهه في أحد الايام امه وهي تغير حفاظة اخيه بعد فترة من تناوله وجبة غذائية حالة الفضلات المطروحة فهي مختلفة لونا وشكلا وتركيبا عن الاغذية التي تناولها فاستفسر امه عن ذلك قائلا</a:t>
            </a:r>
            <a:endParaRPr lang="ar-DZ" sz="3200" b="1" dirty="0"/>
          </a:p>
        </p:txBody>
      </p:sp>
      <p:sp>
        <p:nvSpPr>
          <p:cNvPr id="7" name="ZoneTexte 6"/>
          <p:cNvSpPr txBox="1"/>
          <p:nvPr/>
        </p:nvSpPr>
        <p:spPr>
          <a:xfrm>
            <a:off x="441422" y="3800502"/>
            <a:ext cx="8472059" cy="1077218"/>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r" rtl="1"/>
            <a:r>
              <a:rPr lang="ar-SA" sz="3200" b="1" dirty="0"/>
              <a:t>ماذا حدث للأغذية المهضومة في نهاية المعي الدقيق حتى نتجت هذه الفضلات؟ </a:t>
            </a:r>
            <a:endParaRPr lang="fr-FR" sz="3200" b="1" dirty="0"/>
          </a:p>
        </p:txBody>
      </p:sp>
      <p:sp>
        <p:nvSpPr>
          <p:cNvPr id="9" name="ZoneTexte 8"/>
          <p:cNvSpPr txBox="1"/>
          <p:nvPr/>
        </p:nvSpPr>
        <p:spPr>
          <a:xfrm>
            <a:off x="2933536" y="116632"/>
            <a:ext cx="6034283" cy="70788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r" rtl="1"/>
            <a:r>
              <a:rPr lang="ar-DZ" sz="4000" b="1" dirty="0"/>
              <a:t>الوضعية التعلمية للمورد المعرفي :</a:t>
            </a:r>
            <a:endParaRPr lang="fr-FR" sz="4000" b="1" dirty="0"/>
          </a:p>
        </p:txBody>
      </p:sp>
      <p:sp>
        <p:nvSpPr>
          <p:cNvPr id="2" name="Rectangle 1"/>
          <p:cNvSpPr/>
          <p:nvPr/>
        </p:nvSpPr>
        <p:spPr>
          <a:xfrm>
            <a:off x="448725" y="5313862"/>
            <a:ext cx="8464756" cy="584775"/>
          </a:xfrm>
          <a:prstGeom prst="rect">
            <a:avLst/>
          </a:prstGeom>
          <a:solidFill>
            <a:schemeClr val="accent2">
              <a:lumMod val="20000"/>
              <a:lumOff val="80000"/>
            </a:schemeClr>
          </a:solidFill>
        </p:spPr>
        <p:txBody>
          <a:bodyPr wrap="square">
            <a:spAutoFit/>
          </a:bodyPr>
          <a:lstStyle/>
          <a:p>
            <a:pPr algn="r"/>
            <a:r>
              <a:rPr lang="ar-SA" sz="3200" b="1" dirty="0">
                <a:latin typeface="Calibri" panose="020F0502020204030204" pitchFamily="34" charset="0"/>
                <a:ea typeface="Calibri" panose="020F0502020204030204" pitchFamily="34" charset="0"/>
                <a:cs typeface="Times New Roman" panose="02020603050405020304" pitchFamily="18" charset="0"/>
              </a:rPr>
              <a:t>قدم</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الفرضيات</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الممكنة</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التي</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لجات</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اليها</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الام</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لتفسير</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هذا</a:t>
            </a:r>
            <a:r>
              <a:rPr lang="ar-SA" sz="3200" b="1" dirty="0">
                <a:ea typeface="Calibri" panose="020F0502020204030204" pitchFamily="34" charset="0"/>
                <a:cs typeface="Calibri" panose="020F0502020204030204" pitchFamily="34" charset="0"/>
              </a:rPr>
              <a:t> </a:t>
            </a:r>
            <a:r>
              <a:rPr lang="ar-SA" sz="3200" b="1" dirty="0">
                <a:latin typeface="Calibri" panose="020F0502020204030204" pitchFamily="34" charset="0"/>
                <a:ea typeface="Calibri" panose="020F0502020204030204" pitchFamily="34" charset="0"/>
                <a:cs typeface="Times New Roman" panose="02020603050405020304" pitchFamily="18" charset="0"/>
              </a:rPr>
              <a:t>الاختلاف</a:t>
            </a:r>
            <a:endParaRPr lang="fr-FR" sz="3200" dirty="0"/>
          </a:p>
        </p:txBody>
      </p:sp>
    </p:spTree>
    <p:extLst>
      <p:ext uri="{BB962C8B-B14F-4D97-AF65-F5344CB8AC3E}">
        <p14:creationId xmlns:p14="http://schemas.microsoft.com/office/powerpoint/2010/main" val="2556196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arn(inVertical)">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RÃ©sultat de recherche d'images pour &quot;â«Ø§ÙØ§Ø­ØªØ±Ø§Ù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700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224856" y="76753"/>
            <a:ext cx="1819729"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a:spAutoFit/>
          </a:bodyPr>
          <a:lstStyle/>
          <a:p>
            <a:r>
              <a:rPr lang="ar-SA" sz="3200" b="1" dirty="0"/>
              <a:t>النشاط</a:t>
            </a:r>
            <a:r>
              <a:rPr lang="ar-DZ" sz="3200" b="1" dirty="0"/>
              <a:t> الاول</a:t>
            </a:r>
            <a:endParaRPr lang="fr-FR" sz="3200" dirty="0"/>
          </a:p>
        </p:txBody>
      </p:sp>
      <p:sp>
        <p:nvSpPr>
          <p:cNvPr id="6" name="ZoneTexte 5"/>
          <p:cNvSpPr txBox="1"/>
          <p:nvPr/>
        </p:nvSpPr>
        <p:spPr>
          <a:xfrm>
            <a:off x="0" y="857232"/>
            <a:ext cx="8974053" cy="5693866"/>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r" rtl="1"/>
            <a:r>
              <a:rPr lang="ar-SA" sz="2600" b="1" dirty="0"/>
              <a:t>عقب خضوع المريض للعملية الجراحية او حين اصابته </a:t>
            </a:r>
            <a:r>
              <a:rPr lang="ar-DZ" sz="2600" b="1" dirty="0"/>
              <a:t>ب</a:t>
            </a:r>
            <a:r>
              <a:rPr lang="ar-SA" sz="2600" b="1" dirty="0"/>
              <a:t>مرض خطير يمنع تزويده بأغذية رغم احتياج عضويته لها ويلجا الاطباء مقابل ذلك الى حقن دمه بمحلول متوازن من المغذيات كحل بديل لذلك ما هو السر في ذلك؟ </a:t>
            </a:r>
            <a:endParaRPr lang="ar-DZ" sz="2600" b="1" dirty="0"/>
          </a:p>
          <a:p>
            <a:pPr algn="r" rtl="1"/>
            <a:r>
              <a:rPr lang="ar-SA" sz="2600" b="1" dirty="0">
                <a:solidFill>
                  <a:srgbClr val="FF0000"/>
                </a:solidFill>
              </a:rPr>
              <a:t>1-</a:t>
            </a:r>
            <a:r>
              <a:rPr lang="ar-SA" sz="2600" b="1" dirty="0"/>
              <a:t>على ضوء الوثيقة(1) و(2)</a:t>
            </a:r>
            <a:endParaRPr lang="fr-FR" sz="2600" dirty="0"/>
          </a:p>
          <a:p>
            <a:pPr algn="r"/>
            <a:r>
              <a:rPr lang="ar-SA" sz="2600" b="1" dirty="0">
                <a:solidFill>
                  <a:srgbClr val="0070C0"/>
                </a:solidFill>
              </a:rPr>
              <a:t>ا-</a:t>
            </a:r>
            <a:r>
              <a:rPr lang="ar-DZ" sz="2600" b="1" dirty="0">
                <a:solidFill>
                  <a:srgbClr val="0070C0"/>
                </a:solidFill>
              </a:rPr>
              <a:t> </a:t>
            </a:r>
            <a:r>
              <a:rPr lang="ar-SA" sz="2600" b="1" dirty="0"/>
              <a:t>قارن بين مدخلات ومخرجات الأنبوب الهضمي</a:t>
            </a:r>
            <a:r>
              <a:rPr lang="ar-DZ" sz="2600" b="1" dirty="0"/>
              <a:t> . </a:t>
            </a:r>
            <a:r>
              <a:rPr lang="ar-SA" sz="2600" b="1" dirty="0"/>
              <a:t>ماذا تستنتج</a:t>
            </a:r>
            <a:r>
              <a:rPr lang="ar-DZ" sz="2600" b="1" dirty="0"/>
              <a:t>؟</a:t>
            </a:r>
          </a:p>
          <a:p>
            <a:pPr algn="r" rtl="1"/>
            <a:r>
              <a:rPr lang="ar-DZ" sz="2600" b="1" dirty="0">
                <a:solidFill>
                  <a:srgbClr val="0070C0"/>
                </a:solidFill>
              </a:rPr>
              <a:t>ب</a:t>
            </a:r>
            <a:r>
              <a:rPr lang="ar-SA" sz="2600" b="1" dirty="0">
                <a:solidFill>
                  <a:srgbClr val="0070C0"/>
                </a:solidFill>
              </a:rPr>
              <a:t>-</a:t>
            </a:r>
            <a:r>
              <a:rPr lang="ar-DZ" sz="2600" b="1" dirty="0">
                <a:solidFill>
                  <a:srgbClr val="0070C0"/>
                </a:solidFill>
              </a:rPr>
              <a:t> </a:t>
            </a:r>
            <a:r>
              <a:rPr lang="ar-SA" sz="2600" b="1" dirty="0"/>
              <a:t>قارن بين حجم الماء وكميات الاحماض الامينية وسكر العنب (الغلوكوز) في الدم الوارد (الداخل) للمعي الدقيق والدم الصادر(الخارج) عنه</a:t>
            </a:r>
            <a:r>
              <a:rPr lang="fr-FR" sz="2600" b="1" dirty="0"/>
              <a:t>.</a:t>
            </a:r>
            <a:endParaRPr lang="fr-FR" sz="2600" dirty="0"/>
          </a:p>
          <a:p>
            <a:pPr algn="r"/>
            <a:r>
              <a:rPr lang="ar-SA" sz="2600" b="1" dirty="0"/>
              <a:t> ماذا تستنتج؟</a:t>
            </a:r>
            <a:endParaRPr lang="ar-DZ" sz="2600" b="1" dirty="0"/>
          </a:p>
          <a:p>
            <a:pPr algn="r" rtl="1"/>
            <a:r>
              <a:rPr lang="ar-DZ" sz="2600" b="1" dirty="0">
                <a:solidFill>
                  <a:srgbClr val="FF0000"/>
                </a:solidFill>
              </a:rPr>
              <a:t>2</a:t>
            </a:r>
            <a:r>
              <a:rPr lang="ar-SA" sz="2600" b="1" dirty="0">
                <a:solidFill>
                  <a:srgbClr val="FF0000"/>
                </a:solidFill>
              </a:rPr>
              <a:t>-</a:t>
            </a:r>
            <a:r>
              <a:rPr lang="ar-SA" sz="2600" b="1" dirty="0"/>
              <a:t>بماذا تفسر كثرة انتشار الشعيرات الدموية على مستوى المعي الدقيق بالوثيقة (3)؟</a:t>
            </a:r>
            <a:endParaRPr lang="ar-DZ" sz="2600" b="1" dirty="0"/>
          </a:p>
          <a:p>
            <a:pPr algn="r" rtl="1"/>
            <a:r>
              <a:rPr lang="ar-SA" sz="2600" b="1" dirty="0">
                <a:solidFill>
                  <a:srgbClr val="FF0000"/>
                </a:solidFill>
              </a:rPr>
              <a:t>3-</a:t>
            </a:r>
            <a:r>
              <a:rPr lang="ar-SA" sz="2600" b="1" dirty="0"/>
              <a:t>انطلاقا من الوثيقة (4) اقترح فرضية حول مصدر المواد الدسمة في الأوعية اللمفاوية ثم برر اجابتك</a:t>
            </a:r>
            <a:endParaRPr lang="ar-DZ" sz="2600" b="1" dirty="0"/>
          </a:p>
          <a:p>
            <a:pPr algn="r" rtl="1"/>
            <a:r>
              <a:rPr lang="ar-DZ" sz="2600" b="1" dirty="0">
                <a:solidFill>
                  <a:srgbClr val="FF0000"/>
                </a:solidFill>
              </a:rPr>
              <a:t>4</a:t>
            </a:r>
            <a:r>
              <a:rPr lang="ar-SA" sz="2600" b="1" dirty="0">
                <a:solidFill>
                  <a:srgbClr val="FF0000"/>
                </a:solidFill>
              </a:rPr>
              <a:t>-</a:t>
            </a:r>
            <a:r>
              <a:rPr lang="ar-SA" sz="2600" b="1" dirty="0"/>
              <a:t>قدم تفسيرا حول اعتبار الحقن الدموي بمحلول مغذي متوازن حلا طبيا مناسبا عند تعذر التغذية الطبيعية</a:t>
            </a:r>
            <a:r>
              <a:rPr lang="fr-FR" sz="2600" b="1" dirty="0"/>
              <a:t> </a:t>
            </a:r>
            <a:endParaRPr lang="fr-FR" sz="2600" dirty="0"/>
          </a:p>
        </p:txBody>
      </p:sp>
      <p:sp>
        <p:nvSpPr>
          <p:cNvPr id="9" name="ZoneTexte 8"/>
          <p:cNvSpPr txBox="1"/>
          <p:nvPr/>
        </p:nvSpPr>
        <p:spPr>
          <a:xfrm>
            <a:off x="1259632" y="76753"/>
            <a:ext cx="5544616" cy="646331"/>
          </a:xfrm>
          <a:prstGeom prst="rect">
            <a:avLst/>
          </a:prstGeom>
          <a:solidFill>
            <a:srgbClr val="FF0000"/>
          </a:solidFill>
        </p:spPr>
        <p:txBody>
          <a:bodyPr wrap="square" rtlCol="0">
            <a:spAutoFit/>
          </a:bodyPr>
          <a:lstStyle/>
          <a:p>
            <a:pPr algn="ctr" rtl="1"/>
            <a:r>
              <a:rPr lang="ar-DZ" sz="3600" b="1" dirty="0">
                <a:solidFill>
                  <a:schemeClr val="bg1"/>
                </a:solidFill>
              </a:rPr>
              <a:t>مصير الاغذية المهضومة</a:t>
            </a:r>
            <a:endParaRPr lang="fr-FR" sz="3600" b="1" dirty="0">
              <a:solidFill>
                <a:schemeClr val="bg1"/>
              </a:solidFill>
            </a:endParaRPr>
          </a:p>
        </p:txBody>
      </p:sp>
    </p:spTree>
    <p:extLst>
      <p:ext uri="{BB962C8B-B14F-4D97-AF65-F5344CB8AC3E}">
        <p14:creationId xmlns:p14="http://schemas.microsoft.com/office/powerpoint/2010/main" val="57877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descr="صفات محمد رسول الله - محمد رسول الله - موسوعة طب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473"/>
            <a:ext cx="9124885" cy="68335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au 3"/>
          <p:cNvGraphicFramePr>
            <a:graphicFrameLocks noGrp="1"/>
          </p:cNvGraphicFramePr>
          <p:nvPr>
            <p:extLst>
              <p:ext uri="{D42A27DB-BD31-4B8C-83A1-F6EECF244321}">
                <p14:modId xmlns:p14="http://schemas.microsoft.com/office/powerpoint/2010/main" val="2914028873"/>
              </p:ext>
            </p:extLst>
          </p:nvPr>
        </p:nvGraphicFramePr>
        <p:xfrm>
          <a:off x="251521" y="332656"/>
          <a:ext cx="8640960" cy="4147379"/>
        </p:xfrm>
        <a:graphic>
          <a:graphicData uri="http://schemas.openxmlformats.org/drawingml/2006/table">
            <a:tbl>
              <a:tblPr rtl="1">
                <a:tableStyleId>{00A15C55-8517-42AA-B614-E9B94910E393}</a:tableStyleId>
              </a:tblPr>
              <a:tblGrid>
                <a:gridCol w="2142113">
                  <a:extLst>
                    <a:ext uri="{9D8B030D-6E8A-4147-A177-3AD203B41FA5}">
                      <a16:colId xmlns:a16="http://schemas.microsoft.com/office/drawing/2014/main" val="20000"/>
                    </a:ext>
                  </a:extLst>
                </a:gridCol>
                <a:gridCol w="2568617">
                  <a:extLst>
                    <a:ext uri="{9D8B030D-6E8A-4147-A177-3AD203B41FA5}">
                      <a16:colId xmlns:a16="http://schemas.microsoft.com/office/drawing/2014/main" val="20001"/>
                    </a:ext>
                  </a:extLst>
                </a:gridCol>
                <a:gridCol w="3930230">
                  <a:extLst>
                    <a:ext uri="{9D8B030D-6E8A-4147-A177-3AD203B41FA5}">
                      <a16:colId xmlns:a16="http://schemas.microsoft.com/office/drawing/2014/main" val="20002"/>
                    </a:ext>
                  </a:extLst>
                </a:gridCol>
              </a:tblGrid>
              <a:tr h="0">
                <a:tc gridSpan="2">
                  <a:txBody>
                    <a:bodyPr/>
                    <a:lstStyle/>
                    <a:p>
                      <a:pPr algn="ctr" rtl="1">
                        <a:lnSpc>
                          <a:spcPct val="107000"/>
                        </a:lnSpc>
                        <a:spcAft>
                          <a:spcPts val="0"/>
                        </a:spcAft>
                      </a:pPr>
                      <a:r>
                        <a:rPr lang="ar-SA" sz="2400" b="1" dirty="0">
                          <a:solidFill>
                            <a:srgbClr val="FF0000"/>
                          </a:solidFill>
                          <a:effectLst/>
                        </a:rPr>
                        <a:t>مدخلات الانبوب الهضمي عند الانسان البالغ</a:t>
                      </a:r>
                      <a:endParaRPr lang="fr-FR" sz="2400" b="1" dirty="0">
                        <a:solidFill>
                          <a:srgbClr val="FF0000"/>
                        </a:solidFill>
                        <a:effectLst/>
                      </a:endParaRPr>
                    </a:p>
                    <a:p>
                      <a:pPr algn="ctr" rtl="1">
                        <a:lnSpc>
                          <a:spcPct val="107000"/>
                        </a:lnSpc>
                        <a:spcAft>
                          <a:spcPts val="0"/>
                        </a:spcAft>
                      </a:pPr>
                      <a:r>
                        <a:rPr lang="fr-FR" sz="2400" b="1" dirty="0">
                          <a:solidFill>
                            <a:srgbClr val="FF0000"/>
                          </a:solidFill>
                          <a:effectLst/>
                        </a:rPr>
                        <a:t>g</a:t>
                      </a:r>
                      <a:r>
                        <a:rPr lang="ar-DZ" sz="2400" b="1" dirty="0">
                          <a:solidFill>
                            <a:srgbClr val="FF0000"/>
                          </a:solidFill>
                          <a:effectLst/>
                        </a:rPr>
                        <a:t>/24ساعة</a:t>
                      </a:r>
                      <a:endParaRPr lang="fr-FR" sz="2400" b="1" dirty="0">
                        <a:solidFill>
                          <a:srgbClr val="FF0000"/>
                        </a:solidFill>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fr-FR"/>
                    </a:p>
                  </a:txBody>
                  <a:tcPr/>
                </a:tc>
                <a:tc>
                  <a:txBody>
                    <a:bodyPr/>
                    <a:lstStyle/>
                    <a:p>
                      <a:pPr algn="r" rtl="1">
                        <a:lnSpc>
                          <a:spcPct val="107000"/>
                        </a:lnSpc>
                        <a:spcAft>
                          <a:spcPts val="0"/>
                        </a:spcAft>
                      </a:pPr>
                      <a:r>
                        <a:rPr lang="ar-DZ" sz="2400" b="1" dirty="0">
                          <a:solidFill>
                            <a:srgbClr val="FF0000"/>
                          </a:solidFill>
                          <a:effectLst/>
                        </a:rPr>
                        <a:t>مخرجات الانبوب الهضمي (</a:t>
                      </a:r>
                      <a:r>
                        <a:rPr lang="ar-SA" sz="2400" b="1" dirty="0">
                          <a:solidFill>
                            <a:srgbClr val="FF0000"/>
                          </a:solidFill>
                          <a:effectLst/>
                        </a:rPr>
                        <a:t>فضلات</a:t>
                      </a:r>
                      <a:r>
                        <a:rPr lang="ar-DZ" sz="2400" b="1" baseline="0" dirty="0">
                          <a:solidFill>
                            <a:srgbClr val="FF0000"/>
                          </a:solidFill>
                          <a:effectLst/>
                        </a:rPr>
                        <a:t> </a:t>
                      </a:r>
                      <a:r>
                        <a:rPr lang="ar-SA" sz="2400" b="1" dirty="0">
                          <a:solidFill>
                            <a:srgbClr val="FF0000"/>
                          </a:solidFill>
                          <a:effectLst/>
                        </a:rPr>
                        <a:t>مطروحة)</a:t>
                      </a:r>
                      <a:r>
                        <a:rPr lang="fr-FR" sz="2400" b="1" dirty="0">
                          <a:solidFill>
                            <a:srgbClr val="FF0000"/>
                          </a:solidFill>
                          <a:effectLst/>
                        </a:rPr>
                        <a:t> g </a:t>
                      </a:r>
                      <a:r>
                        <a:rPr lang="ar-DZ" sz="2400" b="1" dirty="0">
                          <a:solidFill>
                            <a:srgbClr val="FF0000"/>
                          </a:solidFill>
                          <a:effectLst/>
                        </a:rPr>
                        <a:t>/24ساعة</a:t>
                      </a:r>
                      <a:endParaRPr lang="fr-FR" sz="2400" b="1" dirty="0">
                        <a:solidFill>
                          <a:srgbClr val="FF0000"/>
                        </a:solidFill>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pPr algn="ctr" rtl="1">
                        <a:lnSpc>
                          <a:spcPct val="107000"/>
                        </a:lnSpc>
                        <a:spcAft>
                          <a:spcPts val="0"/>
                        </a:spcAft>
                      </a:pPr>
                      <a:r>
                        <a:rPr lang="ar-SA" sz="2400" b="1" dirty="0">
                          <a:solidFill>
                            <a:srgbClr val="00B050"/>
                          </a:solidFill>
                          <a:effectLst/>
                        </a:rPr>
                        <a:t>أغذية متناولة (</a:t>
                      </a:r>
                      <a:r>
                        <a:rPr lang="fr-FR" sz="2400" b="1" dirty="0">
                          <a:solidFill>
                            <a:srgbClr val="00B050"/>
                          </a:solidFill>
                          <a:effectLst/>
                        </a:rPr>
                        <a:t>g</a:t>
                      </a:r>
                      <a:r>
                        <a:rPr lang="ar-DZ" sz="2400" b="1" dirty="0">
                          <a:solidFill>
                            <a:srgbClr val="00B050"/>
                          </a:solidFill>
                          <a:effectLst/>
                        </a:rPr>
                        <a:t>)</a:t>
                      </a:r>
                      <a:endParaRPr lang="fr-FR" sz="2400" b="1" dirty="0">
                        <a:solidFill>
                          <a:srgbClr val="00B050"/>
                        </a:solidFill>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07000"/>
                        </a:lnSpc>
                        <a:spcAft>
                          <a:spcPts val="0"/>
                        </a:spcAft>
                      </a:pPr>
                      <a:r>
                        <a:rPr lang="ar-SA" sz="2400" b="1" dirty="0">
                          <a:solidFill>
                            <a:srgbClr val="00B050"/>
                          </a:solidFill>
                          <a:effectLst/>
                        </a:rPr>
                        <a:t>افرازات هاضمة(</a:t>
                      </a:r>
                      <a:r>
                        <a:rPr lang="fr-FR" sz="2400" b="1" dirty="0">
                          <a:solidFill>
                            <a:srgbClr val="00B050"/>
                          </a:solidFill>
                          <a:effectLst/>
                        </a:rPr>
                        <a:t>L</a:t>
                      </a:r>
                      <a:r>
                        <a:rPr lang="ar-DZ" sz="2400" b="1" dirty="0">
                          <a:solidFill>
                            <a:srgbClr val="00B050"/>
                          </a:solidFill>
                          <a:effectLst/>
                        </a:rPr>
                        <a:t>)</a:t>
                      </a:r>
                      <a:endParaRPr lang="fr-FR" sz="2400" b="1" dirty="0">
                        <a:solidFill>
                          <a:srgbClr val="00B050"/>
                        </a:solidFill>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1">
                        <a:lnSpc>
                          <a:spcPct val="107000"/>
                        </a:lnSpc>
                        <a:spcAft>
                          <a:spcPts val="0"/>
                        </a:spcAft>
                      </a:pPr>
                      <a:r>
                        <a:rPr lang="ar-SA" sz="2400" b="1" dirty="0">
                          <a:solidFill>
                            <a:srgbClr val="00B050"/>
                          </a:solidFill>
                          <a:effectLst/>
                        </a:rPr>
                        <a:t>فضلات(</a:t>
                      </a:r>
                      <a:r>
                        <a:rPr lang="fr-FR" sz="2400" b="1" dirty="0">
                          <a:solidFill>
                            <a:srgbClr val="00B050"/>
                          </a:solidFill>
                          <a:effectLst/>
                        </a:rPr>
                        <a:t>g</a:t>
                      </a:r>
                      <a:r>
                        <a:rPr lang="ar-SA" sz="2400" b="1" dirty="0">
                          <a:solidFill>
                            <a:srgbClr val="00B050"/>
                          </a:solidFill>
                          <a:effectLst/>
                        </a:rPr>
                        <a:t>)</a:t>
                      </a:r>
                      <a:endParaRPr lang="fr-FR" sz="2400" b="1" dirty="0">
                        <a:solidFill>
                          <a:srgbClr val="00B050"/>
                        </a:solidFill>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algn="ctr" rtl="1">
                        <a:lnSpc>
                          <a:spcPct val="107000"/>
                        </a:lnSpc>
                        <a:spcAft>
                          <a:spcPts val="0"/>
                        </a:spcAft>
                      </a:pPr>
                      <a:r>
                        <a:rPr lang="ar-SA" sz="2400" b="1" u="sng" dirty="0">
                          <a:solidFill>
                            <a:srgbClr val="C00000"/>
                          </a:solidFill>
                          <a:effectLst/>
                        </a:rPr>
                        <a:t>عناصر عضوية</a:t>
                      </a:r>
                      <a:r>
                        <a:rPr lang="fr-FR" sz="2400" b="1" u="sng" dirty="0">
                          <a:solidFill>
                            <a:srgbClr val="C00000"/>
                          </a:solidFill>
                          <a:effectLst/>
                        </a:rPr>
                        <a:t>(500g)</a:t>
                      </a:r>
                      <a:endParaRPr lang="fr-FR" sz="2400" b="1" dirty="0">
                        <a:solidFill>
                          <a:srgbClr val="C00000"/>
                        </a:solidFill>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7">
                  <a:txBody>
                    <a:bodyPr/>
                    <a:lstStyle/>
                    <a:p>
                      <a:pPr algn="ctr" rtl="1">
                        <a:lnSpc>
                          <a:spcPct val="107000"/>
                        </a:lnSpc>
                        <a:spcAft>
                          <a:spcPts val="0"/>
                        </a:spcAft>
                      </a:pPr>
                      <a:r>
                        <a:rPr lang="ar-SA" sz="2400" b="1" dirty="0">
                          <a:effectLst/>
                        </a:rPr>
                        <a:t> </a:t>
                      </a:r>
                      <a:endParaRPr lang="fr-FR" sz="2400" b="1" dirty="0">
                        <a:effectLst/>
                      </a:endParaRPr>
                    </a:p>
                    <a:p>
                      <a:pPr algn="ctr" rtl="1">
                        <a:lnSpc>
                          <a:spcPct val="107000"/>
                        </a:lnSpc>
                        <a:spcAft>
                          <a:spcPts val="0"/>
                        </a:spcAft>
                      </a:pPr>
                      <a:r>
                        <a:rPr lang="ar-DZ" sz="2400" b="1" kern="1200" dirty="0">
                          <a:effectLst/>
                        </a:rPr>
                        <a:t>العصارة اللعابية:</a:t>
                      </a:r>
                      <a:r>
                        <a:rPr lang="fr-FR" sz="2400" b="1" kern="1200" dirty="0">
                          <a:effectLst/>
                        </a:rPr>
                        <a:t>L</a:t>
                      </a:r>
                      <a:r>
                        <a:rPr lang="ar-DZ" sz="2400" b="1" kern="1200" dirty="0">
                          <a:effectLst/>
                        </a:rPr>
                        <a:t>1,5 </a:t>
                      </a:r>
                      <a:endParaRPr lang="fr-FR" sz="2400" b="1" dirty="0">
                        <a:effectLst/>
                      </a:endParaRPr>
                    </a:p>
                    <a:p>
                      <a:pPr algn="ctr" rtl="1">
                        <a:lnSpc>
                          <a:spcPct val="107000"/>
                        </a:lnSpc>
                        <a:spcAft>
                          <a:spcPts val="0"/>
                        </a:spcAft>
                      </a:pPr>
                      <a:r>
                        <a:rPr lang="ar-DZ" sz="2400" b="1" kern="1200" dirty="0">
                          <a:effectLst/>
                        </a:rPr>
                        <a:t>العصارة المعدية:</a:t>
                      </a:r>
                      <a:r>
                        <a:rPr lang="fr-FR" sz="2400" b="1" kern="1200" dirty="0">
                          <a:effectLst/>
                        </a:rPr>
                        <a:t>2L</a:t>
                      </a:r>
                      <a:endParaRPr lang="fr-FR" sz="2400" b="1" dirty="0">
                        <a:effectLst/>
                      </a:endParaRPr>
                    </a:p>
                    <a:p>
                      <a:pPr algn="ctr" rtl="1">
                        <a:lnSpc>
                          <a:spcPct val="107000"/>
                        </a:lnSpc>
                        <a:spcAft>
                          <a:spcPts val="0"/>
                        </a:spcAft>
                      </a:pPr>
                      <a:r>
                        <a:rPr lang="ar-DZ" sz="2400" b="1" kern="1200" dirty="0">
                          <a:effectLst/>
                        </a:rPr>
                        <a:t>العصارة الكبدية +العصارة البنكرياسية والمعوية: </a:t>
                      </a:r>
                      <a:r>
                        <a:rPr lang="fr-FR" sz="2400" b="1" kern="1200" dirty="0">
                          <a:effectLst/>
                        </a:rPr>
                        <a:t>3.5L</a:t>
                      </a:r>
                      <a:endParaRPr lang="fr-FR" sz="2400" b="1" dirty="0">
                        <a:effectLst/>
                      </a:endParaRPr>
                    </a:p>
                    <a:p>
                      <a:pPr algn="ctr" rtl="1">
                        <a:lnSpc>
                          <a:spcPct val="107000"/>
                        </a:lnSpc>
                        <a:spcAft>
                          <a:spcPts val="0"/>
                        </a:spcAft>
                      </a:pPr>
                      <a:r>
                        <a:rPr lang="ar-SA" sz="2400" b="1" dirty="0">
                          <a:effectLst/>
                        </a:rPr>
                        <a:t> </a:t>
                      </a:r>
                      <a:endParaRPr lang="fr-FR" sz="2400" b="1" dirty="0">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rtl="1">
                        <a:lnSpc>
                          <a:spcPct val="107000"/>
                        </a:lnSpc>
                        <a:spcAft>
                          <a:spcPts val="0"/>
                        </a:spcAft>
                      </a:pPr>
                      <a:r>
                        <a:rPr lang="ar-SA" sz="2400" b="1" dirty="0">
                          <a:effectLst/>
                        </a:rPr>
                        <a:t>غلوكوز</a:t>
                      </a:r>
                      <a:r>
                        <a:rPr lang="fr-FR" sz="2400" b="1" dirty="0">
                          <a:effectLst/>
                        </a:rPr>
                        <a:t> g00:</a:t>
                      </a:r>
                    </a:p>
                    <a:p>
                      <a:pPr algn="ctr" rtl="1">
                        <a:lnSpc>
                          <a:spcPct val="107000"/>
                        </a:lnSpc>
                        <a:spcAft>
                          <a:spcPts val="0"/>
                        </a:spcAft>
                      </a:pPr>
                      <a:r>
                        <a:rPr lang="ar-SA" sz="2400" b="1" dirty="0">
                          <a:effectLst/>
                        </a:rPr>
                        <a:t>سيلولوزسكر نباتي ضخم الجزيئة </a:t>
                      </a:r>
                      <a:r>
                        <a:rPr lang="fr-FR" sz="2400" b="1" dirty="0">
                          <a:effectLst/>
                        </a:rPr>
                        <a:t>35 g:</a:t>
                      </a:r>
                      <a:endParaRPr lang="fr-FR" sz="2400" b="1" dirty="0">
                        <a:effectLst/>
                        <a:latin typeface="Calibri" panose="020F0502020204030204" pitchFamily="34" charset="0"/>
                        <a:ea typeface="Times New Roman" panose="02020603050405020304" pitchFamily="18" charset="0"/>
                        <a:cs typeface="Arial" panose="020B0604020202020204" pitchFamily="34" charset="0"/>
                      </a:endParaRPr>
                    </a:p>
                    <a:p>
                      <a:pPr algn="ctr" rtl="1">
                        <a:lnSpc>
                          <a:spcPct val="107000"/>
                        </a:lnSpc>
                        <a:spcAft>
                          <a:spcPts val="0"/>
                        </a:spcAft>
                      </a:pPr>
                      <a:r>
                        <a:rPr lang="ar-SA" sz="2400" b="1" dirty="0">
                          <a:effectLst/>
                        </a:rPr>
                        <a:t> </a:t>
                      </a:r>
                      <a:endParaRPr lang="fr-FR" sz="2400" b="1" dirty="0">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pPr algn="ctr" rtl="1">
                        <a:lnSpc>
                          <a:spcPct val="107000"/>
                        </a:lnSpc>
                        <a:spcAft>
                          <a:spcPts val="0"/>
                        </a:spcAft>
                      </a:pPr>
                      <a:r>
                        <a:rPr lang="ar-SA" sz="2400" b="1">
                          <a:effectLst/>
                        </a:rPr>
                        <a:t>غلوسيدات</a:t>
                      </a:r>
                      <a:r>
                        <a:rPr lang="fr-FR" sz="2400" b="1">
                          <a:effectLst/>
                        </a:rPr>
                        <a:t> g320:</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fr-FR"/>
                    </a:p>
                  </a:txBody>
                  <a:tcPr/>
                </a:tc>
                <a:tc vMerge="1">
                  <a:txBody>
                    <a:bodyPr/>
                    <a:lstStyle/>
                    <a:p>
                      <a:pPr algn="ctr" rtl="1">
                        <a:lnSpc>
                          <a:spcPct val="107000"/>
                        </a:lnSpc>
                        <a:spcAft>
                          <a:spcPts val="0"/>
                        </a:spcAft>
                      </a:pPr>
                      <a:endParaRPr lang="fr-FR" sz="2400" b="1" dirty="0">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tc>
                <a:extLst>
                  <a:ext uri="{0D108BD9-81ED-4DB2-BD59-A6C34878D82A}">
                    <a16:rowId xmlns:a16="http://schemas.microsoft.com/office/drawing/2014/main" val="10003"/>
                  </a:ext>
                </a:extLst>
              </a:tr>
              <a:tr h="0">
                <a:tc>
                  <a:txBody>
                    <a:bodyPr/>
                    <a:lstStyle/>
                    <a:p>
                      <a:pPr algn="ctr" rtl="1">
                        <a:lnSpc>
                          <a:spcPct val="107000"/>
                        </a:lnSpc>
                        <a:spcAft>
                          <a:spcPts val="0"/>
                        </a:spcAft>
                      </a:pPr>
                      <a:r>
                        <a:rPr lang="ar-SA" sz="2400" b="1">
                          <a:effectLst/>
                        </a:rPr>
                        <a:t>ليبيدات </a:t>
                      </a:r>
                      <a:r>
                        <a:rPr lang="fr-FR" sz="2400" b="1">
                          <a:effectLst/>
                        </a:rPr>
                        <a:t>g100:</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fr-FR"/>
                    </a:p>
                  </a:txBody>
                  <a:tcPr/>
                </a:tc>
                <a:tc>
                  <a:txBody>
                    <a:bodyPr/>
                    <a:lstStyle/>
                    <a:p>
                      <a:pPr algn="ctr" rtl="1">
                        <a:lnSpc>
                          <a:spcPct val="107000"/>
                        </a:lnSpc>
                        <a:spcAft>
                          <a:spcPts val="0"/>
                        </a:spcAft>
                      </a:pPr>
                      <a:r>
                        <a:rPr lang="ar-SA" sz="2400" b="1">
                          <a:effectLst/>
                        </a:rPr>
                        <a:t>ليبيدات</a:t>
                      </a:r>
                      <a:r>
                        <a:rPr lang="fr-FR" sz="2400" b="1">
                          <a:effectLst/>
                        </a:rPr>
                        <a:t>0.25g:</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pPr algn="ctr" rtl="1">
                        <a:lnSpc>
                          <a:spcPct val="107000"/>
                        </a:lnSpc>
                        <a:spcAft>
                          <a:spcPts val="0"/>
                        </a:spcAft>
                      </a:pPr>
                      <a:r>
                        <a:rPr lang="ar-SA" sz="2400" b="1">
                          <a:effectLst/>
                        </a:rPr>
                        <a:t>بروتينات</a:t>
                      </a:r>
                      <a:r>
                        <a:rPr lang="fr-FR" sz="2400" b="1">
                          <a:effectLst/>
                        </a:rPr>
                        <a:t>80g:</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fr-FR"/>
                    </a:p>
                  </a:txBody>
                  <a:tcPr/>
                </a:tc>
                <a:tc>
                  <a:txBody>
                    <a:bodyPr/>
                    <a:lstStyle/>
                    <a:p>
                      <a:pPr algn="ctr" rtl="1">
                        <a:lnSpc>
                          <a:spcPct val="107000"/>
                        </a:lnSpc>
                        <a:spcAft>
                          <a:spcPts val="0"/>
                        </a:spcAft>
                      </a:pPr>
                      <a:r>
                        <a:rPr lang="ar-SA" sz="2400" b="1">
                          <a:effectLst/>
                        </a:rPr>
                        <a:t>احماض امينية</a:t>
                      </a:r>
                      <a:r>
                        <a:rPr lang="fr-FR" sz="2400" b="1">
                          <a:effectLst/>
                        </a:rPr>
                        <a:t>:</a:t>
                      </a:r>
                      <a:r>
                        <a:rPr lang="ar-SA" sz="2400" b="1">
                          <a:effectLst/>
                        </a:rPr>
                        <a:t> آثار</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pPr algn="ctr" rtl="1">
                        <a:lnSpc>
                          <a:spcPct val="107000"/>
                        </a:lnSpc>
                        <a:spcAft>
                          <a:spcPts val="0"/>
                        </a:spcAft>
                      </a:pPr>
                      <a:r>
                        <a:rPr lang="ar-SA" sz="2400" b="1" u="sng" dirty="0">
                          <a:solidFill>
                            <a:srgbClr val="C00000"/>
                          </a:solidFill>
                          <a:effectLst/>
                        </a:rPr>
                        <a:t>عناصر معدنية</a:t>
                      </a:r>
                      <a:endParaRPr lang="fr-FR" sz="2400" b="1" dirty="0">
                        <a:solidFill>
                          <a:srgbClr val="C00000"/>
                        </a:solidFill>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fr-FR"/>
                    </a:p>
                  </a:txBody>
                  <a:tcPr/>
                </a:tc>
                <a:tc>
                  <a:txBody>
                    <a:bodyPr/>
                    <a:lstStyle/>
                    <a:p>
                      <a:pPr algn="ctr" rtl="1">
                        <a:lnSpc>
                          <a:spcPct val="107000"/>
                        </a:lnSpc>
                        <a:spcAft>
                          <a:spcPts val="0"/>
                        </a:spcAft>
                      </a:pPr>
                      <a:r>
                        <a:rPr lang="ar-SA" sz="2400" b="1">
                          <a:effectLst/>
                        </a:rPr>
                        <a:t>ميكروبات معوية</a:t>
                      </a:r>
                      <a:r>
                        <a:rPr lang="fr-FR" sz="2400" b="1">
                          <a:effectLst/>
                        </a:rPr>
                        <a:t> 12g:</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16535">
                <a:tc>
                  <a:txBody>
                    <a:bodyPr/>
                    <a:lstStyle/>
                    <a:p>
                      <a:pPr algn="ctr" rtl="1">
                        <a:lnSpc>
                          <a:spcPct val="107000"/>
                        </a:lnSpc>
                        <a:spcAft>
                          <a:spcPts val="0"/>
                        </a:spcAft>
                      </a:pPr>
                      <a:r>
                        <a:rPr lang="ar-SA" sz="2400" b="1">
                          <a:effectLst/>
                        </a:rPr>
                        <a:t>ماء</a:t>
                      </a:r>
                      <a:r>
                        <a:rPr lang="fr-FR" sz="2400" b="1">
                          <a:effectLst/>
                        </a:rPr>
                        <a:t>  L1,5:</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fr-FR"/>
                    </a:p>
                  </a:txBody>
                  <a:tcPr/>
                </a:tc>
                <a:tc>
                  <a:txBody>
                    <a:bodyPr/>
                    <a:lstStyle/>
                    <a:p>
                      <a:pPr algn="ctr" rtl="1">
                        <a:lnSpc>
                          <a:spcPct val="107000"/>
                        </a:lnSpc>
                        <a:spcAft>
                          <a:spcPts val="0"/>
                        </a:spcAft>
                      </a:pPr>
                      <a:r>
                        <a:rPr lang="ar-SA" sz="2400" b="1">
                          <a:effectLst/>
                        </a:rPr>
                        <a:t>ماء الفضلات</a:t>
                      </a:r>
                      <a:r>
                        <a:rPr lang="fr-FR" sz="2400" b="1">
                          <a:effectLst/>
                        </a:rPr>
                        <a:t>0,1L:</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0">
                <a:tc>
                  <a:txBody>
                    <a:bodyPr/>
                    <a:lstStyle/>
                    <a:p>
                      <a:pPr algn="ctr" rtl="1">
                        <a:lnSpc>
                          <a:spcPct val="107000"/>
                        </a:lnSpc>
                        <a:spcAft>
                          <a:spcPts val="0"/>
                        </a:spcAft>
                      </a:pPr>
                      <a:r>
                        <a:rPr lang="ar-SA" sz="2400" b="1">
                          <a:effectLst/>
                        </a:rPr>
                        <a:t>املاح معدنية</a:t>
                      </a:r>
                      <a:r>
                        <a:rPr lang="fr-FR" sz="2400" b="1">
                          <a:effectLst/>
                        </a:rPr>
                        <a:t> g10:</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fr-FR"/>
                    </a:p>
                  </a:txBody>
                  <a:tcPr/>
                </a:tc>
                <a:tc>
                  <a:txBody>
                    <a:bodyPr/>
                    <a:lstStyle/>
                    <a:p>
                      <a:pPr algn="ctr" rtl="1">
                        <a:lnSpc>
                          <a:spcPct val="107000"/>
                        </a:lnSpc>
                        <a:spcAft>
                          <a:spcPts val="0"/>
                        </a:spcAft>
                      </a:pPr>
                      <a:r>
                        <a:rPr lang="ar-SA" sz="2400" b="1" dirty="0">
                          <a:effectLst/>
                        </a:rPr>
                        <a:t>املاح الصفراء</a:t>
                      </a:r>
                      <a:r>
                        <a:rPr lang="fr-FR" sz="2400" b="1" dirty="0">
                          <a:effectLst/>
                        </a:rPr>
                        <a:t>250g:</a:t>
                      </a:r>
                      <a:endParaRPr lang="fr-FR" sz="2400" b="1" dirty="0">
                        <a:effectLst/>
                        <a:latin typeface="Calibri" panose="020F0502020204030204" pitchFamily="34" charset="0"/>
                        <a:ea typeface="Times New Roman" panose="02020603050405020304" pitchFamily="18" charset="0"/>
                        <a:cs typeface="Arial" panose="020B0604020202020204" pitchFamily="34" charset="0"/>
                      </a:endParaRPr>
                    </a:p>
                  </a:txBody>
                  <a:tcPr marL="6350" marR="635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ZoneTexte 8"/>
          <p:cNvSpPr txBox="1">
            <a:spLocks noChangeArrowheads="1"/>
          </p:cNvSpPr>
          <p:nvPr/>
        </p:nvSpPr>
        <p:spPr bwMode="auto">
          <a:xfrm>
            <a:off x="251520" y="5085184"/>
            <a:ext cx="8424936" cy="830997"/>
          </a:xfrm>
          <a:prstGeom prst="rect">
            <a:avLst/>
          </a:prstGeom>
          <a:solidFill>
            <a:srgbClr val="FFFF00"/>
          </a:solidFill>
          <a:ln w="6350" algn="ctr">
            <a:solidFill>
              <a:srgbClr val="890C00"/>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a:ln>
                  <a:noFill/>
                </a:ln>
                <a:solidFill>
                  <a:srgbClr val="000000"/>
                </a:solidFill>
                <a:effectLst/>
                <a:latin typeface="Arial" panose="020B0604020202020204" pitchFamily="34" charset="0"/>
                <a:cs typeface="Arial" panose="020B0604020202020204" pitchFamily="34" charset="0"/>
              </a:rPr>
              <a:t>جدول يوضح مدخلات ومخرجات الانبوب الهضمي عند الانسان البالغ خلال اليوم </a:t>
            </a:r>
          </a:p>
          <a:p>
            <a:pPr marL="0" marR="0" lvl="0" indent="0" algn="ct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a:ln>
                  <a:noFill/>
                </a:ln>
                <a:solidFill>
                  <a:srgbClr val="000000"/>
                </a:solidFill>
                <a:effectLst/>
                <a:latin typeface="Arial" panose="020B0604020202020204" pitchFamily="34" charset="0"/>
                <a:cs typeface="Arial" panose="020B0604020202020204" pitchFamily="34" charset="0"/>
              </a:rPr>
              <a:t>الوثيقة (1)</a:t>
            </a:r>
            <a:endParaRPr kumimoji="0" lang="fr-FR" sz="2400" b="0" i="0" u="none" strike="noStrike" cap="none" normalizeH="0" baseline="0">
              <a:ln>
                <a:noFill/>
              </a:ln>
              <a:solidFill>
                <a:schemeClr val="tx1"/>
              </a:solidFill>
              <a:effectLst/>
              <a:latin typeface="Arial" panose="020B0604020202020204" pitchFamily="34" charset="0"/>
            </a:endParaRPr>
          </a:p>
        </p:txBody>
      </p:sp>
      <p:sp>
        <p:nvSpPr>
          <p:cNvPr id="6" name="AutoShape 5" descr="بالقرآن نهتدي - حسن الظن بالله تعالى؛ هو قوة اليقين بما... | Faceboo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385436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55"/>
                                        </p:tgtEl>
                                        <p:attrNameLst>
                                          <p:attrName>style.visibility</p:attrName>
                                        </p:attrNameLst>
                                      </p:cBhvr>
                                      <p:to>
                                        <p:strVal val="visible"/>
                                      </p:to>
                                    </p:set>
                                    <p:animEffect transition="in" filter="barn(inVertical)">
                                      <p:cBhvr>
                                        <p:cTn id="7" dur="500"/>
                                        <p:tgtEl>
                                          <p:spTgt spid="205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4" descr="RÃ©sultat de recherche d'images pour &quot;â«Ø§ÙØ¬Ø²Ø§Ø¦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au 3"/>
          <p:cNvGraphicFramePr>
            <a:graphicFrameLocks noGrp="1"/>
          </p:cNvGraphicFramePr>
          <p:nvPr>
            <p:extLst>
              <p:ext uri="{D42A27DB-BD31-4B8C-83A1-F6EECF244321}">
                <p14:modId xmlns:p14="http://schemas.microsoft.com/office/powerpoint/2010/main" val="3046499286"/>
              </p:ext>
            </p:extLst>
          </p:nvPr>
        </p:nvGraphicFramePr>
        <p:xfrm>
          <a:off x="1115616" y="260648"/>
          <a:ext cx="7751762" cy="2246123"/>
        </p:xfrm>
        <a:graphic>
          <a:graphicData uri="http://schemas.openxmlformats.org/drawingml/2006/table">
            <a:tbl>
              <a:tblPr firstRow="1" bandRow="1">
                <a:tableStyleId>{5C22544A-7EE6-4342-B048-85BDC9FD1C3A}</a:tableStyleId>
              </a:tblPr>
              <a:tblGrid>
                <a:gridCol w="2204055">
                  <a:extLst>
                    <a:ext uri="{9D8B030D-6E8A-4147-A177-3AD203B41FA5}">
                      <a16:colId xmlns:a16="http://schemas.microsoft.com/office/drawing/2014/main" val="20000"/>
                    </a:ext>
                  </a:extLst>
                </a:gridCol>
                <a:gridCol w="2440427">
                  <a:extLst>
                    <a:ext uri="{9D8B030D-6E8A-4147-A177-3AD203B41FA5}">
                      <a16:colId xmlns:a16="http://schemas.microsoft.com/office/drawing/2014/main" val="20001"/>
                    </a:ext>
                  </a:extLst>
                </a:gridCol>
                <a:gridCol w="3107280">
                  <a:extLst>
                    <a:ext uri="{9D8B030D-6E8A-4147-A177-3AD203B41FA5}">
                      <a16:colId xmlns:a16="http://schemas.microsoft.com/office/drawing/2014/main" val="20002"/>
                    </a:ext>
                  </a:extLst>
                </a:gridCol>
              </a:tblGrid>
              <a:tr h="370840">
                <a:tc>
                  <a:txBody>
                    <a:bodyPr/>
                    <a:lstStyle/>
                    <a:p>
                      <a:pPr algn="r">
                        <a:lnSpc>
                          <a:spcPct val="107000"/>
                        </a:lnSpc>
                        <a:spcAft>
                          <a:spcPts val="0"/>
                        </a:spcAft>
                      </a:pPr>
                      <a:r>
                        <a:rPr lang="ar-DZ" sz="2400" b="1">
                          <a:effectLst/>
                        </a:rPr>
                        <a:t>الدم الصادر عن المعي الدقيق</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ar-DZ" sz="2400" b="1">
                          <a:effectLst/>
                        </a:rPr>
                        <a:t>الدم الوارد للمعي الدقيق</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ar-DZ" sz="2400" b="1">
                          <a:effectLst/>
                        </a:rPr>
                        <a:t>معايرة المغذيات بعد وجبة</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algn="r" rtl="1">
                        <a:lnSpc>
                          <a:spcPct val="107000"/>
                        </a:lnSpc>
                        <a:spcAft>
                          <a:spcPts val="0"/>
                        </a:spcAft>
                      </a:pPr>
                      <a:r>
                        <a:rPr lang="ar-DZ" sz="2400" b="1">
                          <a:effectLst/>
                        </a:rPr>
                        <a:t>2,6</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ar-DZ" sz="2400" b="1" baseline="0" dirty="0">
                          <a:effectLst/>
                        </a:rPr>
                        <a:t> - 1</a:t>
                      </a:r>
                      <a:r>
                        <a:rPr lang="fr-FR" sz="2400" b="1" dirty="0">
                          <a:effectLst/>
                        </a:rPr>
                        <a:t>0,8</a:t>
                      </a:r>
                      <a:endParaRPr lang="fr-FR" sz="2400" b="1" dirty="0">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ar-DZ" sz="2400" b="1">
                          <a:effectLst/>
                        </a:rPr>
                        <a:t>كمية</a:t>
                      </a:r>
                      <a:r>
                        <a:rPr lang="ar-SA" sz="2400" b="1">
                          <a:effectLst/>
                        </a:rPr>
                        <a:t>ال</a:t>
                      </a:r>
                      <a:r>
                        <a:rPr lang="ar-DZ" sz="2400" b="1">
                          <a:effectLst/>
                        </a:rPr>
                        <a:t>غ</a:t>
                      </a:r>
                      <a:r>
                        <a:rPr lang="ar-SA" sz="2400" b="1">
                          <a:effectLst/>
                        </a:rPr>
                        <a:t>لوكوزفي </a:t>
                      </a:r>
                      <a:r>
                        <a:rPr lang="fr-FR" sz="2400" b="1">
                          <a:effectLst/>
                        </a:rPr>
                        <a:t>g/L </a:t>
                      </a:r>
                      <a:r>
                        <a:rPr lang="ar-DZ" sz="2400" b="1">
                          <a:effectLst/>
                        </a:rPr>
                        <a:t>     الدم</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55905">
                <a:tc>
                  <a:txBody>
                    <a:bodyPr/>
                    <a:lstStyle/>
                    <a:p>
                      <a:pPr algn="r" rtl="1">
                        <a:lnSpc>
                          <a:spcPct val="107000"/>
                        </a:lnSpc>
                        <a:spcAft>
                          <a:spcPts val="0"/>
                        </a:spcAft>
                      </a:pPr>
                      <a:r>
                        <a:rPr lang="ar-DZ" sz="2400" b="1">
                          <a:effectLst/>
                        </a:rPr>
                        <a:t>0,8</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fr-FR" sz="2400" b="1">
                          <a:effectLst/>
                        </a:rPr>
                        <a:t>0,4</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ar-DZ" sz="2400" b="1">
                          <a:effectLst/>
                        </a:rPr>
                        <a:t>الاحماض الامينية  </a:t>
                      </a:r>
                      <a:r>
                        <a:rPr lang="fr-FR" sz="2400" b="1">
                          <a:effectLst/>
                        </a:rPr>
                        <a:t>g/L </a:t>
                      </a:r>
                      <a:r>
                        <a:rPr lang="ar-DZ" sz="2400" b="1">
                          <a:effectLst/>
                        </a:rPr>
                        <a:t>     </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35585">
                <a:tc>
                  <a:txBody>
                    <a:bodyPr/>
                    <a:lstStyle/>
                    <a:p>
                      <a:pPr algn="r" rtl="1">
                        <a:lnSpc>
                          <a:spcPct val="107000"/>
                        </a:lnSpc>
                        <a:spcAft>
                          <a:spcPts val="0"/>
                        </a:spcAft>
                      </a:pPr>
                      <a:r>
                        <a:rPr lang="ar-DZ" sz="2400" b="1">
                          <a:effectLst/>
                        </a:rPr>
                        <a:t>35 - 40</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rtl="1">
                        <a:lnSpc>
                          <a:spcPct val="107000"/>
                        </a:lnSpc>
                        <a:spcAft>
                          <a:spcPts val="0"/>
                        </a:spcAft>
                      </a:pPr>
                      <a:r>
                        <a:rPr lang="ar-DZ" sz="2400" b="1">
                          <a:effectLst/>
                        </a:rPr>
                        <a:t>4- 8</a:t>
                      </a:r>
                      <a:endParaRPr lang="fr-FR" sz="2400" b="1">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r">
                        <a:lnSpc>
                          <a:spcPct val="107000"/>
                        </a:lnSpc>
                        <a:spcAft>
                          <a:spcPts val="0"/>
                        </a:spcAft>
                      </a:pPr>
                      <a:r>
                        <a:rPr lang="fr-FR" sz="2400" b="1" dirty="0">
                          <a:effectLst/>
                        </a:rPr>
                        <a:t>g/L</a:t>
                      </a:r>
                      <a:r>
                        <a:rPr lang="ar-DZ" sz="2400" b="1" dirty="0">
                          <a:effectLst/>
                        </a:rPr>
                        <a:t> الماء </a:t>
                      </a:r>
                      <a:endParaRPr lang="fr-FR" sz="2400" b="1" dirty="0">
                        <a:effectLst/>
                        <a:latin typeface="Calibri" panose="020F0502020204030204" pitchFamily="34" charset="0"/>
                        <a:ea typeface="Times New Roman" panose="02020603050405020304" pitchFamily="18"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Rectangle 11"/>
          <p:cNvSpPr>
            <a:spLocks noChangeArrowheads="1"/>
          </p:cNvSpPr>
          <p:nvPr/>
        </p:nvSpPr>
        <p:spPr bwMode="auto">
          <a:xfrm>
            <a:off x="1187624" y="2708920"/>
            <a:ext cx="7632848" cy="830997"/>
          </a:xfrm>
          <a:prstGeom prst="rect">
            <a:avLst/>
          </a:prstGeom>
          <a:solidFill>
            <a:srgbClr val="FFFF00"/>
          </a:solidFill>
          <a:ln w="6350" algn="ctr">
            <a:solidFill>
              <a:srgbClr val="4472C4"/>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جدول معايرة (تحليل)محتوى </a:t>
            </a:r>
            <a:r>
              <a:rPr kumimoji="0" lang="ar-SA"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الدم </a:t>
            </a:r>
            <a:r>
              <a:rPr kumimoji="0" lang="ar-DZ"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الوارد الى المعي الدقيق والصادر عنه                    الوثيقة (2)</a:t>
            </a:r>
            <a:endParaRPr kumimoji="0" lang="fr-FR" sz="2400" b="0" i="0" u="none" strike="noStrike" cap="none" normalizeH="0" baseline="0" dirty="0">
              <a:ln>
                <a:noFill/>
              </a:ln>
              <a:solidFill>
                <a:schemeClr val="tx1"/>
              </a:solidFill>
              <a:effectLst/>
              <a:latin typeface="Arial" panose="020B0604020202020204" pitchFamily="34" charset="0"/>
            </a:endParaRPr>
          </a:p>
        </p:txBody>
      </p:sp>
      <p:pic>
        <p:nvPicPr>
          <p:cNvPr id="6" name="Picture 8"/>
          <p:cNvPicPr/>
          <p:nvPr/>
        </p:nvPicPr>
        <p:blipFill rotWithShape="1">
          <a:blip r:embed="rId3">
            <a:extLst>
              <a:ext uri="{28A0092B-C50C-407E-A947-70E740481C1C}">
                <a14:useLocalDpi xmlns:a14="http://schemas.microsoft.com/office/drawing/2010/main" val="0"/>
              </a:ext>
            </a:extLst>
          </a:blip>
          <a:srcRect l="9259" t="32936" r="63968" b="33289"/>
          <a:stretch/>
        </p:blipFill>
        <p:spPr bwMode="auto">
          <a:xfrm>
            <a:off x="3931977" y="3635262"/>
            <a:ext cx="5112568" cy="3168264"/>
          </a:xfrm>
          <a:prstGeom prst="rect">
            <a:avLst/>
          </a:prstGeom>
          <a:noFill/>
          <a:ln w="19050" cap="flat" cmpd="sng" algn="ctr">
            <a:solidFill>
              <a:srgbClr val="FF0000"/>
            </a:solidFill>
            <a:prstDash val="solid"/>
            <a:round/>
            <a:headEnd type="none" w="med" len="med"/>
            <a:tailEnd type="none" w="med" len="med"/>
          </a:ln>
          <a:effectLst/>
          <a:extLst>
            <a:ext uri="{53640926-AAD7-44D8-BBD7-CCE9431645EC}">
              <a14:shadowObscured xmlns:a14="http://schemas.microsoft.com/office/drawing/2010/main"/>
            </a:ext>
          </a:extLst>
        </p:spPr>
      </p:pic>
      <p:sp>
        <p:nvSpPr>
          <p:cNvPr id="7" name="ZoneTexte 5135"/>
          <p:cNvSpPr txBox="1">
            <a:spLocks noChangeArrowheads="1"/>
          </p:cNvSpPr>
          <p:nvPr/>
        </p:nvSpPr>
        <p:spPr bwMode="auto">
          <a:xfrm>
            <a:off x="179512" y="4941168"/>
            <a:ext cx="3653011" cy="769441"/>
          </a:xfrm>
          <a:prstGeom prst="rect">
            <a:avLst/>
          </a:prstGeom>
          <a:solidFill>
            <a:srgbClr val="FFFF00"/>
          </a:solidFill>
          <a:ln w="6350" algn="ctr">
            <a:solidFill>
              <a:srgbClr val="4472C4"/>
            </a:solidFill>
            <a:miter lim="800000"/>
            <a:headEnd/>
            <a:tailEnd/>
          </a:ln>
        </p:spPr>
        <p:txBody>
          <a:bodyPr vert="horz" wrap="square" lIns="91440" tIns="45720" rIns="91440" bIns="45720" numCol="1" anchor="t"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DZ" sz="2200" b="1" i="0" u="none" strike="noStrike" cap="none" normalizeH="0" baseline="0">
                <a:ln>
                  <a:noFill/>
                </a:ln>
                <a:solidFill>
                  <a:srgbClr val="000000"/>
                </a:solidFill>
                <a:effectLst/>
                <a:latin typeface="Arial" panose="020B0604020202020204" pitchFamily="34" charset="0"/>
                <a:cs typeface="Arial" panose="020B0604020202020204" pitchFamily="34" charset="0"/>
              </a:rPr>
              <a:t>تفرع الاوعية الدموية في المعي الدقيق</a:t>
            </a:r>
          </a:p>
          <a:p>
            <a:pPr marL="0" marR="0" lvl="0" indent="0" algn="ctr" defTabSz="914400" rtl="1" eaLnBrk="0" fontAlgn="base" latinLnBrk="0" hangingPunct="0">
              <a:lnSpc>
                <a:spcPct val="100000"/>
              </a:lnSpc>
              <a:spcBef>
                <a:spcPct val="0"/>
              </a:spcBef>
              <a:spcAft>
                <a:spcPct val="0"/>
              </a:spcAft>
              <a:buClrTx/>
              <a:buSzTx/>
              <a:buFontTx/>
              <a:buNone/>
              <a:tabLst/>
            </a:pPr>
            <a:r>
              <a:rPr kumimoji="0" lang="ar-DZ" sz="2200" b="1" i="0" u="none" strike="noStrike" cap="none" normalizeH="0" baseline="0">
                <a:ln>
                  <a:noFill/>
                </a:ln>
                <a:solidFill>
                  <a:srgbClr val="000000"/>
                </a:solidFill>
                <a:effectLst/>
                <a:latin typeface="Arial" panose="020B0604020202020204" pitchFamily="34" charset="0"/>
                <a:cs typeface="Arial" panose="020B0604020202020204" pitchFamily="34" charset="0"/>
              </a:rPr>
              <a:t>الوثيقة (3)</a:t>
            </a:r>
            <a:endParaRPr kumimoji="0" lang="fr-FR" sz="22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399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5"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938"/>
            <a:ext cx="9122421" cy="685006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179512" y="188640"/>
            <a:ext cx="8856984" cy="666936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fr-F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8022" y="2636912"/>
            <a:ext cx="3756426" cy="2016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5536" y="2636912"/>
            <a:ext cx="4227390" cy="2016224"/>
          </a:xfrm>
          <a:prstGeom prst="rect">
            <a:avLst/>
          </a:prstGeom>
          <a:noFill/>
          <a:ln>
            <a:noFill/>
          </a:ln>
          <a:effectLst/>
        </p:spPr>
      </p:pic>
      <p:sp>
        <p:nvSpPr>
          <p:cNvPr id="8" name="ZoneTexte 7"/>
          <p:cNvSpPr txBox="1"/>
          <p:nvPr/>
        </p:nvSpPr>
        <p:spPr>
          <a:xfrm>
            <a:off x="408322" y="5099700"/>
            <a:ext cx="8568952" cy="156966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r" rtl="1"/>
            <a:r>
              <a:rPr lang="ar-DZ" sz="2400" b="1" dirty="0"/>
              <a:t>لاحظ العالم كلود برنارد سنة 1856 ان الاوعية البلغمية المنتشرة في مساريقا كلب ذبح بعد مدة من تناوله وجبة غنية بالدسم تبدو بيضاء وعند قطع هذه الاوعية يخرج منها مستحلب دهني يدعى البلغم(اللمف) بينما لا يبدو هذا المظهر الحليبي للأوعية البلغمية عند كلب صائم </a:t>
            </a:r>
            <a:r>
              <a:rPr lang="ar-DZ" sz="2400" dirty="0"/>
              <a:t>                         </a:t>
            </a:r>
            <a:r>
              <a:rPr lang="ar-DZ" sz="2400" b="1" dirty="0">
                <a:solidFill>
                  <a:srgbClr val="FF0000"/>
                </a:solidFill>
              </a:rPr>
              <a:t>الوثيقة(4)</a:t>
            </a:r>
            <a:endParaRPr lang="fr-FR" sz="2400" dirty="0">
              <a:solidFill>
                <a:srgbClr val="FF0000"/>
              </a:solidFill>
            </a:endParaRPr>
          </a:p>
        </p:txBody>
      </p:sp>
      <p:sp>
        <p:nvSpPr>
          <p:cNvPr id="9" name="ZoneTexte 8"/>
          <p:cNvSpPr txBox="1"/>
          <p:nvPr/>
        </p:nvSpPr>
        <p:spPr>
          <a:xfrm>
            <a:off x="3893903" y="4168037"/>
            <a:ext cx="1872208" cy="461665"/>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ar-DZ" sz="2400" b="1" dirty="0"/>
              <a:t>نسيج </a:t>
            </a:r>
            <a:r>
              <a:rPr lang="ar-DZ" sz="2400" b="1" dirty="0" err="1"/>
              <a:t>المساريقا</a:t>
            </a:r>
            <a:endParaRPr lang="fr-FR" sz="2400" b="1" dirty="0"/>
          </a:p>
        </p:txBody>
      </p:sp>
      <p:pic>
        <p:nvPicPr>
          <p:cNvPr id="10" name="Picture 2" descr="لا يتوفر وصف للصورة."/>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8322" y="341697"/>
            <a:ext cx="8196126" cy="220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3342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arn(inVertical)">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arn(inVertic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arn(inVertic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arn(inVertic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8" grpId="0" animBg="1"/>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4" descr="C:\projets\leila\relation\intestin.gif"/>
          <p:cNvPicPr>
            <a:picLocks noChangeAspect="1" noChangeArrowheads="1"/>
          </p:cNvPicPr>
          <p:nvPr/>
        </p:nvPicPr>
        <p:blipFill>
          <a:blip r:embed="rId2"/>
          <a:srcRect/>
          <a:stretch>
            <a:fillRect/>
          </a:stretch>
        </p:blipFill>
        <p:spPr bwMode="auto">
          <a:xfrm>
            <a:off x="22335" y="-1"/>
            <a:ext cx="9121665" cy="6857999"/>
          </a:xfrm>
          <a:prstGeom prst="rect">
            <a:avLst/>
          </a:prstGeom>
          <a:noFill/>
        </p:spPr>
      </p:pic>
      <p:sp>
        <p:nvSpPr>
          <p:cNvPr id="4" name="AutoShape 2" descr="RÃ©sultat de recherche d'images pour &quot;â«ÙØµÙØ± Ø§ÙÙØºØ°ÙØ§Øª  Ù Ø§ÙÙØ¹Ù Ø§ÙØ¯ÙÙÙâ¬â&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 name="AutoShape 9" descr="RÃ©sultat de recherche d'images pour &quot;â«Ø±Ø³Ù ØªØ®Ø·ÙØ·Ù ÙØ¬Ø¯Ø§Ø± Ø§ÙØ²ØºØ§Ø¨Ø© Ø§ÙÙØ¹ÙÙØ© ÙØ¹ Ø§ÙØ¨ÙØ§ÙØ§Øªâ¬â&quo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7" name="ZoneTexte 6"/>
          <p:cNvSpPr txBox="1"/>
          <p:nvPr/>
        </p:nvSpPr>
        <p:spPr>
          <a:xfrm>
            <a:off x="178532" y="1131982"/>
            <a:ext cx="8809269" cy="3477875"/>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r" rtl="1"/>
            <a:r>
              <a:rPr lang="ar-DZ" sz="2200" b="1" dirty="0">
                <a:solidFill>
                  <a:srgbClr val="FF0000"/>
                </a:solidFill>
              </a:rPr>
              <a:t>ج1-</a:t>
            </a:r>
            <a:r>
              <a:rPr lang="ar-DZ" sz="2200" b="1" dirty="0"/>
              <a:t> </a:t>
            </a:r>
          </a:p>
          <a:p>
            <a:pPr algn="r" rtl="1"/>
            <a:r>
              <a:rPr lang="ar-SA" sz="2200" b="1" dirty="0">
                <a:solidFill>
                  <a:srgbClr val="0070C0"/>
                </a:solidFill>
              </a:rPr>
              <a:t>ا-</a:t>
            </a:r>
            <a:r>
              <a:rPr lang="ar-SA" sz="2200" b="1" dirty="0"/>
              <a:t>بمقارنة العناصر الغذائية المتناولة والفضلات المطروحة بعد الهضم نجد ان هناك اختلافا كبيرا في النوعية والكمية بحيث</a:t>
            </a:r>
            <a:endParaRPr lang="fr-FR" sz="2200" dirty="0"/>
          </a:p>
          <a:p>
            <a:pPr algn="r" rtl="1"/>
            <a:r>
              <a:rPr lang="fr-FR" sz="2200" b="1" dirty="0"/>
              <a:t>* </a:t>
            </a:r>
            <a:r>
              <a:rPr lang="ar-SA" sz="2200" b="1" dirty="0"/>
              <a:t>تكثر العناصر الغذائية العضوية</a:t>
            </a:r>
            <a:r>
              <a:rPr lang="fr-FR" sz="2200" b="1" dirty="0"/>
              <a:t>  </a:t>
            </a:r>
            <a:r>
              <a:rPr lang="ar-SA" sz="2200" b="1" dirty="0"/>
              <a:t>كالغلو سيدات والبروتينات والدسم في الوجبات الغذائية للإنسان السليم</a:t>
            </a:r>
            <a:r>
              <a:rPr lang="fr-FR" sz="2200" b="1" dirty="0"/>
              <a:t>  </a:t>
            </a:r>
            <a:r>
              <a:rPr lang="ar-SA" sz="2200" b="1" dirty="0"/>
              <a:t>وتكاد تنعدم مقابل ذلك نواتج الهضم كالأحماض الامينية</a:t>
            </a:r>
            <a:r>
              <a:rPr lang="ar-SA" sz="2200" dirty="0"/>
              <a:t> (</a:t>
            </a:r>
            <a:r>
              <a:rPr lang="ar-SA" sz="2200" b="1" dirty="0"/>
              <a:t>اثار</a:t>
            </a:r>
            <a:r>
              <a:rPr lang="ar-SA" sz="2200" dirty="0"/>
              <a:t>) </a:t>
            </a:r>
            <a:r>
              <a:rPr lang="ar-SA" sz="2200" b="1" dirty="0"/>
              <a:t>اللبيدات</a:t>
            </a:r>
            <a:r>
              <a:rPr lang="fr-FR" sz="2200" b="1" dirty="0"/>
              <a:t>0.25g</a:t>
            </a:r>
            <a:r>
              <a:rPr lang="ar-SA" sz="2200" b="1" dirty="0"/>
              <a:t>اضافة الى انعدام كلي للغلوكوز في الفضلات المطروحة</a:t>
            </a:r>
            <a:endParaRPr lang="fr-FR" sz="2200" dirty="0"/>
          </a:p>
          <a:p>
            <a:pPr algn="r" rtl="1"/>
            <a:r>
              <a:rPr lang="fr-FR" sz="2200" b="1" dirty="0"/>
              <a:t>*</a:t>
            </a:r>
            <a:r>
              <a:rPr lang="ar-SA" sz="2200" b="1" dirty="0"/>
              <a:t>تكثر كمية الماء والاملاح المعدنية في الوجبات الغذائية بينما تقل كميتهما في الفضلات المطروحة</a:t>
            </a:r>
            <a:endParaRPr lang="fr-FR" sz="2200" dirty="0"/>
          </a:p>
          <a:p>
            <a:pPr algn="r"/>
            <a:r>
              <a:rPr lang="ar-DZ" sz="2200" b="1" dirty="0"/>
              <a:t>*</a:t>
            </a:r>
            <a:r>
              <a:rPr lang="ar-SA" sz="2200" b="1" dirty="0"/>
              <a:t>وجود جود كمية معتبرة من السيلولوز </a:t>
            </a:r>
            <a:r>
              <a:rPr lang="ar-SA" sz="2200" dirty="0"/>
              <a:t>(</a:t>
            </a:r>
            <a:r>
              <a:rPr lang="ar-SA" sz="2200" b="1" dirty="0"/>
              <a:t>الالياف) في الفضلات المطروحة لأنه لا يهضم لعدم وجود انزيم يفككه</a:t>
            </a:r>
            <a:r>
              <a:rPr lang="ar-SA" sz="2200" dirty="0"/>
              <a:t> (</a:t>
            </a:r>
            <a:r>
              <a:rPr lang="ar-SA" sz="2200" b="1" dirty="0"/>
              <a:t>مكتسبات</a:t>
            </a:r>
            <a:r>
              <a:rPr lang="ar-SA" sz="2200" dirty="0"/>
              <a:t>)</a:t>
            </a:r>
            <a:endParaRPr lang="fr-FR" sz="2200" b="1" dirty="0"/>
          </a:p>
        </p:txBody>
      </p:sp>
      <p:sp>
        <p:nvSpPr>
          <p:cNvPr id="8" name="ZoneTexte 7"/>
          <p:cNvSpPr txBox="1"/>
          <p:nvPr/>
        </p:nvSpPr>
        <p:spPr>
          <a:xfrm>
            <a:off x="4139951" y="51128"/>
            <a:ext cx="1308113" cy="523220"/>
          </a:xfrm>
          <a:prstGeom prst="rect">
            <a:avLst/>
          </a:prstGeom>
          <a:solidFill>
            <a:srgbClr val="FF0000"/>
          </a:solidFill>
        </p:spPr>
        <p:style>
          <a:lnRef idx="1">
            <a:schemeClr val="accent6"/>
          </a:lnRef>
          <a:fillRef idx="2">
            <a:schemeClr val="accent6"/>
          </a:fillRef>
          <a:effectRef idx="1">
            <a:schemeClr val="accent6"/>
          </a:effectRef>
          <a:fontRef idx="minor">
            <a:schemeClr val="dk1"/>
          </a:fontRef>
        </p:style>
        <p:txBody>
          <a:bodyPr wrap="square" rtlCol="0">
            <a:spAutoFit/>
          </a:bodyPr>
          <a:lstStyle/>
          <a:p>
            <a:pPr algn="r" rtl="1"/>
            <a:r>
              <a:rPr lang="ar-DZ" sz="2800" b="1" dirty="0">
                <a:solidFill>
                  <a:schemeClr val="bg1"/>
                </a:solidFill>
              </a:rPr>
              <a:t>المناقشة</a:t>
            </a:r>
            <a:endParaRPr lang="fr-FR" sz="2800" b="1" dirty="0">
              <a:solidFill>
                <a:schemeClr val="bg1"/>
              </a:solidFill>
            </a:endParaRPr>
          </a:p>
        </p:txBody>
      </p:sp>
      <p:sp>
        <p:nvSpPr>
          <p:cNvPr id="15" name="ZoneTexte 14"/>
          <p:cNvSpPr txBox="1"/>
          <p:nvPr/>
        </p:nvSpPr>
        <p:spPr>
          <a:xfrm>
            <a:off x="178532" y="5167491"/>
            <a:ext cx="8735515" cy="769441"/>
          </a:xfrm>
          <a:prstGeom prst="rect">
            <a:avLst/>
          </a:prstGeom>
          <a:solidFill>
            <a:srgbClr val="FFFF00"/>
          </a:solidFill>
        </p:spPr>
        <p:style>
          <a:lnRef idx="1">
            <a:schemeClr val="accent6"/>
          </a:lnRef>
          <a:fillRef idx="2">
            <a:schemeClr val="accent6"/>
          </a:fillRef>
          <a:effectRef idx="1">
            <a:schemeClr val="accent6"/>
          </a:effectRef>
          <a:fontRef idx="minor">
            <a:schemeClr val="dk1"/>
          </a:fontRef>
        </p:style>
        <p:txBody>
          <a:bodyPr wrap="square" rtlCol="0">
            <a:spAutoFit/>
          </a:bodyPr>
          <a:lstStyle/>
          <a:p>
            <a:pPr algn="r" rtl="1"/>
            <a:r>
              <a:rPr lang="ar-SA" sz="2200" b="1" dirty="0">
                <a:solidFill>
                  <a:srgbClr val="FF0000"/>
                </a:solidFill>
              </a:rPr>
              <a:t>الاستنتاج</a:t>
            </a:r>
            <a:r>
              <a:rPr lang="fr-FR" sz="2200" b="1" dirty="0"/>
              <a:t>: </a:t>
            </a:r>
            <a:r>
              <a:rPr lang="ar-SA" sz="2200" b="1" dirty="0"/>
              <a:t>تختفي المغذيات الناتجة عن الهضم الكيميائي للأغذية ولا تظهر في الفضلات المطروحة لأنه تم امتصاصها على مستوى المعي الدقيق</a:t>
            </a:r>
            <a:r>
              <a:rPr lang="fr-FR" sz="2200" b="1" dirty="0"/>
              <a:t>  </a:t>
            </a:r>
            <a:endParaRPr lang="fr-FR" sz="2200" dirty="0"/>
          </a:p>
        </p:txBody>
      </p:sp>
    </p:spTree>
    <p:extLst>
      <p:ext uri="{BB962C8B-B14F-4D97-AF65-F5344CB8AC3E}">
        <p14:creationId xmlns:p14="http://schemas.microsoft.com/office/powerpoint/2010/main" val="208811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arn(inVertical)">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6" descr="RÃ©sultat de recherche d'images pour &quot;â«Ø§ÙØ§Ø­ØªØ±Ø§Ù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7937"/>
            <a:ext cx="9144000" cy="6837879"/>
          </a:xfrm>
          <a:prstGeom prst="rect">
            <a:avLst/>
          </a:prstGeom>
          <a:noFill/>
          <a:extLst>
            <a:ext uri="{909E8E84-426E-40DD-AFC4-6F175D3DCCD1}">
              <a14:hiddenFill xmlns:a14="http://schemas.microsoft.com/office/drawing/2010/main">
                <a:solidFill>
                  <a:srgbClr val="FFFFFF"/>
                </a:solidFill>
              </a14:hiddenFill>
            </a:ext>
          </a:extLst>
        </p:spPr>
      </p:pic>
      <p:sp>
        <p:nvSpPr>
          <p:cNvPr id="16" name="AutoShape 2" descr="RÃ©sultat de recherche d'images pour &quot;â«ÙØµÙ Ø§ÙØ¨ÙÙØ© Ø§ÙØ¯Ø§Ø®ÙÙØ© ÙÙÙØ¹Ù Ø§ÙØ¯ÙÙÙâ¬â&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7" name="AutoShape 6" descr="RÃ©sultat de recherche d'images pour &quot;â«ÙØµÙ Ø§ÙØ¨ÙÙØ© Ø§ÙØ¯Ø§Ø®ÙÙØ© ÙÙÙØ¹Ù Ø§ÙØ¯ÙÙÙâ¬â&quo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8" name="AutoShape 9" descr="RÃ©sultat de recherche d'images pour &quot;â«ÙØµÙ Ø§ÙØ¨ÙÙØ© Ø§ÙØ¯Ø§Ø®ÙÙØ© ÙÙÙØ¹Ù Ø§ÙØ¯ÙÙÙâ¬â&quo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0" name="Rectangle 9"/>
          <p:cNvSpPr/>
          <p:nvPr/>
        </p:nvSpPr>
        <p:spPr>
          <a:xfrm>
            <a:off x="413696" y="160336"/>
            <a:ext cx="8572488" cy="76944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r" rtl="1"/>
            <a:r>
              <a:rPr lang="ar-SA" sz="2200" b="1" dirty="0">
                <a:solidFill>
                  <a:srgbClr val="FF0000"/>
                </a:solidFill>
              </a:rPr>
              <a:t>ب-</a:t>
            </a:r>
            <a:r>
              <a:rPr lang="ar-SA" sz="2200" b="1" dirty="0"/>
              <a:t>تزداد كمية سكر العنب والاحماض الامينية والماء في الدم الصادرعن المعي الدقيق وتقل في الدم الوارد اليه </a:t>
            </a:r>
            <a:endParaRPr lang="fr-FR" sz="2200" dirty="0"/>
          </a:p>
        </p:txBody>
      </p:sp>
      <p:sp>
        <p:nvSpPr>
          <p:cNvPr id="2" name="Rectangle 1"/>
          <p:cNvSpPr/>
          <p:nvPr/>
        </p:nvSpPr>
        <p:spPr>
          <a:xfrm>
            <a:off x="348741" y="1094025"/>
            <a:ext cx="8702397" cy="430887"/>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r"/>
            <a:r>
              <a:rPr lang="ar-SA" sz="22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الاستنتاج:</a:t>
            </a:r>
            <a:r>
              <a:rPr lang="ar-DZ" sz="22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ar-SA" sz="2200" b="1" dirty="0"/>
              <a:t>الغلوكوز والاحماض الامينية والماء تنتقل من المعي الدقيق الى الدم</a:t>
            </a:r>
            <a:endParaRPr lang="fr-FR" sz="2200" dirty="0"/>
          </a:p>
        </p:txBody>
      </p:sp>
      <p:sp>
        <p:nvSpPr>
          <p:cNvPr id="3" name="Rectangle 2"/>
          <p:cNvSpPr/>
          <p:nvPr/>
        </p:nvSpPr>
        <p:spPr>
          <a:xfrm>
            <a:off x="369803" y="1585585"/>
            <a:ext cx="8691214" cy="1107996"/>
          </a:xfrm>
          <a:prstGeom prst="rect">
            <a:avLst/>
          </a:prstGeom>
          <a:solidFill>
            <a:srgbClr val="FFC000"/>
          </a:solidFill>
        </p:spPr>
        <p:txBody>
          <a:bodyPr wrap="square">
            <a:spAutoFit/>
          </a:bodyPr>
          <a:lstStyle/>
          <a:p>
            <a:pPr algn="r" rtl="1"/>
            <a:r>
              <a:rPr lang="ar-SA" sz="2200" b="1" dirty="0">
                <a:solidFill>
                  <a:srgbClr val="FF0000"/>
                </a:solidFill>
                <a:latin typeface="Calibri" panose="020F0502020204030204" pitchFamily="34" charset="0"/>
                <a:ea typeface="Calibri" panose="020F0502020204030204" pitchFamily="34" charset="0"/>
              </a:rPr>
              <a:t>ج2-</a:t>
            </a:r>
            <a:r>
              <a:rPr lang="ar-SA" sz="2200" b="1" dirty="0">
                <a:solidFill>
                  <a:srgbClr val="000000"/>
                </a:solidFill>
                <a:latin typeface="Calibri" panose="020F0502020204030204" pitchFamily="34" charset="0"/>
                <a:ea typeface="Calibri" panose="020F0502020204030204" pitchFamily="34" charset="0"/>
              </a:rPr>
              <a:t>وجود</a:t>
            </a:r>
            <a:r>
              <a:rPr lang="ar-SA" sz="2200" b="1" dirty="0">
                <a:ea typeface="Arial" panose="020B0604020202020204" pitchFamily="34" charset="0"/>
              </a:rPr>
              <a:t> اوعية وشعيرات دموية على مستوى المعي الدقيق يدل على ان هناك علاقة بين الدم والمعي الدقيق اي ان المغذيات تنتقل مباشرة من المعي الدقيق الى الدم وهذا يؤكد ما تم استنتاجه سابقا حول الغلوسيدات والبروتينات والماء التي تنتقل عبر الدم</a:t>
            </a:r>
            <a:endParaRPr lang="fr-FR" sz="2200" dirty="0"/>
          </a:p>
        </p:txBody>
      </p:sp>
      <p:sp>
        <p:nvSpPr>
          <p:cNvPr id="5" name="Rectangle 4"/>
          <p:cNvSpPr/>
          <p:nvPr/>
        </p:nvSpPr>
        <p:spPr>
          <a:xfrm>
            <a:off x="382808" y="2772444"/>
            <a:ext cx="8678209" cy="1988108"/>
          </a:xfrm>
          <a:prstGeom prst="rect">
            <a:avLst/>
          </a:prstGeom>
          <a:solidFill>
            <a:srgbClr val="FF99CC"/>
          </a:solidFill>
        </p:spPr>
        <p:txBody>
          <a:bodyPr wrap="square">
            <a:spAutoFit/>
          </a:bodyPr>
          <a:lstStyle/>
          <a:p>
            <a:pPr algn="r" rtl="1">
              <a:lnSpc>
                <a:spcPct val="107000"/>
              </a:lnSpc>
              <a:spcAft>
                <a:spcPts val="800"/>
              </a:spcAft>
            </a:pPr>
            <a:r>
              <a:rPr lang="ar-SA" sz="22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ج3-</a:t>
            </a:r>
            <a:r>
              <a:rPr lang="ar-SA" sz="2200" b="1" dirty="0">
                <a:solidFill>
                  <a:srgbClr val="000000"/>
                </a:solidFill>
                <a:latin typeface="Calibri" panose="020F0502020204030204" pitchFamily="34" charset="0"/>
                <a:ea typeface="Calibri" panose="020F0502020204030204" pitchFamily="34" charset="0"/>
                <a:cs typeface="Times New Roman" panose="02020603050405020304" pitchFamily="18" charset="0"/>
              </a:rPr>
              <a:t>اقتراح </a:t>
            </a:r>
            <a:r>
              <a:rPr lang="ar-SA" sz="2200" b="1" dirty="0">
                <a:solidFill>
                  <a:srgbClr val="000000"/>
                </a:solidFill>
                <a:latin typeface="Calibri" panose="020F0502020204030204" pitchFamily="34" charset="0"/>
                <a:ea typeface="Arial" panose="020B0604020202020204" pitchFamily="34" charset="0"/>
              </a:rPr>
              <a:t>الفرضية</a:t>
            </a:r>
            <a:r>
              <a:rPr lang="fr-FR" sz="2200" b="1" dirty="0">
                <a:latin typeface="Calibri" panose="020F0502020204030204" pitchFamily="34" charset="0"/>
                <a:ea typeface="Calibri" panose="020F0502020204030204" pitchFamily="34" charset="0"/>
                <a:cs typeface="Calibri" panose="020F0502020204030204" pitchFamily="34" charset="0"/>
              </a:rPr>
              <a:t> </a:t>
            </a:r>
            <a:endParaRPr lang="fr-FR" sz="2200" dirty="0">
              <a:latin typeface="Calibri" panose="020F0502020204030204" pitchFamily="34" charset="0"/>
              <a:ea typeface="Times New Roman" panose="02020603050405020304" pitchFamily="18" charset="0"/>
              <a:cs typeface="Arial" panose="020B0604020202020204" pitchFamily="34" charset="0"/>
            </a:endParaRPr>
          </a:p>
          <a:p>
            <a:pPr algn="r" rtl="1">
              <a:lnSpc>
                <a:spcPct val="107000"/>
              </a:lnSpc>
              <a:spcAft>
                <a:spcPts val="800"/>
              </a:spcAft>
            </a:pPr>
            <a:r>
              <a:rPr lang="ar-SA" sz="2200" b="1" dirty="0">
                <a:latin typeface="Calibri" panose="020F0502020204030204" pitchFamily="34" charset="0"/>
                <a:ea typeface="Calibri" panose="020F0502020204030204" pitchFamily="34" charset="0"/>
                <a:cs typeface="Times New Roman" panose="02020603050405020304" pitchFamily="18" charset="0"/>
              </a:rPr>
              <a:t>مصدر</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المواد</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الدسمة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في</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الأوعية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اللمفاوية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البلغمية</a:t>
            </a:r>
            <a:r>
              <a:rPr lang="ar-SA" sz="2200" b="1" dirty="0">
                <a:latin typeface="Calibri" panose="020F0502020204030204" pitchFamily="34" charset="0"/>
                <a:ea typeface="Calibri" panose="020F0502020204030204" pitchFamily="34" charset="0"/>
                <a:cs typeface="Calibri" panose="020F0502020204030204" pitchFamily="34" charset="0"/>
              </a:rPr>
              <a:t>)</a:t>
            </a:r>
            <a:r>
              <a:rPr lang="ar-SA" sz="2200" b="1" dirty="0">
                <a:latin typeface="Calibri" panose="020F0502020204030204" pitchFamily="34" charset="0"/>
                <a:ea typeface="Calibri" panose="020F0502020204030204" pitchFamily="34" charset="0"/>
                <a:cs typeface="Times New Roman" panose="02020603050405020304" pitchFamily="18" charset="0"/>
              </a:rPr>
              <a:t>هي</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الدسم</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المتناولة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خلال</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الوجبة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الغذائية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rPr>
              <a:t>حيث تمتص الاحماض د والغليسرول ويعاد تشكل الدسم في اللمف </a:t>
            </a:r>
            <a:r>
              <a:rPr lang="ar-SA" sz="22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التبرير: </a:t>
            </a:r>
            <a:r>
              <a:rPr lang="ar-SA" sz="2200" b="1" dirty="0">
                <a:latin typeface="Calibri" panose="020F0502020204030204" pitchFamily="34" charset="0"/>
                <a:ea typeface="Calibri" panose="020F0502020204030204" pitchFamily="34" charset="0"/>
                <a:cs typeface="Times New Roman" panose="02020603050405020304" pitchFamily="18" charset="0"/>
              </a:rPr>
              <a:t>لأنها</a:t>
            </a:r>
            <a:r>
              <a:rPr lang="ar-SA" sz="22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لوحظت</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في</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الاوعية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البلغمية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المنتشرة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في</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مساريقا</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كلب</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ذبح</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بعد</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مدة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من</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تناوله</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وجبة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غنية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بالدسم</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ولم</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يلاحظ</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هذا</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المظهر</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في</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الاوعية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البلغمية</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عند</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كلب</a:t>
            </a:r>
            <a:r>
              <a:rPr lang="ar-SA" sz="2200" b="1" dirty="0">
                <a:latin typeface="Calibri" panose="020F0502020204030204" pitchFamily="34" charset="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صائم</a:t>
            </a:r>
            <a:r>
              <a:rPr lang="ar-DZ" sz="2200" dirty="0">
                <a:latin typeface="Calibri" panose="020F0502020204030204" pitchFamily="34" charset="0"/>
                <a:ea typeface="Calibri" panose="020F0502020204030204" pitchFamily="34" charset="0"/>
                <a:cs typeface="Arial" panose="020B060402020202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ومنه فالدسم تنتقب عبر اللمف</a:t>
            </a:r>
            <a:endParaRPr lang="fr-FR" sz="2200"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6" name="Rectangle 5"/>
          <p:cNvSpPr/>
          <p:nvPr/>
        </p:nvSpPr>
        <p:spPr>
          <a:xfrm>
            <a:off x="360834" y="4839415"/>
            <a:ext cx="8678210" cy="1988108"/>
          </a:xfrm>
          <a:prstGeom prst="rect">
            <a:avLst/>
          </a:prstGeom>
          <a:solidFill>
            <a:schemeClr val="accent5">
              <a:lumMod val="60000"/>
              <a:lumOff val="40000"/>
            </a:schemeClr>
          </a:solidFill>
        </p:spPr>
        <p:txBody>
          <a:bodyPr wrap="square">
            <a:spAutoFit/>
          </a:bodyPr>
          <a:lstStyle/>
          <a:p>
            <a:pPr algn="r" rtl="1">
              <a:lnSpc>
                <a:spcPct val="107000"/>
              </a:lnSpc>
              <a:spcAft>
                <a:spcPts val="800"/>
              </a:spcAft>
            </a:pPr>
            <a:r>
              <a:rPr lang="ar-SA" sz="2200" b="1" dirty="0">
                <a:solidFill>
                  <a:srgbClr val="FF0000"/>
                </a:solidFill>
                <a:latin typeface="Calibri" panose="020F0502020204030204" pitchFamily="34" charset="0"/>
                <a:ea typeface="Calibri" panose="020F0502020204030204" pitchFamily="34" charset="0"/>
                <a:cs typeface="Times New Roman" panose="02020603050405020304" pitchFamily="18" charset="0"/>
              </a:rPr>
              <a:t>ج4-التفسير</a:t>
            </a:r>
            <a:endParaRPr lang="ar-DZ" sz="2200" dirty="0">
              <a:latin typeface="Calibri" panose="020F0502020204030204" pitchFamily="34" charset="0"/>
              <a:ea typeface="Calibri" panose="020F0502020204030204" pitchFamily="34" charset="0"/>
              <a:cs typeface="Arial" panose="020B0604020202020204" pitchFamily="34" charset="0"/>
            </a:endParaRPr>
          </a:p>
          <a:p>
            <a:pPr algn="r" rtl="1">
              <a:lnSpc>
                <a:spcPct val="107000"/>
              </a:lnSpc>
              <a:spcAft>
                <a:spcPts val="800"/>
              </a:spcAft>
            </a:pPr>
            <a:r>
              <a:rPr lang="ar-SA" sz="2200" b="1" dirty="0">
                <a:latin typeface="Calibri" panose="020F0502020204030204" pitchFamily="34" charset="0"/>
                <a:ea typeface="Calibri" panose="020F0502020204030204" pitchFamily="34" charset="0"/>
                <a:cs typeface="Times New Roman" panose="02020603050405020304" pitchFamily="18" charset="0"/>
              </a:rPr>
              <a:t>الحقن</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الدموي</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بمحلول</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مغذي</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متوازن يعتبر</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حلا</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طبيا</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مناسبا</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عند</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تعذر</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التغذية</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الطبيعية</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لتعويض</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عدم</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حدوث</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تحولات</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على</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مستوى</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الانبوب</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الهضمي</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وتزويد</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الدم</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مباشرة</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بالمغذيات</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ومنه</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نستنتج</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ان</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المعي</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الدقيق</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يعتبر</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محطة</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تنتقل</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منها</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المغذيات</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الى</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cs typeface="Times New Roman" panose="02020603050405020304" pitchFamily="18" charset="0"/>
              </a:rPr>
              <a:t>الدم</a:t>
            </a:r>
            <a:r>
              <a:rPr lang="ar-SA" sz="2200" b="1" dirty="0">
                <a:ea typeface="Calibri" panose="020F0502020204030204" pitchFamily="34" charset="0"/>
                <a:cs typeface="Calibri" panose="020F0502020204030204" pitchFamily="34" charset="0"/>
              </a:rPr>
              <a:t> </a:t>
            </a:r>
            <a:r>
              <a:rPr lang="ar-SA" sz="2200" b="1" dirty="0">
                <a:latin typeface="Calibri" panose="020F0502020204030204" pitchFamily="34" charset="0"/>
                <a:ea typeface="Calibri" panose="020F0502020204030204" pitchFamily="34" charset="0"/>
              </a:rPr>
              <a:t>واللمف وهذا يعني حدوث </a:t>
            </a:r>
            <a:r>
              <a:rPr lang="ar-SA" sz="2200" b="1" dirty="0">
                <a:solidFill>
                  <a:srgbClr val="0070C0"/>
                </a:solidFill>
                <a:latin typeface="Calibri" panose="020F0502020204030204" pitchFamily="34" charset="0"/>
                <a:ea typeface="Calibri" panose="020F0502020204030204" pitchFamily="34" charset="0"/>
              </a:rPr>
              <a:t>الامتصاص المعوي</a:t>
            </a:r>
            <a:r>
              <a:rPr lang="fr-FR" sz="2200" b="1" dirty="0">
                <a:latin typeface="Calibri" panose="020F0502020204030204" pitchFamily="34" charset="0"/>
                <a:ea typeface="Calibri" panose="020F0502020204030204" pitchFamily="34" charset="0"/>
                <a:cs typeface="Calibri" panose="020F0502020204030204" pitchFamily="34" charset="0"/>
              </a:rPr>
              <a:t> </a:t>
            </a:r>
            <a:endParaRPr lang="fr-FR" sz="2200" dirty="0"/>
          </a:p>
        </p:txBody>
      </p:sp>
    </p:spTree>
    <p:extLst>
      <p:ext uri="{BB962C8B-B14F-4D97-AF65-F5344CB8AC3E}">
        <p14:creationId xmlns:p14="http://schemas.microsoft.com/office/powerpoint/2010/main" val="104567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arn(inVertic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arn(inVertical)">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P spid="3"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RÃ©sultat de recherche d'images pour &quot;â«Ø§ÙØ²ØºØ§Ø¨Ø§Øª Ø§ÙÙØ¹ÙÙ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799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309317" y="908720"/>
            <a:ext cx="8628530" cy="569386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r" rtl="1"/>
            <a:r>
              <a:rPr lang="ar-DZ" sz="2600" b="1" dirty="0"/>
              <a:t>ليلى تلميذة تعاني من نحافة شديدة في الجسم وقلة النمو والام مستمرة في البطن بينت التحاليل الطبية لها انها مصابة بداء السيلياك الذي يصيب أحد اعضاء الجهاز الهضمي والذي يسبب قلة امتصاص المغذيات وعدم وصول الكمية الكافية منها للدم</a:t>
            </a:r>
            <a:endParaRPr lang="fr-FR" sz="2600" dirty="0"/>
          </a:p>
          <a:p>
            <a:pPr algn="r" rtl="1"/>
            <a:r>
              <a:rPr lang="ar-DZ" sz="2600" b="1" dirty="0"/>
              <a:t>على ضوء السياق واعتمادا على الوثائق الموالية</a:t>
            </a:r>
            <a:endParaRPr lang="fr-FR" sz="2600" dirty="0"/>
          </a:p>
          <a:p>
            <a:pPr algn="r" rtl="1"/>
            <a:r>
              <a:rPr lang="ar-DZ" sz="2600" b="1" dirty="0">
                <a:solidFill>
                  <a:srgbClr val="FF0000"/>
                </a:solidFill>
              </a:rPr>
              <a:t>1-</a:t>
            </a:r>
            <a:r>
              <a:rPr lang="ar-DZ" sz="2600" b="1" dirty="0"/>
              <a:t>سم العضو المصاب عند ليلى ثم قارن بين بنية سطحه الداخلي في الحالة العادية وبنيته عند ليلى</a:t>
            </a:r>
          </a:p>
          <a:p>
            <a:pPr algn="r" rtl="1"/>
            <a:r>
              <a:rPr lang="ar-DZ" sz="2600" b="1" dirty="0">
                <a:solidFill>
                  <a:srgbClr val="FF0000"/>
                </a:solidFill>
              </a:rPr>
              <a:t>2-</a:t>
            </a:r>
            <a:r>
              <a:rPr lang="ar-DZ" sz="2600" b="1" dirty="0"/>
              <a:t>استخرج خصائص ومميزات هذا العضو عند الانسان السليم والتي لها علاقة بعملية امتصاص المغذيات انطلاقا من الوثيقة (2) و(3)</a:t>
            </a:r>
            <a:r>
              <a:rPr lang="fr-FR" sz="2600" b="1" dirty="0"/>
              <a:t>.</a:t>
            </a:r>
            <a:endParaRPr lang="ar-DZ" sz="2600" b="1" dirty="0"/>
          </a:p>
          <a:p>
            <a:pPr algn="r" rtl="1"/>
            <a:r>
              <a:rPr lang="ar-DZ" sz="2600" b="1" dirty="0">
                <a:solidFill>
                  <a:srgbClr val="FF0000"/>
                </a:solidFill>
              </a:rPr>
              <a:t>3-</a:t>
            </a:r>
            <a:r>
              <a:rPr lang="ar-DZ" sz="2600" b="1" dirty="0"/>
              <a:t>اعد الرسم التخطيطي الموضح بالوثيقة(4) عنونه وسجل عليه البيانات انطلاقا من الوثيقة المرفقة</a:t>
            </a:r>
            <a:r>
              <a:rPr lang="fr-FR" sz="2600" b="1" dirty="0"/>
              <a:t>.</a:t>
            </a:r>
            <a:endParaRPr lang="ar-DZ" sz="2600" b="1" dirty="0"/>
          </a:p>
          <a:p>
            <a:pPr algn="r" rtl="1"/>
            <a:r>
              <a:rPr lang="ar-DZ" sz="2600" b="1" dirty="0">
                <a:solidFill>
                  <a:srgbClr val="FF0000"/>
                </a:solidFill>
              </a:rPr>
              <a:t>4-</a:t>
            </a:r>
            <a:r>
              <a:rPr lang="ar-DZ" sz="2600" b="1" dirty="0"/>
              <a:t>قدم امثلة أخرى لأسطح التبادل بين الوسط الداخلي (سوائل الجسم كالدم مثلا) والوسط الخارجي (الرئتان مثلا) عند الانسان اعتمادا على مكتسباتك السابقة</a:t>
            </a:r>
            <a:r>
              <a:rPr lang="fr-FR" sz="2600" b="1" dirty="0"/>
              <a:t>.</a:t>
            </a:r>
            <a:r>
              <a:rPr lang="ar-DZ" sz="2600" b="1" dirty="0"/>
              <a:t> </a:t>
            </a:r>
          </a:p>
          <a:p>
            <a:pPr algn="r" rtl="1"/>
            <a:r>
              <a:rPr lang="ar-DZ" sz="2600" b="1" dirty="0">
                <a:solidFill>
                  <a:srgbClr val="FF0000"/>
                </a:solidFill>
              </a:rPr>
              <a:t>5-</a:t>
            </a:r>
            <a:r>
              <a:rPr lang="ar-DZ" sz="2600" b="1" dirty="0"/>
              <a:t>اقترح مما تقدم تعريفا للامتصاص المعوي</a:t>
            </a:r>
            <a:r>
              <a:rPr lang="fr-FR" sz="2600" b="1" dirty="0"/>
              <a:t>.</a:t>
            </a:r>
            <a:r>
              <a:rPr lang="ar-DZ" sz="2600" b="1" dirty="0"/>
              <a:t> </a:t>
            </a:r>
            <a:endParaRPr lang="fr-FR" sz="2600" dirty="0"/>
          </a:p>
        </p:txBody>
      </p:sp>
      <p:sp>
        <p:nvSpPr>
          <p:cNvPr id="9" name="Rectangle 8"/>
          <p:cNvSpPr/>
          <p:nvPr/>
        </p:nvSpPr>
        <p:spPr>
          <a:xfrm>
            <a:off x="7092280" y="76753"/>
            <a:ext cx="2034059" cy="5847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r"/>
            <a:r>
              <a:rPr lang="ar-DZ" sz="3200" b="1" dirty="0"/>
              <a:t>النشاط الثاني</a:t>
            </a:r>
          </a:p>
        </p:txBody>
      </p:sp>
      <p:sp>
        <p:nvSpPr>
          <p:cNvPr id="2" name="Rectangle 1"/>
          <p:cNvSpPr/>
          <p:nvPr/>
        </p:nvSpPr>
        <p:spPr>
          <a:xfrm>
            <a:off x="2635313" y="87106"/>
            <a:ext cx="4333238" cy="592726"/>
          </a:xfrm>
          <a:prstGeom prst="rect">
            <a:avLst/>
          </a:prstGeom>
          <a:solidFill>
            <a:srgbClr val="FFFF00"/>
          </a:solidFill>
        </p:spPr>
        <p:txBody>
          <a:bodyPr wrap="none">
            <a:spAutoFit/>
          </a:bodyPr>
          <a:lstStyle/>
          <a:p>
            <a:pPr algn="ctr" rtl="1">
              <a:lnSpc>
                <a:spcPct val="107000"/>
              </a:lnSpc>
              <a:spcAft>
                <a:spcPts val="800"/>
              </a:spcAft>
            </a:pPr>
            <a:r>
              <a:rPr lang="ar-DZ" sz="3200" b="1" dirty="0">
                <a:solidFill>
                  <a:srgbClr val="0070C0"/>
                </a:solidFill>
                <a:latin typeface="Calibri" panose="020F0502020204030204" pitchFamily="34" charset="0"/>
                <a:ea typeface="Times New Roman" panose="02020603050405020304" pitchFamily="18" charset="0"/>
              </a:rPr>
              <a:t>مميزات مقر امتصاص المغذيات</a:t>
            </a:r>
            <a:endParaRPr lang="fr-FR" sz="3200" dirty="0">
              <a:effectLst/>
              <a:latin typeface="Calibri" panose="020F050202020403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3258740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2" descr="RÃ©sultat de recherche d'images pour &quot;â«Ø§ÙØ²ØºØ§Ø¨Ø§Øª Ø§ÙÙØ¹ÙÙ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17219"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7" descr="Image associée"/>
          <p:cNvPicPr/>
          <p:nvPr/>
        </p:nvPicPr>
        <p:blipFill rotWithShape="1">
          <a:blip r:embed="rId3">
            <a:extLst>
              <a:ext uri="{28A0092B-C50C-407E-A947-70E740481C1C}">
                <a14:useLocalDpi xmlns:a14="http://schemas.microsoft.com/office/drawing/2010/main" val="0"/>
              </a:ext>
            </a:extLst>
          </a:blip>
          <a:srcRect t="7387" b="6846"/>
          <a:stretch/>
        </p:blipFill>
        <p:spPr bwMode="auto">
          <a:xfrm>
            <a:off x="4283968" y="188640"/>
            <a:ext cx="4658841" cy="5112568"/>
          </a:xfrm>
          <a:prstGeom prst="rect">
            <a:avLst/>
          </a:prstGeom>
          <a:noFill/>
          <a:ln w="12700" cap="flat" cmpd="sng" algn="ctr">
            <a:solidFill>
              <a:srgbClr val="FF0000"/>
            </a:solidFill>
            <a:prstDash val="solid"/>
            <a:round/>
            <a:headEnd type="none" w="med" len="med"/>
            <a:tailEnd type="none" w="med" len="med"/>
          </a:ln>
          <a:extLst>
            <a:ext uri="{53640926-AAD7-44D8-BBD7-CCE9431645EC}">
              <a14:shadowObscured xmlns:a14="http://schemas.microsoft.com/office/drawing/2010/main"/>
            </a:ext>
          </a:extLst>
        </p:spPr>
      </p:pic>
      <p:sp>
        <p:nvSpPr>
          <p:cNvPr id="11" name="ZoneTexte 10"/>
          <p:cNvSpPr txBox="1"/>
          <p:nvPr/>
        </p:nvSpPr>
        <p:spPr>
          <a:xfrm>
            <a:off x="7173664" y="2996952"/>
            <a:ext cx="1764196" cy="646331"/>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r" rtl="1"/>
            <a:r>
              <a:rPr lang="ar-DZ" b="1" dirty="0"/>
              <a:t>بطانة الأمعاء الدقيقة لليلى</a:t>
            </a:r>
            <a:endParaRPr lang="fr-FR" dirty="0"/>
          </a:p>
        </p:txBody>
      </p:sp>
      <p:sp>
        <p:nvSpPr>
          <p:cNvPr id="2" name="Rectangle 1"/>
          <p:cNvSpPr/>
          <p:nvPr/>
        </p:nvSpPr>
        <p:spPr>
          <a:xfrm>
            <a:off x="4427984" y="2494637"/>
            <a:ext cx="1677111" cy="646331"/>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ctr" rtl="1">
              <a:spcAft>
                <a:spcPts val="0"/>
              </a:spcAft>
            </a:pPr>
            <a:r>
              <a:rPr lang="ar-DZ" b="1" dirty="0">
                <a:solidFill>
                  <a:srgbClr val="000000"/>
                </a:solidFill>
                <a:latin typeface="Calibri" panose="020F0502020204030204" pitchFamily="34" charset="0"/>
                <a:ea typeface="Times New Roman" panose="02020603050405020304" pitchFamily="18" charset="0"/>
              </a:rPr>
              <a:t>بطانة المعي الدقيق لشخص سليم</a:t>
            </a:r>
            <a:endParaRPr lang="fr-FR" sz="2800" dirty="0">
              <a:effectLst/>
              <a:latin typeface="Times New Roman" panose="02020603050405020304" pitchFamily="18" charset="0"/>
              <a:ea typeface="Times New Roman" panose="02020603050405020304" pitchFamily="18" charset="0"/>
            </a:endParaRPr>
          </a:p>
        </p:txBody>
      </p:sp>
      <p:pic>
        <p:nvPicPr>
          <p:cNvPr id="12" name="Picture 15" descr="C:\Users\Zimam Computer\Desktop\téléchargement.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73219" y="188640"/>
            <a:ext cx="2007806" cy="2444284"/>
          </a:xfrm>
          <a:prstGeom prst="rect">
            <a:avLst/>
          </a:prstGeom>
          <a:noFill/>
          <a:ln w="12700">
            <a:solidFill>
              <a:srgbClr val="FF0000"/>
            </a:solidFill>
          </a:ln>
          <a:extLst>
            <a:ext uri="{909E8E84-426E-40DD-AFC4-6F175D3DCCD1}">
              <a14:hiddenFill xmlns:a14="http://schemas.microsoft.com/office/drawing/2010/main">
                <a:solidFill>
                  <a:srgbClr val="FFFFFF"/>
                </a:solidFill>
              </a14:hiddenFill>
            </a:ext>
          </a:extLst>
        </p:spPr>
      </p:pic>
      <p:pic>
        <p:nvPicPr>
          <p:cNvPr id="14" name="Picture 5" descr="Image associÃ©e"/>
          <p:cNvPicPr>
            <a:picLocks noChangeAspect="1" noChangeArrowheads="1"/>
          </p:cNvPicPr>
          <p:nvPr/>
        </p:nvPicPr>
        <p:blipFill rotWithShape="1">
          <a:blip r:embed="rId5">
            <a:extLst>
              <a:ext uri="{28A0092B-C50C-407E-A947-70E740481C1C}">
                <a14:useLocalDpi xmlns:a14="http://schemas.microsoft.com/office/drawing/2010/main" val="0"/>
              </a:ext>
            </a:extLst>
          </a:blip>
          <a:srcRect l="13459" t="17897" r="44134" b="38944"/>
          <a:stretch/>
        </p:blipFill>
        <p:spPr bwMode="auto">
          <a:xfrm>
            <a:off x="190453" y="2632924"/>
            <a:ext cx="3890571" cy="2668284"/>
          </a:xfrm>
          <a:prstGeom prst="rect">
            <a:avLst/>
          </a:prstGeom>
          <a:noFill/>
          <a:ln w="12700">
            <a:solidFill>
              <a:srgbClr val="FF0000"/>
            </a:solidFill>
          </a:ln>
          <a:extLst>
            <a:ext uri="{909E8E84-426E-40DD-AFC4-6F175D3DCCD1}">
              <a14:hiddenFill xmlns:a14="http://schemas.microsoft.com/office/drawing/2010/main">
                <a:solidFill>
                  <a:srgbClr val="FFFFFF"/>
                </a:solidFill>
              </a14:hiddenFill>
            </a:ext>
          </a:extLst>
        </p:spPr>
      </p:pic>
      <p:sp>
        <p:nvSpPr>
          <p:cNvPr id="3" name="ZoneTexte 23"/>
          <p:cNvSpPr txBox="1">
            <a:spLocks noChangeArrowheads="1"/>
          </p:cNvSpPr>
          <p:nvPr/>
        </p:nvSpPr>
        <p:spPr bwMode="auto">
          <a:xfrm>
            <a:off x="4283968" y="5446965"/>
            <a:ext cx="4521670" cy="781800"/>
          </a:xfrm>
          <a:prstGeom prst="rect">
            <a:avLst/>
          </a:prstGeom>
          <a:solidFill>
            <a:srgbClr val="FFFF00"/>
          </a:solidFill>
          <a:ln w="12700" algn="ctr">
            <a:solidFill>
              <a:srgbClr val="950700"/>
            </a:solidFill>
            <a:miter lim="800000"/>
            <a:headEnd/>
            <a:tailEnd/>
          </a:ln>
          <a:effectLst>
            <a:outerShdw dist="28398" dir="3806097" algn="ctr" rotWithShape="0">
              <a:srgbClr val="450600">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a:ln>
                  <a:noFill/>
                </a:ln>
                <a:solidFill>
                  <a:srgbClr val="000000"/>
                </a:solidFill>
                <a:effectLst/>
                <a:latin typeface="Arial" panose="020B0604020202020204" pitchFamily="34" charset="0"/>
                <a:cs typeface="Arial" panose="020B0604020202020204" pitchFamily="34" charset="0"/>
              </a:rPr>
              <a:t>مظهر الجدار الداخلي للمعي الدقيق الوثيقة(1)</a:t>
            </a:r>
            <a:endParaRPr kumimoji="0" lang="fr-FR" sz="2400" b="0" i="0" u="none" strike="noStrike" cap="none" normalizeH="0" baseline="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a:ln>
                <a:noFill/>
              </a:ln>
              <a:solidFill>
                <a:schemeClr val="tx1"/>
              </a:solidFill>
              <a:effectLst/>
              <a:latin typeface="Arial" panose="020B0604020202020204" pitchFamily="34" charset="0"/>
            </a:endParaRPr>
          </a:p>
        </p:txBody>
      </p:sp>
      <p:sp>
        <p:nvSpPr>
          <p:cNvPr id="4" name="ZoneTexte 23"/>
          <p:cNvSpPr txBox="1">
            <a:spLocks noChangeArrowheads="1"/>
          </p:cNvSpPr>
          <p:nvPr/>
        </p:nvSpPr>
        <p:spPr bwMode="auto">
          <a:xfrm>
            <a:off x="250844" y="5446965"/>
            <a:ext cx="3837989" cy="830997"/>
          </a:xfrm>
          <a:prstGeom prst="rect">
            <a:avLst/>
          </a:prstGeom>
          <a:solidFill>
            <a:srgbClr val="FFFF00"/>
          </a:solidFill>
          <a:ln w="12700" algn="ctr">
            <a:solidFill>
              <a:srgbClr val="950700"/>
            </a:solidFill>
            <a:miter lim="800000"/>
            <a:headEnd/>
            <a:tailEnd/>
          </a:ln>
          <a:effectLst>
            <a:outerShdw dist="28398" dir="3806097" algn="ctr" rotWithShape="0">
              <a:srgbClr val="450600">
                <a:alpha val="50000"/>
              </a:srgbClr>
            </a:outerShdw>
          </a:effectLst>
        </p:spPr>
        <p:txBody>
          <a:bodyPr vert="horz" wrap="square" lIns="91440" tIns="45720" rIns="91440" bIns="45720" numCol="1" anchor="t" anchorCtr="0" compatLnSpc="1">
            <a:prstTxWarp prst="textNoShape">
              <a:avLst/>
            </a:prstTxWarp>
            <a:spAutoFit/>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بنية الجدار الداخلي للمعي الدقيق عند شخص سليم                الوثيقة(2)</a:t>
            </a:r>
            <a:endParaRPr kumimoji="0" lang="fr-FR" sz="2400" b="0" i="0" u="none" strike="noStrike" cap="none" normalizeH="0" baseline="0" dirty="0">
              <a:ln>
                <a:noFill/>
              </a:ln>
              <a:solidFill>
                <a:schemeClr val="tx1"/>
              </a:solidFill>
              <a:effectLst/>
              <a:latin typeface="Arial" panose="020B0604020202020204" pitchFamily="34" charset="0"/>
            </a:endParaRPr>
          </a:p>
        </p:txBody>
      </p:sp>
      <p:pic>
        <p:nvPicPr>
          <p:cNvPr id="15" name="Picture 6" descr="لا يتوفر وصف للصورة."/>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263" y="188640"/>
            <a:ext cx="1874955" cy="2444284"/>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47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arn(inVertical)">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arn(inVertical)">
                                      <p:cBhvr>
                                        <p:cTn id="4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animBg="1"/>
      <p:bldP spid="3" grpId="0" animBg="1"/>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8" descr="يتميز الجدار الداخلي للمعي... - متوسطة بوفنارة الصغير SNV4 | Facebook"/>
          <p:cNvPicPr>
            <a:picLocks noChangeAspect="1" noChangeArrowheads="1"/>
          </p:cNvPicPr>
          <p:nvPr/>
        </p:nvPicPr>
        <p:blipFill rotWithShape="1">
          <a:blip r:embed="rId2">
            <a:extLst>
              <a:ext uri="{28A0092B-C50C-407E-A947-70E740481C1C}">
                <a14:useLocalDpi xmlns:a14="http://schemas.microsoft.com/office/drawing/2010/main" val="0"/>
              </a:ext>
            </a:extLst>
          </a:blip>
          <a:srcRect l="3000" t="3779" r="4001" b="5501"/>
          <a:stretch/>
        </p:blipFill>
        <p:spPr bwMode="auto">
          <a:xfrm>
            <a:off x="0" y="0"/>
            <a:ext cx="9144000" cy="6858000"/>
          </a:xfrm>
          <a:prstGeom prst="rect">
            <a:avLst/>
          </a:prstGeom>
          <a:noFill/>
          <a:ln>
            <a:solidFill>
              <a:srgbClr val="6699FF"/>
            </a:solidFill>
          </a:ln>
          <a:extLst>
            <a:ext uri="{909E8E84-426E-40DD-AFC4-6F175D3DCCD1}">
              <a14:hiddenFill xmlns:a14="http://schemas.microsoft.com/office/drawing/2010/main">
                <a:solidFill>
                  <a:srgbClr val="FFFFFF"/>
                </a:solidFill>
              </a14:hiddenFill>
            </a:ext>
          </a:extLst>
        </p:spPr>
      </p:pic>
      <p:pic>
        <p:nvPicPr>
          <p:cNvPr id="15" name="Image 14"/>
          <p:cNvPicPr/>
          <p:nvPr/>
        </p:nvPicPr>
        <p:blipFill rotWithShape="1">
          <a:blip r:embed="rId3">
            <a:extLst>
              <a:ext uri="{28A0092B-C50C-407E-A947-70E740481C1C}">
                <a14:useLocalDpi xmlns:a14="http://schemas.microsoft.com/office/drawing/2010/main" val="0"/>
              </a:ext>
            </a:extLst>
          </a:blip>
          <a:srcRect l="26084" t="25239" r="37974" b="42386"/>
          <a:stretch/>
        </p:blipFill>
        <p:spPr bwMode="auto">
          <a:xfrm>
            <a:off x="155576" y="116630"/>
            <a:ext cx="5912840" cy="5355978"/>
          </a:xfrm>
          <a:prstGeom prst="rect">
            <a:avLst/>
          </a:prstGeom>
          <a:ln>
            <a:solidFill>
              <a:srgbClr val="FF0000"/>
            </a:solidFill>
          </a:ln>
          <a:extLst>
            <a:ext uri="{53640926-AAD7-44D8-BBD7-CCE9431645EC}">
              <a14:shadowObscured xmlns:a14="http://schemas.microsoft.com/office/drawing/2010/main"/>
            </a:ext>
          </a:extLst>
        </p:spPr>
      </p:pic>
      <p:sp>
        <p:nvSpPr>
          <p:cNvPr id="2" name="ZoneTexte 23"/>
          <p:cNvSpPr txBox="1">
            <a:spLocks noChangeArrowheads="1"/>
          </p:cNvSpPr>
          <p:nvPr/>
        </p:nvSpPr>
        <p:spPr bwMode="auto">
          <a:xfrm>
            <a:off x="1115616" y="5733256"/>
            <a:ext cx="7369254" cy="864096"/>
          </a:xfrm>
          <a:prstGeom prst="rect">
            <a:avLst/>
          </a:prstGeom>
          <a:solidFill>
            <a:srgbClr val="FFFF00"/>
          </a:solidFill>
          <a:ln w="12700" algn="ctr">
            <a:solidFill>
              <a:srgbClr val="950700"/>
            </a:solidFill>
            <a:miter lim="800000"/>
            <a:headEnd/>
            <a:tailEnd/>
          </a:ln>
          <a:effectLst>
            <a:outerShdw dist="28398" dir="3806097" algn="ctr" rotWithShape="0">
              <a:srgbClr val="450600">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مظهر الزغابة المعوية وبنيتها</a:t>
            </a:r>
          </a:p>
          <a:p>
            <a:pPr marL="0" marR="0" lvl="0" indent="0" algn="ct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الوثيقة(3)</a:t>
            </a:r>
            <a:endParaRPr kumimoji="0" lang="fr-FR" sz="2400" b="0" i="0" u="none" strike="noStrike" cap="none" normalizeH="0" baseline="0" dirty="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dirty="0">
              <a:ln>
                <a:noFill/>
              </a:ln>
              <a:solidFill>
                <a:schemeClr val="tx1"/>
              </a:solidFill>
              <a:effectLst/>
              <a:latin typeface="Arial" panose="020B0604020202020204" pitchFamily="34" charset="0"/>
            </a:endParaRPr>
          </a:p>
        </p:txBody>
      </p:sp>
      <p:sp>
        <p:nvSpPr>
          <p:cNvPr id="3" name="AutoShape 4" descr="امتصاص معوي"/>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9" name="Picture 4" descr="لا يتوفر وصف للصورة."/>
          <p:cNvPicPr>
            <a:picLocks noChangeAspect="1" noChangeArrowheads="1"/>
          </p:cNvPicPr>
          <p:nvPr/>
        </p:nvPicPr>
        <p:blipFill rotWithShape="1">
          <a:blip r:embed="rId4">
            <a:extLst>
              <a:ext uri="{28A0092B-C50C-407E-A947-70E740481C1C}">
                <a14:useLocalDpi xmlns:a14="http://schemas.microsoft.com/office/drawing/2010/main" val="0"/>
              </a:ext>
            </a:extLst>
          </a:blip>
          <a:srcRect b="3910"/>
          <a:stretch/>
        </p:blipFill>
        <p:spPr bwMode="auto">
          <a:xfrm>
            <a:off x="6157428" y="116630"/>
            <a:ext cx="2897560" cy="5355978"/>
          </a:xfrm>
          <a:prstGeom prst="rect">
            <a:avLst/>
          </a:prstGeom>
          <a:noFill/>
          <a:ln>
            <a:solidFill>
              <a:srgbClr val="FF0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547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Celiac disease - Images | BMJ Best Practice U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937"/>
            <a:ext cx="9144000" cy="6850063"/>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10" descr="RÃ©sultat de recherche d'images pour &quot;â«Ø®ØµØ§Ø¦Øµ Ø§ÙØ¬Ø¯Ø§Ø± Ø§ÙØ¯Ø§Ø®ÙÙ ÙÙÙØ¹Ù Ø§ÙØ¯ÙÙÙâ¬â&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5" name="AutoShape 14" descr="RÃ©sultat de recherche d'images pour &quot;â«ÙÙØ·Ø¹ Ø¹Ø±Ø¶Ù ÙÙ Ø§ÙÙØ¹Ù Ø§ÙØ¯ÙÙÙâ¬â&quo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9" name="Image 8" descr="abane-ramdane"/>
          <p:cNvPicPr/>
          <p:nvPr/>
        </p:nvPicPr>
        <p:blipFill rotWithShape="1">
          <a:blip r:embed="rId3">
            <a:extLst>
              <a:ext uri="{28A0092B-C50C-407E-A947-70E740481C1C}">
                <a14:useLocalDpi xmlns:a14="http://schemas.microsoft.com/office/drawing/2010/main" val="0"/>
              </a:ext>
            </a:extLst>
          </a:blip>
          <a:srcRect l="28194" r="5727" b="5532"/>
          <a:stretch/>
        </p:blipFill>
        <p:spPr bwMode="auto">
          <a:xfrm>
            <a:off x="4131135" y="160337"/>
            <a:ext cx="4905361" cy="5688632"/>
          </a:xfrm>
          <a:prstGeom prst="rect">
            <a:avLst/>
          </a:prstGeom>
          <a:noFill/>
          <a:ln w="9525" cap="flat" cmpd="sng" algn="ctr">
            <a:solidFill>
              <a:srgbClr val="FF0000"/>
            </a:solidFill>
            <a:prstDash val="solid"/>
            <a:round/>
            <a:headEnd type="none" w="med" len="med"/>
            <a:tailEnd type="none" w="med" len="med"/>
          </a:ln>
          <a:extLst>
            <a:ext uri="{53640926-AAD7-44D8-BBD7-CCE9431645EC}">
              <a14:shadowObscured xmlns:a14="http://schemas.microsoft.com/office/drawing/2010/main"/>
            </a:ext>
          </a:extLst>
        </p:spPr>
      </p:pic>
      <p:sp>
        <p:nvSpPr>
          <p:cNvPr id="2" name="ZoneTexte 23"/>
          <p:cNvSpPr txBox="1">
            <a:spLocks noChangeArrowheads="1"/>
          </p:cNvSpPr>
          <p:nvPr/>
        </p:nvSpPr>
        <p:spPr bwMode="auto">
          <a:xfrm>
            <a:off x="155844" y="160337"/>
            <a:ext cx="3823160" cy="5688632"/>
          </a:xfrm>
          <a:prstGeom prst="rect">
            <a:avLst/>
          </a:prstGeom>
          <a:solidFill>
            <a:srgbClr val="FFFF00"/>
          </a:solidFill>
          <a:ln w="12700" algn="ctr">
            <a:solidFill>
              <a:srgbClr val="F4B083"/>
            </a:solidFill>
            <a:miter lim="800000"/>
            <a:headEnd/>
            <a:tailEnd/>
          </a:ln>
          <a:effectLst>
            <a:outerShdw dist="28398" dir="3806097" algn="ctr" rotWithShape="0">
              <a:srgbClr val="823B0B">
                <a:alpha val="50000"/>
              </a:srgbClr>
            </a:outerShdw>
          </a:effectLst>
        </p:spPr>
        <p:txBody>
          <a:bodyPr vert="horz" wrap="square" lIns="91440" tIns="45720" rIns="91440" bIns="45720" numCol="1" anchor="t" anchorCtr="0" compatLnSpc="1">
            <a:prstTxWarp prst="textNoShape">
              <a:avLst/>
            </a:prstTxWarp>
          </a:bodyPr>
          <a:lstStyle/>
          <a:p>
            <a:pPr marL="0" marR="0" lvl="0" indent="0" algn="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الزغابات المعوية نتوءات مجهرية اصبعية الشكل تعد بالملايين تنتشر في بطانة الأمعاء الدقيقة يتراوح طول الواحدة منها 0.5الى 1.5ملم تلعب دورا هاما في عملية امتصاص المغذيات بفضل طبقة الخلايا الظهارية (الخلايا المعوية) وهي صف واحد من الخلايا التي تغطي غشاءها تحول البعض منها الى خلايا مخاطية يليها للداخل نسيج ضام يتواجد على مستواه وريد وشريان يتفرع عنهما شعيرات دموية الزغابة المعوية وبتوسطهما وعاء بلغمي (لمفاوي) </a:t>
            </a:r>
          </a:p>
          <a:p>
            <a:pPr marL="0" marR="0" lvl="0" indent="0" algn="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الوثيقة المرافقة</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dirty="0">
              <a:ln>
                <a:noFill/>
              </a:ln>
              <a:solidFill>
                <a:schemeClr val="tx1"/>
              </a:solidFill>
              <a:effectLst/>
              <a:latin typeface="Arial" panose="020B0604020202020204" pitchFamily="34" charset="0"/>
            </a:endParaRPr>
          </a:p>
        </p:txBody>
      </p:sp>
      <p:sp>
        <p:nvSpPr>
          <p:cNvPr id="3" name="ZoneTexte 23"/>
          <p:cNvSpPr txBox="1">
            <a:spLocks noChangeArrowheads="1"/>
          </p:cNvSpPr>
          <p:nvPr/>
        </p:nvSpPr>
        <p:spPr bwMode="auto">
          <a:xfrm>
            <a:off x="5436096" y="5949280"/>
            <a:ext cx="1813867" cy="504056"/>
          </a:xfrm>
          <a:prstGeom prst="rect">
            <a:avLst/>
          </a:prstGeom>
          <a:solidFill>
            <a:srgbClr val="FFC000"/>
          </a:solidFill>
          <a:ln w="12700" algn="ctr">
            <a:solidFill>
              <a:srgbClr val="950700"/>
            </a:solidFill>
            <a:miter lim="800000"/>
            <a:headEnd/>
            <a:tailEnd/>
          </a:ln>
          <a:effectLst>
            <a:outerShdw dist="28398" dir="3806097" algn="ctr" rotWithShape="0">
              <a:srgbClr val="450600">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a:ln>
                  <a:noFill/>
                </a:ln>
                <a:solidFill>
                  <a:srgbClr val="000000"/>
                </a:solidFill>
                <a:effectLst/>
                <a:latin typeface="Arial" panose="020B0604020202020204" pitchFamily="34" charset="0"/>
                <a:cs typeface="Arial" panose="020B0604020202020204" pitchFamily="34" charset="0"/>
              </a:rPr>
              <a:t>الوثيقة(4)</a:t>
            </a:r>
            <a:endParaRPr kumimoji="0" lang="fr-FR" sz="2400" b="0" i="0" u="none" strike="noStrike" cap="none" normalizeH="0" baseline="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8803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arn(inVertical)">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RÃ©sultat de recherche d'images pour &quot;â«Ø§ÙØ¬Ø²Ø§Ø¦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0" y="6871"/>
            <a:ext cx="9115450" cy="6858001"/>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4" descr="RÃ©sultat de recherche d'images pour &quot;â«Ø±Ø³Ù ØªØ®Ø·ÙØ·Ù ÙÙØ³Ø§Ø± ÙÙØµÙØ± Ø§ÙØ§ØºØ°ÙØ© ÙÙ Ø§ÙØ§ÙØ¨ÙØ¨ Ø§ÙÙØ¶ÙÙâ¬â&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5" name="Rectangle 4"/>
          <p:cNvSpPr/>
          <p:nvPr/>
        </p:nvSpPr>
        <p:spPr>
          <a:xfrm>
            <a:off x="155575" y="2132856"/>
            <a:ext cx="8694612" cy="440120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r" rtl="1"/>
            <a:r>
              <a:rPr lang="ar-DZ" sz="2800" b="1" dirty="0">
                <a:solidFill>
                  <a:srgbClr val="FF0000"/>
                </a:solidFill>
              </a:rPr>
              <a:t>ج2-</a:t>
            </a:r>
            <a:r>
              <a:rPr lang="ar-DZ" sz="2800" b="1" dirty="0"/>
              <a:t>نميز في المعي الدقيق طبقة عضلية خارجية وطبقة داخلية ملساء (مخاطية) وتتميز الطبقة الداخلية بمميزات لها علاقة بعملية امتصاص المغذيات وهي كمايلي:</a:t>
            </a:r>
            <a:endParaRPr lang="fr-FR" sz="2800" dirty="0"/>
          </a:p>
          <a:p>
            <a:pPr algn="r" rtl="1"/>
            <a:r>
              <a:rPr lang="ar-DZ" sz="2800" b="1" dirty="0"/>
              <a:t>*وجود انثناءات (تعرجات) على مستوى جداره الداخلي الهدف منها استيعاب كمية عالية من المغذيات</a:t>
            </a:r>
            <a:endParaRPr lang="fr-FR" sz="2800" dirty="0"/>
          </a:p>
          <a:p>
            <a:pPr algn="r" rtl="1"/>
            <a:r>
              <a:rPr lang="ar-DZ" sz="2800" b="1" dirty="0"/>
              <a:t>*رقة الجدار الداخلي لتسهيل عبور المغذيات</a:t>
            </a:r>
            <a:endParaRPr lang="fr-FR" sz="2800" dirty="0"/>
          </a:p>
          <a:p>
            <a:pPr algn="r" rtl="1"/>
            <a:r>
              <a:rPr lang="ar-DZ" sz="2800" b="1" dirty="0"/>
              <a:t>*غزارة الشعيرات الدموية لنقل أكبر نسبة من المغذيات</a:t>
            </a:r>
            <a:endParaRPr lang="fr-FR" sz="2800" dirty="0"/>
          </a:p>
          <a:p>
            <a:pPr algn="r" rtl="1"/>
            <a:r>
              <a:rPr lang="ar-DZ" sz="2800" b="1" dirty="0"/>
              <a:t>* وجود عدد كبير من الزغابات المعوية والتي تتميز برقة جدارها وغناها بالشعيرات الدموية واللمفاوية والذي يجعل من هذه البنية </a:t>
            </a:r>
            <a:r>
              <a:rPr lang="ar-SA" sz="2800" b="1" dirty="0"/>
              <a:t>سطح تماس واسع بين بطانة المعي الدقيق والوسط الداخلي (الدم واللمف) </a:t>
            </a:r>
            <a:endParaRPr lang="fr-FR" sz="2800" dirty="0"/>
          </a:p>
        </p:txBody>
      </p:sp>
      <p:sp>
        <p:nvSpPr>
          <p:cNvPr id="6" name="Rectangle 5"/>
          <p:cNvSpPr/>
          <p:nvPr/>
        </p:nvSpPr>
        <p:spPr>
          <a:xfrm>
            <a:off x="104966" y="698569"/>
            <a:ext cx="8745221" cy="138499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gn="r" rtl="1"/>
            <a:r>
              <a:rPr lang="ar-DZ" sz="2800" b="1" dirty="0">
                <a:solidFill>
                  <a:srgbClr val="FF0000"/>
                </a:solidFill>
              </a:rPr>
              <a:t>ج1 -</a:t>
            </a:r>
            <a:r>
              <a:rPr lang="ar-DZ" sz="2800" b="1" dirty="0"/>
              <a:t>العضو المصاب عند ليلى هو المعي الدقيق (الجدار الداخلي)</a:t>
            </a:r>
            <a:endParaRPr lang="fr-FR" sz="2800" dirty="0"/>
          </a:p>
          <a:p>
            <a:pPr algn="r"/>
            <a:r>
              <a:rPr lang="ar-DZ" sz="2800" b="1" dirty="0"/>
              <a:t>*المقارنة: في الحالة العادية ينتشر به عددا كبيرا من الزوائد(الزغابات) بينما تنعدم هذه الزغابات عند ليلى </a:t>
            </a:r>
            <a:endParaRPr lang="ar-DZ" sz="2800" b="1" dirty="0">
              <a:solidFill>
                <a:schemeClr val="tx1"/>
              </a:solidFill>
            </a:endParaRPr>
          </a:p>
        </p:txBody>
      </p:sp>
      <p:sp>
        <p:nvSpPr>
          <p:cNvPr id="16" name="ZoneTexte 15"/>
          <p:cNvSpPr txBox="1"/>
          <p:nvPr/>
        </p:nvSpPr>
        <p:spPr>
          <a:xfrm>
            <a:off x="4139951" y="51128"/>
            <a:ext cx="1308113" cy="523220"/>
          </a:xfrm>
          <a:prstGeom prst="rect">
            <a:avLst/>
          </a:prstGeom>
          <a:solidFill>
            <a:srgbClr val="FF0000"/>
          </a:solidFill>
        </p:spPr>
        <p:style>
          <a:lnRef idx="1">
            <a:schemeClr val="accent6"/>
          </a:lnRef>
          <a:fillRef idx="2">
            <a:schemeClr val="accent6"/>
          </a:fillRef>
          <a:effectRef idx="1">
            <a:schemeClr val="accent6"/>
          </a:effectRef>
          <a:fontRef idx="minor">
            <a:schemeClr val="dk1"/>
          </a:fontRef>
        </p:style>
        <p:txBody>
          <a:bodyPr wrap="square" rtlCol="0">
            <a:spAutoFit/>
          </a:bodyPr>
          <a:lstStyle/>
          <a:p>
            <a:pPr algn="r" rtl="1"/>
            <a:r>
              <a:rPr lang="ar-DZ" sz="2800" b="1" dirty="0">
                <a:solidFill>
                  <a:schemeClr val="bg1"/>
                </a:solidFill>
              </a:rPr>
              <a:t>المناقشة</a:t>
            </a:r>
            <a:endParaRPr lang="fr-FR" sz="2800" b="1" dirty="0">
              <a:solidFill>
                <a:schemeClr val="bg1"/>
              </a:solidFill>
            </a:endParaRPr>
          </a:p>
        </p:txBody>
      </p:sp>
    </p:spTree>
    <p:extLst>
      <p:ext uri="{BB962C8B-B14F-4D97-AF65-F5344CB8AC3E}">
        <p14:creationId xmlns:p14="http://schemas.microsoft.com/office/powerpoint/2010/main" val="128713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5" descr="RÃ©sultat de recherche d'images pour &quot;â«Ø§ÙØ§Øª ÙØ±Ø§ÙÙØ© Ø¹Ù Ø§ÙØºØ°Ø§Ø¡ ÙØ§ÙØµØ­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156176" y="260648"/>
            <a:ext cx="2792752" cy="461665"/>
          </a:xfrm>
          <a:prstGeom prst="rect">
            <a:avLst/>
          </a:prstGeom>
        </p:spPr>
        <p:style>
          <a:lnRef idx="1">
            <a:schemeClr val="accent6"/>
          </a:lnRef>
          <a:fillRef idx="2">
            <a:schemeClr val="accent6"/>
          </a:fillRef>
          <a:effectRef idx="1">
            <a:schemeClr val="accent6"/>
          </a:effectRef>
          <a:fontRef idx="minor">
            <a:schemeClr val="dk1"/>
          </a:fontRef>
        </p:style>
        <p:txBody>
          <a:bodyPr wrap="none">
            <a:spAutoFit/>
          </a:bodyPr>
          <a:lstStyle/>
          <a:p>
            <a:pPr algn="r"/>
            <a:r>
              <a:rPr lang="ar-DZ" sz="2400" b="1" dirty="0">
                <a:solidFill>
                  <a:srgbClr val="FF0000"/>
                </a:solidFill>
                <a:latin typeface="Calibri" panose="020F0502020204030204" pitchFamily="34" charset="0"/>
                <a:ea typeface="Times New Roman" panose="02020603050405020304" pitchFamily="18" charset="0"/>
              </a:rPr>
              <a:t>ج3-</a:t>
            </a:r>
            <a:r>
              <a:rPr lang="ar-DZ" sz="2400" b="1" dirty="0">
                <a:latin typeface="Calibri" panose="020F0502020204030204" pitchFamily="34" charset="0"/>
                <a:ea typeface="Times New Roman" panose="02020603050405020304" pitchFamily="18" charset="0"/>
              </a:rPr>
              <a:t>إعادة الرسم وعنونته </a:t>
            </a:r>
            <a:endParaRPr lang="fr-FR" sz="2400" dirty="0"/>
          </a:p>
        </p:txBody>
      </p:sp>
      <p:pic>
        <p:nvPicPr>
          <p:cNvPr id="6" name="Image 5" descr="abane-ramdane"/>
          <p:cNvPicPr/>
          <p:nvPr/>
        </p:nvPicPr>
        <p:blipFill rotWithShape="1">
          <a:blip r:embed="rId3">
            <a:extLst>
              <a:ext uri="{28A0092B-C50C-407E-A947-70E740481C1C}">
                <a14:useLocalDpi xmlns:a14="http://schemas.microsoft.com/office/drawing/2010/main" val="0"/>
              </a:ext>
            </a:extLst>
          </a:blip>
          <a:srcRect l="-697" t="-1" r="-1649" b="5894"/>
          <a:stretch/>
        </p:blipFill>
        <p:spPr bwMode="auto">
          <a:xfrm>
            <a:off x="755576" y="980728"/>
            <a:ext cx="7200799" cy="5040560"/>
          </a:xfrm>
          <a:prstGeom prst="rect">
            <a:avLst/>
          </a:prstGeom>
          <a:noFill/>
          <a:ln w="9525" cap="flat" cmpd="sng" algn="ctr">
            <a:solidFill>
              <a:srgbClr val="FF0000"/>
            </a:solidFill>
            <a:prstDash val="solid"/>
            <a:round/>
            <a:headEnd type="none" w="med" len="med"/>
            <a:tailEnd type="none" w="med" len="med"/>
          </a:ln>
          <a:extLst>
            <a:ext uri="{53640926-AAD7-44D8-BBD7-CCE9431645EC}">
              <a14:shadowObscured xmlns:a14="http://schemas.microsoft.com/office/drawing/2010/main"/>
            </a:ext>
          </a:extLst>
        </p:spPr>
      </p:pic>
      <p:sp>
        <p:nvSpPr>
          <p:cNvPr id="3" name="ZoneTexte 23"/>
          <p:cNvSpPr txBox="1">
            <a:spLocks noChangeArrowheads="1"/>
          </p:cNvSpPr>
          <p:nvPr/>
        </p:nvSpPr>
        <p:spPr bwMode="auto">
          <a:xfrm>
            <a:off x="1691680" y="6238760"/>
            <a:ext cx="6048672" cy="502608"/>
          </a:xfrm>
          <a:prstGeom prst="rect">
            <a:avLst/>
          </a:prstGeom>
          <a:solidFill>
            <a:srgbClr val="FFFF00"/>
          </a:solidFill>
          <a:ln w="12700" algn="ctr">
            <a:solidFill>
              <a:srgbClr val="F4B083"/>
            </a:solidFill>
            <a:miter lim="800000"/>
            <a:headEnd/>
            <a:tailEnd/>
          </a:ln>
          <a:effectLst>
            <a:outerShdw dist="28398" dir="3806097" algn="ctr" rotWithShape="0">
              <a:srgbClr val="823B0B">
                <a:alpha val="50000"/>
              </a:srgbClr>
            </a:outerShdw>
          </a:effectLst>
        </p:spPr>
        <p:txBody>
          <a:bodyPr vert="horz" wrap="square" lIns="91440" tIns="45720" rIns="91440" bIns="45720" numCol="1" anchor="t" anchorCtr="0" compatLnSpc="1">
            <a:prstTxWarp prst="textNoShape">
              <a:avLst/>
            </a:prstTxWarp>
          </a:body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DZ" sz="2400" b="1" i="0" u="none" strike="noStrike" cap="none" normalizeH="0" baseline="0">
                <a:ln>
                  <a:noFill/>
                </a:ln>
                <a:solidFill>
                  <a:srgbClr val="000000"/>
                </a:solidFill>
                <a:effectLst/>
                <a:latin typeface="Arial" panose="020B0604020202020204" pitchFamily="34" charset="0"/>
                <a:cs typeface="Arial" panose="020B0604020202020204" pitchFamily="34" charset="0"/>
              </a:rPr>
              <a:t>رسم تخطيطي مكبر يوضح بنية الزغابة المعوية</a:t>
            </a:r>
            <a:endParaRPr kumimoji="0" lang="fr-FR" sz="2400" b="0" i="0" u="none" strike="noStrike" cap="none" normalizeH="0" baseline="0">
              <a:ln>
                <a:noFill/>
              </a:ln>
              <a:solidFill>
                <a:schemeClr val="tx1"/>
              </a:solidFill>
              <a:effectLst/>
              <a:latin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20567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descr="Image associÃ©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12" descr="RÃ©sultat de recherche d'images pour &quot;â«Ø¨ÙÙØ© Ø§ÙØ²ØºØ§Ø¨Ø© Ø§ÙÙØ¹ÙÙØ©â¬â&quo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0" name="AutoShape 14" descr="RÃ©sultat de recherche d'images pour &quot;â«Ø¨ÙÙØ© Ø§ÙØ²ØºØ§Ø¨Ø© Ø§ÙÙØ¹ÙÙØ©â¬â&quo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11" name="AutoShape 16" descr="RÃ©sultat de recherche d'images pour &quot;â«Ø¨ÙÙØ© Ø§ÙØ²ØºØ§Ø¨Ø© Ø§ÙÙØ¹ÙÙØ©â¬â&quo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2" name="Rectangle 1"/>
          <p:cNvSpPr/>
          <p:nvPr/>
        </p:nvSpPr>
        <p:spPr>
          <a:xfrm>
            <a:off x="155575" y="440612"/>
            <a:ext cx="8692009" cy="2536207"/>
          </a:xfrm>
          <a:prstGeom prst="rect">
            <a:avLst/>
          </a:prstGeom>
          <a:solidFill>
            <a:schemeClr val="accent1">
              <a:lumMod val="20000"/>
              <a:lumOff val="80000"/>
            </a:schemeClr>
          </a:solidFill>
        </p:spPr>
        <p:txBody>
          <a:bodyPr wrap="square">
            <a:spAutoFit/>
          </a:bodyPr>
          <a:lstStyle/>
          <a:p>
            <a:pPr algn="r" rtl="1">
              <a:lnSpc>
                <a:spcPct val="107000"/>
              </a:lnSpc>
              <a:spcAft>
                <a:spcPts val="800"/>
              </a:spcAft>
            </a:pPr>
            <a:r>
              <a:rPr lang="ar-DZ" sz="3600" b="1" dirty="0">
                <a:solidFill>
                  <a:srgbClr val="FF0000"/>
                </a:solidFill>
                <a:latin typeface="Calibri" panose="020F0502020204030204" pitchFamily="34" charset="0"/>
                <a:ea typeface="Times New Roman" panose="02020603050405020304" pitchFamily="18" charset="0"/>
              </a:rPr>
              <a:t>ج4-</a:t>
            </a:r>
            <a:r>
              <a:rPr lang="ar-DZ" sz="3600" b="1" dirty="0">
                <a:solidFill>
                  <a:srgbClr val="000000"/>
                </a:solidFill>
                <a:latin typeface="Calibri" panose="020F0502020204030204" pitchFamily="34" charset="0"/>
                <a:ea typeface="Times New Roman" panose="02020603050405020304" pitchFamily="18" charset="0"/>
              </a:rPr>
              <a:t>امثلة أخرى عن أسطح تبادل بين الوسط الداخلي (الدم واللمف) والوسط الخارجي للعضوية </a:t>
            </a:r>
            <a:endParaRPr lang="fr-FR" sz="3600" dirty="0">
              <a:latin typeface="Calibri" panose="020F0502020204030204" pitchFamily="34" charset="0"/>
              <a:ea typeface="Times New Roman" panose="02020603050405020304" pitchFamily="18" charset="0"/>
              <a:cs typeface="Arial" panose="020B0604020202020204" pitchFamily="34" charset="0"/>
            </a:endParaRPr>
          </a:p>
          <a:p>
            <a:pPr algn="r" rtl="1">
              <a:lnSpc>
                <a:spcPct val="107000"/>
              </a:lnSpc>
              <a:spcAft>
                <a:spcPts val="800"/>
              </a:spcAft>
            </a:pPr>
            <a:r>
              <a:rPr lang="ar-DZ" sz="3600" b="1" dirty="0">
                <a:solidFill>
                  <a:srgbClr val="0070C0"/>
                </a:solidFill>
                <a:latin typeface="Calibri" panose="020F0502020204030204" pitchFamily="34" charset="0"/>
                <a:ea typeface="Times New Roman" panose="02020603050405020304" pitchFamily="18" charset="0"/>
              </a:rPr>
              <a:t>الاسناخ الرئوية الموجودة بالرئتين </a:t>
            </a:r>
            <a:r>
              <a:rPr lang="ar-DZ" sz="3600" b="1" dirty="0">
                <a:solidFill>
                  <a:srgbClr val="000000"/>
                </a:solidFill>
                <a:latin typeface="Calibri" panose="020F0502020204030204" pitchFamily="34" charset="0"/>
                <a:ea typeface="Times New Roman" panose="02020603050405020304" pitchFamily="18" charset="0"/>
              </a:rPr>
              <a:t>التي تعتبر سطح تبادل بين الدم والرئتين</a:t>
            </a:r>
            <a:endParaRPr lang="fr-FR" sz="3600" dirty="0">
              <a:latin typeface="Calibri" panose="020F0502020204030204" pitchFamily="34" charset="0"/>
              <a:ea typeface="Times New Roman" panose="02020603050405020304" pitchFamily="18" charset="0"/>
              <a:cs typeface="Arial" panose="020B0604020202020204" pitchFamily="34" charset="0"/>
            </a:endParaRPr>
          </a:p>
        </p:txBody>
      </p:sp>
      <p:sp>
        <p:nvSpPr>
          <p:cNvPr id="3" name="Rectangle 2"/>
          <p:cNvSpPr/>
          <p:nvPr/>
        </p:nvSpPr>
        <p:spPr>
          <a:xfrm>
            <a:off x="155575" y="3717032"/>
            <a:ext cx="8659640" cy="1840825"/>
          </a:xfrm>
          <a:prstGeom prst="rect">
            <a:avLst/>
          </a:prstGeom>
          <a:solidFill>
            <a:schemeClr val="accent3">
              <a:lumMod val="20000"/>
              <a:lumOff val="80000"/>
            </a:schemeClr>
          </a:solidFill>
        </p:spPr>
        <p:txBody>
          <a:bodyPr wrap="square">
            <a:spAutoFit/>
          </a:bodyPr>
          <a:lstStyle/>
          <a:p>
            <a:pPr algn="r" rtl="1">
              <a:lnSpc>
                <a:spcPct val="107000"/>
              </a:lnSpc>
              <a:spcAft>
                <a:spcPts val="800"/>
              </a:spcAft>
            </a:pPr>
            <a:r>
              <a:rPr lang="ar-DZ" sz="3600" b="1" dirty="0">
                <a:solidFill>
                  <a:srgbClr val="FF0000"/>
                </a:solidFill>
                <a:latin typeface="Calibri" panose="020F0502020204030204" pitchFamily="34" charset="0"/>
                <a:ea typeface="Times New Roman" panose="02020603050405020304" pitchFamily="18" charset="0"/>
              </a:rPr>
              <a:t>ج5-اقتراح تعريف الامتصاص المعوي</a:t>
            </a:r>
            <a:r>
              <a:rPr lang="ar-DZ" sz="3600" b="1" dirty="0">
                <a:latin typeface="Calibri" panose="020F0502020204030204" pitchFamily="34" charset="0"/>
                <a:ea typeface="Times New Roman" panose="02020603050405020304" pitchFamily="18" charset="0"/>
              </a:rPr>
              <a:t>: هو انتقال المغذيات من الوسط الخارجي (تجويف المعي الدقيق) الى الوسط الداخلي (الدم واللمف) عبر الزغابات المعوية</a:t>
            </a:r>
            <a:endParaRPr lang="fr-FR" sz="3600" dirty="0">
              <a:latin typeface="Calibri" panose="020F050202020403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966049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9" name="Picture 3" descr="RÃ©sultat de recherche d'images pour &quot;â«Ø§ÙØ¬Ø²Ø§Ø¦Ø±â¬â&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0" y="6871"/>
            <a:ext cx="9115450" cy="68580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85775" y="5007802"/>
            <a:ext cx="8928992" cy="1815882"/>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algn="r" rtl="1"/>
            <a:r>
              <a:rPr lang="ar-DZ" sz="2700" b="1" dirty="0">
                <a:solidFill>
                  <a:srgbClr val="FF0000"/>
                </a:solidFill>
              </a:rPr>
              <a:t>3- </a:t>
            </a:r>
            <a:r>
              <a:rPr lang="ar-SA" sz="2700" b="1" u="sng" dirty="0">
                <a:solidFill>
                  <a:srgbClr val="FF0000"/>
                </a:solidFill>
              </a:rPr>
              <a:t>مفهوم الامتصاص المعوي</a:t>
            </a:r>
            <a:r>
              <a:rPr lang="ar-SA" sz="2700" b="1" dirty="0">
                <a:solidFill>
                  <a:srgbClr val="FF0000"/>
                </a:solidFill>
              </a:rPr>
              <a:t> </a:t>
            </a:r>
            <a:r>
              <a:rPr lang="fr-FR" sz="2700" b="1" dirty="0"/>
              <a:t>: </a:t>
            </a:r>
            <a:endParaRPr lang="ar-DZ" sz="2700" b="1" dirty="0"/>
          </a:p>
          <a:p>
            <a:pPr algn="r" rtl="1"/>
            <a:r>
              <a:rPr lang="ar-SA" sz="2700" b="1" dirty="0"/>
              <a:t>هو</a:t>
            </a:r>
            <a:r>
              <a:rPr lang="ar-DZ" sz="2700" b="1" dirty="0"/>
              <a:t>مرور(انتقال) </a:t>
            </a:r>
            <a:r>
              <a:rPr lang="ar-SA" sz="2700" b="1" dirty="0"/>
              <a:t>المغذيات من </a:t>
            </a:r>
            <a:r>
              <a:rPr lang="ar-DZ" sz="2700" b="1" dirty="0"/>
              <a:t>تجويف </a:t>
            </a:r>
            <a:r>
              <a:rPr lang="ar-SA" sz="2700" b="1" dirty="0"/>
              <a:t>ال</a:t>
            </a:r>
            <a:r>
              <a:rPr lang="ar-DZ" sz="2700" b="1" dirty="0"/>
              <a:t>امعاء</a:t>
            </a:r>
            <a:r>
              <a:rPr lang="ar-SA" sz="2700" b="1" dirty="0"/>
              <a:t> الدقيق</a:t>
            </a:r>
            <a:r>
              <a:rPr lang="ar-DZ" sz="2700" b="1" dirty="0"/>
              <a:t>ة </a:t>
            </a:r>
            <a:r>
              <a:rPr lang="ar-SA" sz="2700" b="1" dirty="0"/>
              <a:t>(الوسط الخارجي)</a:t>
            </a:r>
            <a:r>
              <a:rPr lang="ar-DZ" sz="2700" b="1" dirty="0"/>
              <a:t> عبرالزغابات</a:t>
            </a:r>
            <a:r>
              <a:rPr lang="ar-SA" sz="2700" b="1" dirty="0"/>
              <a:t> المعوية</a:t>
            </a:r>
            <a:r>
              <a:rPr lang="ar-DZ" sz="2700" b="1" dirty="0"/>
              <a:t> الى الوسط الداخلي (الدم واللمف) الذي ينقلها الى كافة انحاء الجسم</a:t>
            </a:r>
            <a:endParaRPr lang="fr-FR" sz="2700" dirty="0"/>
          </a:p>
        </p:txBody>
      </p:sp>
      <p:sp>
        <p:nvSpPr>
          <p:cNvPr id="8" name="Rectangle 7"/>
          <p:cNvSpPr/>
          <p:nvPr/>
        </p:nvSpPr>
        <p:spPr>
          <a:xfrm>
            <a:off x="85775" y="2655205"/>
            <a:ext cx="8928992" cy="2246769"/>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r" rtl="1"/>
            <a:r>
              <a:rPr lang="ar-DZ" sz="2700" b="1" dirty="0">
                <a:solidFill>
                  <a:srgbClr val="FF0000"/>
                </a:solidFill>
              </a:rPr>
              <a:t>2- </a:t>
            </a:r>
            <a:r>
              <a:rPr lang="ar-SA" sz="2700" b="1" u="sng" dirty="0">
                <a:solidFill>
                  <a:srgbClr val="FF0000"/>
                </a:solidFill>
              </a:rPr>
              <a:t>مقر امتصاص المغذيات</a:t>
            </a:r>
            <a:r>
              <a:rPr lang="fr-FR" sz="2700" b="1" dirty="0">
                <a:solidFill>
                  <a:srgbClr val="FF0000"/>
                </a:solidFill>
              </a:rPr>
              <a:t> :</a:t>
            </a:r>
            <a:endParaRPr lang="ar-DZ" sz="2700" b="1" dirty="0">
              <a:solidFill>
                <a:srgbClr val="FF0000"/>
              </a:solidFill>
            </a:endParaRPr>
          </a:p>
          <a:p>
            <a:pPr algn="r" rtl="1"/>
            <a:r>
              <a:rPr lang="ar-DZ" sz="2700" b="1" dirty="0">
                <a:solidFill>
                  <a:srgbClr val="FF0000"/>
                </a:solidFill>
              </a:rPr>
              <a:t>الزغابة المعوية هي مقر امتصاص المغذيات </a:t>
            </a:r>
          </a:p>
          <a:p>
            <a:pPr algn="r" rtl="1"/>
            <a:r>
              <a:rPr lang="ar-DZ" sz="2700" b="1" dirty="0"/>
              <a:t>و</a:t>
            </a:r>
            <a:r>
              <a:rPr lang="ar-SA" sz="2700" b="1" dirty="0"/>
              <a:t>تتميز بغناها بالشعيرات الدموية واللمفاوية</a:t>
            </a:r>
            <a:r>
              <a:rPr lang="fr-FR" sz="2700" b="1" dirty="0"/>
              <a:t>) </a:t>
            </a:r>
            <a:r>
              <a:rPr lang="ar-SA" sz="2700" b="1" dirty="0"/>
              <a:t>البلغمية)  وبجدار رفيع </a:t>
            </a:r>
            <a:r>
              <a:rPr lang="ar-DZ" sz="2700" b="1" dirty="0"/>
              <a:t>يسهل عملية مرور المغذيات كما انها تعتبر سطح تبادل بين المعي الدقيق والوسط الداخلي (الدم واللمف</a:t>
            </a:r>
            <a:endParaRPr lang="fr-FR" sz="2700" b="1" dirty="0"/>
          </a:p>
        </p:txBody>
      </p:sp>
      <p:sp>
        <p:nvSpPr>
          <p:cNvPr id="9" name="Rectangle 8"/>
          <p:cNvSpPr/>
          <p:nvPr/>
        </p:nvSpPr>
        <p:spPr>
          <a:xfrm>
            <a:off x="85775" y="789070"/>
            <a:ext cx="9001000" cy="1815882"/>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r" rtl="1"/>
            <a:r>
              <a:rPr lang="ar-DZ" sz="2800" b="1" dirty="0"/>
              <a:t>­</a:t>
            </a:r>
            <a:r>
              <a:rPr lang="ar-DZ" sz="2800" b="1" dirty="0">
                <a:solidFill>
                  <a:srgbClr val="FF0000"/>
                </a:solidFill>
              </a:rPr>
              <a:t>1-</a:t>
            </a:r>
            <a:r>
              <a:rPr lang="ar-DZ" sz="2800" b="1" dirty="0"/>
              <a:t> </a:t>
            </a:r>
            <a:r>
              <a:rPr lang="ar-SA" sz="2800" b="1" u="sng" dirty="0">
                <a:solidFill>
                  <a:srgbClr val="FF0000"/>
                </a:solidFill>
              </a:rPr>
              <a:t>بنية للجدار الداخلي للمعي الدقيق وعلاقتها بامتصاص المغذيات </a:t>
            </a:r>
            <a:endParaRPr lang="fr-FR" sz="2800" b="1" u="sng" dirty="0">
              <a:solidFill>
                <a:srgbClr val="FF0000"/>
              </a:solidFill>
            </a:endParaRPr>
          </a:p>
          <a:p>
            <a:pPr algn="r" rtl="1"/>
            <a:r>
              <a:rPr lang="ar-DZ" sz="2800" b="1" dirty="0"/>
              <a:t>يتميز الجدار الداخلي للمعي الدقيق بوجود انثناءات عليها زغابات معوية كثيرة وغنية بالشعيرات الدموية مما يشكل سطح تماس واسع بين المغذيات والدم</a:t>
            </a:r>
            <a:endParaRPr lang="fr-FR" sz="2800" dirty="0"/>
          </a:p>
        </p:txBody>
      </p:sp>
      <p:sp>
        <p:nvSpPr>
          <p:cNvPr id="10" name="ZoneTexte 9"/>
          <p:cNvSpPr txBox="1"/>
          <p:nvPr/>
        </p:nvSpPr>
        <p:spPr>
          <a:xfrm>
            <a:off x="3680608" y="188640"/>
            <a:ext cx="2448272" cy="584775"/>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ar-DZ" sz="3200" b="1" dirty="0"/>
              <a:t>ارساء الموارد</a:t>
            </a:r>
            <a:endParaRPr lang="fr-FR" sz="3200" b="1" dirty="0"/>
          </a:p>
        </p:txBody>
      </p:sp>
    </p:spTree>
    <p:extLst>
      <p:ext uri="{BB962C8B-B14F-4D97-AF65-F5344CB8AC3E}">
        <p14:creationId xmlns:p14="http://schemas.microsoft.com/office/powerpoint/2010/main" val="1937598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barn(inVertical)">
                                      <p:cBhvr>
                                        <p:cTn id="12" dur="500"/>
                                        <p:tgtEl>
                                          <p:spTgt spid="1945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arn(inVertic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51920" y="4293096"/>
            <a:ext cx="288032"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p:nvPr/>
        </p:nvSpPr>
        <p:spPr>
          <a:xfrm>
            <a:off x="4391980" y="4349436"/>
            <a:ext cx="288032" cy="1440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p:cNvSpPr/>
          <p:nvPr/>
        </p:nvSpPr>
        <p:spPr>
          <a:xfrm>
            <a:off x="179512" y="4305136"/>
            <a:ext cx="2520280" cy="34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p:nvPr/>
        </p:nvSpPr>
        <p:spPr>
          <a:xfrm>
            <a:off x="1043608" y="3789040"/>
            <a:ext cx="2952328" cy="5040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p:nvPr/>
        </p:nvSpPr>
        <p:spPr>
          <a:xfrm>
            <a:off x="1043608" y="4041068"/>
            <a:ext cx="2016224" cy="900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p:nvPr/>
        </p:nvSpPr>
        <p:spPr>
          <a:xfrm>
            <a:off x="4932040" y="4205420"/>
            <a:ext cx="288032" cy="997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p:cNvSpPr/>
          <p:nvPr/>
        </p:nvSpPr>
        <p:spPr>
          <a:xfrm>
            <a:off x="5372472" y="4205420"/>
            <a:ext cx="288032" cy="15605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0" name="Picture 6"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936"/>
            <a:ext cx="9143999" cy="685006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 descr="RÃ©sultat de recherche d'images pour &quot;â«ÙÙØ¶ÙØ¹ Ø§ÙØ¹ÙÙÙ ÙØ´ÙØ§Ø¯Ø© Ø§ÙØªØ¹ÙÙÙ Ø§ÙÙØªÙØ³Ø· 2014â¬â&quot;"/>
          <p:cNvPicPr/>
          <p:nvPr/>
        </p:nvPicPr>
        <p:blipFill rotWithShape="1">
          <a:blip r:embed="rId3">
            <a:extLst>
              <a:ext uri="{28A0092B-C50C-407E-A947-70E740481C1C}">
                <a14:useLocalDpi xmlns:a14="http://schemas.microsoft.com/office/drawing/2010/main" val="0"/>
              </a:ext>
            </a:extLst>
          </a:blip>
          <a:srcRect l="9722" t="34022" r="11326" b="19556"/>
          <a:stretch/>
        </p:blipFill>
        <p:spPr bwMode="auto">
          <a:xfrm>
            <a:off x="124895" y="1020700"/>
            <a:ext cx="3727025" cy="4824535"/>
          </a:xfrm>
          <a:prstGeom prst="rect">
            <a:avLst/>
          </a:prstGeom>
          <a:noFill/>
          <a:ln w="28575" cap="flat" cmpd="sng" algn="ctr">
            <a:solidFill>
              <a:srgbClr val="FF0000"/>
            </a:solidFill>
            <a:prstDash val="solid"/>
            <a:round/>
            <a:headEnd type="none" w="med" len="med"/>
            <a:tailEnd type="none" w="med" len="med"/>
          </a:ln>
          <a:extLst>
            <a:ext uri="{53640926-AAD7-44D8-BBD7-CCE9431645EC}">
              <a14:shadowObscured xmlns:a14="http://schemas.microsoft.com/office/drawing/2010/main"/>
            </a:ext>
          </a:extLst>
        </p:spPr>
      </p:pic>
      <p:sp>
        <p:nvSpPr>
          <p:cNvPr id="28" name="ZoneTexte 27"/>
          <p:cNvSpPr txBox="1"/>
          <p:nvPr/>
        </p:nvSpPr>
        <p:spPr>
          <a:xfrm>
            <a:off x="3033193" y="3789870"/>
            <a:ext cx="432048" cy="52322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r" rtl="1"/>
            <a:r>
              <a:rPr lang="ar-DZ" sz="2800" b="1" dirty="0"/>
              <a:t>1</a:t>
            </a:r>
            <a:endParaRPr lang="fr-FR" sz="2800" b="1" dirty="0"/>
          </a:p>
        </p:txBody>
      </p:sp>
      <p:sp>
        <p:nvSpPr>
          <p:cNvPr id="34" name="ZoneTexte 33"/>
          <p:cNvSpPr txBox="1"/>
          <p:nvPr/>
        </p:nvSpPr>
        <p:spPr>
          <a:xfrm>
            <a:off x="4139952" y="1887089"/>
            <a:ext cx="4860032" cy="3539430"/>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pPr algn="r" rtl="1"/>
            <a:r>
              <a:rPr lang="ar-DZ" sz="3200" b="1" dirty="0"/>
              <a:t>تمثل الوثيقة المقابلة عضوا من الانبوب الهضمي للإنسان</a:t>
            </a:r>
          </a:p>
          <a:p>
            <a:pPr algn="r" rtl="1"/>
            <a:r>
              <a:rPr lang="ar-DZ" sz="3200" b="1" dirty="0"/>
              <a:t>1- سم العنصر(1)</a:t>
            </a:r>
          </a:p>
          <a:p>
            <a:pPr algn="r" rtl="1"/>
            <a:r>
              <a:rPr lang="ar-DZ" sz="3200" b="1" dirty="0"/>
              <a:t>2- اذكر الخصائص البنيوية الداخلية لهذا العنصر</a:t>
            </a:r>
          </a:p>
          <a:p>
            <a:pPr algn="r" rtl="1"/>
            <a:r>
              <a:rPr lang="ar-DZ" sz="3200" b="1" dirty="0"/>
              <a:t>3- حدد العلاقة بين هذه الخصائص وعملية امتصاص المغذيات</a:t>
            </a:r>
            <a:endParaRPr lang="fr-FR" sz="3200" b="1" dirty="0"/>
          </a:p>
        </p:txBody>
      </p:sp>
      <p:sp>
        <p:nvSpPr>
          <p:cNvPr id="35" name="Rectangle 34"/>
          <p:cNvSpPr/>
          <p:nvPr/>
        </p:nvSpPr>
        <p:spPr>
          <a:xfrm>
            <a:off x="1475656" y="5949280"/>
            <a:ext cx="1152128" cy="404869"/>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DZ" sz="2400" b="1" dirty="0">
                <a:solidFill>
                  <a:schemeClr val="tx1"/>
                </a:solidFill>
              </a:rPr>
              <a:t>الوثيقة</a:t>
            </a:r>
            <a:endParaRPr lang="fr-FR" sz="2400" dirty="0"/>
          </a:p>
        </p:txBody>
      </p:sp>
      <p:sp>
        <p:nvSpPr>
          <p:cNvPr id="36" name="ZoneTexte 35"/>
          <p:cNvSpPr txBox="1"/>
          <p:nvPr/>
        </p:nvSpPr>
        <p:spPr>
          <a:xfrm>
            <a:off x="3680608" y="188640"/>
            <a:ext cx="2448272" cy="584775"/>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ar-DZ" sz="3200" b="1" dirty="0"/>
              <a:t>تقويم الموارد</a:t>
            </a:r>
            <a:endParaRPr lang="fr-FR" sz="3200" b="1" dirty="0"/>
          </a:p>
        </p:txBody>
      </p:sp>
      <p:sp>
        <p:nvSpPr>
          <p:cNvPr id="2" name="Rectangle 1"/>
          <p:cNvSpPr/>
          <p:nvPr/>
        </p:nvSpPr>
        <p:spPr>
          <a:xfrm>
            <a:off x="4391980" y="952798"/>
            <a:ext cx="4451860" cy="461665"/>
          </a:xfrm>
          <a:prstGeom prst="rect">
            <a:avLst/>
          </a:prstGeom>
          <a:solidFill>
            <a:srgbClr val="FFFF00"/>
          </a:solidFill>
        </p:spPr>
        <p:txBody>
          <a:bodyPr wrap="none">
            <a:spAutoFit/>
          </a:bodyPr>
          <a:lstStyle/>
          <a:p>
            <a:r>
              <a:rPr lang="ar-SA" sz="2400" b="1" dirty="0">
                <a:solidFill>
                  <a:srgbClr val="FF0000"/>
                </a:solidFill>
                <a:latin typeface="Calibri" panose="020F0502020204030204" pitchFamily="34" charset="0"/>
                <a:ea typeface="Calibri" panose="020F0502020204030204" pitchFamily="34" charset="0"/>
              </a:rPr>
              <a:t>من موضوع شهادة التعليم المتوسط 2014</a:t>
            </a:r>
            <a:endParaRPr lang="fr-FR" sz="2400" dirty="0"/>
          </a:p>
        </p:txBody>
      </p:sp>
    </p:spTree>
    <p:extLst>
      <p:ext uri="{BB962C8B-B14F-4D97-AF65-F5344CB8AC3E}">
        <p14:creationId xmlns:p14="http://schemas.microsoft.com/office/powerpoint/2010/main" val="1907350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arn(inVertical)">
                                      <p:cBhvr>
                                        <p:cTn id="12" dur="500"/>
                                        <p:tgtEl>
                                          <p:spTgt spid="3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barn(inVertical)">
                                      <p:cBhvr>
                                        <p:cTn id="17" dur="5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arn(inVertic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100"/>
                                  </p:stCondLst>
                                  <p:childTnLst>
                                    <p:set>
                                      <p:cBhvr>
                                        <p:cTn id="26" dur="1" fill="hold">
                                          <p:stCondLst>
                                            <p:cond delay="0"/>
                                          </p:stCondLst>
                                        </p:cTn>
                                        <p:tgtEl>
                                          <p:spTgt spid="34"/>
                                        </p:tgtEl>
                                        <p:attrNameLst>
                                          <p:attrName>style.visibility</p:attrName>
                                        </p:attrNameLst>
                                      </p:cBhvr>
                                      <p:to>
                                        <p:strVal val="visible"/>
                                      </p:to>
                                    </p:set>
                                    <p:animEffect transition="in" filter="barn(inVertical)">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barn(inVertical)">
                                      <p:cBhvr>
                                        <p:cTn id="32" dur="5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barn(inVertical)">
                                      <p:cBhvr>
                                        <p:cTn id="3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4" grpId="0" animBg="1"/>
      <p:bldP spid="35" grpId="0" animBg="1"/>
      <p:bldP spid="36" grpId="0" animBg="1"/>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RÃ©sultat de recherche d'images pour &quot;â«ÙØ­Ø±Ø² ÙØ­ÙÙ Ø¹ÙÙ Ø¬Ø²Ø§Ø¦Ø±Ùâ¬â&quot;"/>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p:cNvSpPr txBox="1"/>
          <p:nvPr/>
        </p:nvSpPr>
        <p:spPr>
          <a:xfrm>
            <a:off x="4139952" y="188639"/>
            <a:ext cx="1728192" cy="58477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ar-DZ" sz="3200" b="1" dirty="0"/>
              <a:t>المناقشة</a:t>
            </a:r>
            <a:endParaRPr lang="fr-FR" sz="3200" b="1" dirty="0"/>
          </a:p>
        </p:txBody>
      </p:sp>
      <p:sp>
        <p:nvSpPr>
          <p:cNvPr id="6" name="ZoneTexte 5"/>
          <p:cNvSpPr txBox="1"/>
          <p:nvPr/>
        </p:nvSpPr>
        <p:spPr>
          <a:xfrm>
            <a:off x="179512" y="1040947"/>
            <a:ext cx="8856984" cy="550920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r" rtl="1"/>
            <a:r>
              <a:rPr lang="ar-DZ" sz="3200" b="1" dirty="0">
                <a:solidFill>
                  <a:srgbClr val="FF0000"/>
                </a:solidFill>
              </a:rPr>
              <a:t>ج1</a:t>
            </a:r>
            <a:r>
              <a:rPr lang="ar-DZ" sz="3200" b="1" dirty="0"/>
              <a:t>- تسمية العنصر(1): المعي الدقيق</a:t>
            </a:r>
          </a:p>
          <a:p>
            <a:pPr algn="r" rtl="1"/>
            <a:r>
              <a:rPr lang="ar-DZ" sz="3200" b="1" dirty="0">
                <a:solidFill>
                  <a:srgbClr val="FF0000"/>
                </a:solidFill>
              </a:rPr>
              <a:t>ج2</a:t>
            </a:r>
            <a:r>
              <a:rPr lang="ar-DZ" sz="3200" b="1" dirty="0"/>
              <a:t>- الخصائص البنيوية الداخلية لهذا العنصر</a:t>
            </a:r>
          </a:p>
          <a:p>
            <a:pPr algn="r" rtl="1"/>
            <a:r>
              <a:rPr lang="ar-DZ" sz="3200" b="1" dirty="0"/>
              <a:t>     * يتميز بسطح متموج(به انثناءات)</a:t>
            </a:r>
          </a:p>
          <a:p>
            <a:pPr algn="r" rtl="1"/>
            <a:r>
              <a:rPr lang="ar-DZ" sz="3200" b="1" dirty="0"/>
              <a:t>     * وجود عدد كبير من الزغابات المعوية</a:t>
            </a:r>
          </a:p>
          <a:p>
            <a:pPr algn="r" rtl="1"/>
            <a:r>
              <a:rPr lang="ar-DZ" sz="3200" b="1" dirty="0"/>
              <a:t>     * جداره الداخلي رقيق وغني بالشعيرات الدموية</a:t>
            </a:r>
          </a:p>
          <a:p>
            <a:pPr algn="r" rtl="1"/>
            <a:r>
              <a:rPr lang="ar-DZ" sz="3200" b="1" dirty="0">
                <a:solidFill>
                  <a:srgbClr val="FF0000"/>
                </a:solidFill>
              </a:rPr>
              <a:t>ج3</a:t>
            </a:r>
            <a:r>
              <a:rPr lang="ar-DZ" sz="3200" b="1" dirty="0"/>
              <a:t>- العلاقة بين هذه الخصائص وعملية الامتصاص</a:t>
            </a:r>
          </a:p>
          <a:p>
            <a:pPr algn="r" rtl="1"/>
            <a:r>
              <a:rPr lang="ar-DZ" sz="3200" b="1" dirty="0"/>
              <a:t>-السطح المتموج يسمح بزيادة سطح تماس المغذيات (الكيلوس) مع الدم</a:t>
            </a:r>
          </a:p>
          <a:p>
            <a:pPr algn="r" rtl="1"/>
            <a:r>
              <a:rPr lang="ar-DZ" sz="3200" b="1" dirty="0"/>
              <a:t>-الزغابات المعوية هي مقر امتصاص المغذيات</a:t>
            </a:r>
          </a:p>
          <a:p>
            <a:pPr algn="r" rtl="1"/>
            <a:r>
              <a:rPr lang="ar-DZ" sz="3200" b="1" dirty="0"/>
              <a:t>-الجدار الرقيق لسهولة مرور المغذيات عبره</a:t>
            </a:r>
          </a:p>
          <a:p>
            <a:pPr algn="r" rtl="1"/>
            <a:r>
              <a:rPr lang="ar-DZ" sz="3200" b="1" dirty="0"/>
              <a:t>-كثافة الشعيرات الدموية لنقل اكبر كمية من المغذيات</a:t>
            </a:r>
            <a:endParaRPr lang="fr-FR" sz="3200" b="1" dirty="0"/>
          </a:p>
        </p:txBody>
      </p:sp>
    </p:spTree>
    <p:extLst>
      <p:ext uri="{BB962C8B-B14F-4D97-AF65-F5344CB8AC3E}">
        <p14:creationId xmlns:p14="http://schemas.microsoft.com/office/powerpoint/2010/main" val="3390605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barn(inVertical)">
                                      <p:cBhvr>
                                        <p:cTn id="7" dur="5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arn(inVertic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inVertical)">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2" name="Picture 6" descr="أقوال مأثورة عن حسن الظن بالله .. أجمل العبارات عن حسن الظن بالله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0864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251520" y="232644"/>
            <a:ext cx="8568951" cy="941796"/>
          </a:xfrm>
          <a:prstGeom prst="rect">
            <a:avLst/>
          </a:prstGeom>
          <a:solidFill>
            <a:srgbClr val="FFFF00"/>
          </a:solidFill>
        </p:spPr>
        <p:txBody>
          <a:bodyPr wrap="square">
            <a:spAutoFit/>
          </a:bodyPr>
          <a:lstStyle/>
          <a:p>
            <a:pPr algn="ctr" rtl="1">
              <a:lnSpc>
                <a:spcPct val="115000"/>
              </a:lnSpc>
              <a:spcAft>
                <a:spcPts val="1000"/>
              </a:spcAft>
              <a:tabLst>
                <a:tab pos="2800985" algn="ctr"/>
              </a:tabLst>
            </a:pPr>
            <a:r>
              <a:rPr lang="ar-SA" sz="2400" b="1" dirty="0">
                <a:solidFill>
                  <a:srgbClr val="002060"/>
                </a:solidFill>
                <a:latin typeface="Calibri" panose="020F0502020204030204" pitchFamily="34" charset="0"/>
                <a:ea typeface="Calibri" panose="020F0502020204030204" pitchFamily="34" charset="0"/>
                <a:cs typeface="Calibri" panose="020F0502020204030204" pitchFamily="34" charset="0"/>
              </a:rPr>
              <a:t>*تطبيق منزلي </a:t>
            </a:r>
            <a:r>
              <a:rPr lang="ar-SA" sz="2400" b="1" dirty="0">
                <a:solidFill>
                  <a:srgbClr val="002060"/>
                </a:solidFill>
                <a:latin typeface="Calibri" panose="020F0502020204030204" pitchFamily="34" charset="0"/>
                <a:ea typeface="Calibri" panose="020F0502020204030204" pitchFamily="34" charset="0"/>
              </a:rPr>
              <a:t>للتدرب على منهجية استخلاص نص علمي انطلاقا من تمثيل تخطيطي </a:t>
            </a:r>
            <a:r>
              <a:rPr lang="ar-DZ" sz="2400" b="1" dirty="0">
                <a:solidFill>
                  <a:srgbClr val="002060"/>
                </a:solidFill>
                <a:latin typeface="Calibri" panose="020F0502020204030204" pitchFamily="34" charset="0"/>
                <a:ea typeface="Calibri" panose="020F0502020204030204" pitchFamily="34" charset="0"/>
              </a:rPr>
              <a:t>      </a:t>
            </a:r>
            <a:r>
              <a:rPr lang="ar-SA" sz="2400" b="1" dirty="0">
                <a:solidFill>
                  <a:srgbClr val="002060"/>
                </a:solidFill>
                <a:latin typeface="Calibri" panose="020F0502020204030204" pitchFamily="34" charset="0"/>
                <a:ea typeface="Calibri" panose="020F0502020204030204" pitchFamily="34" charset="0"/>
              </a:rPr>
              <a:t>(مخطط تلخيصي)</a:t>
            </a:r>
            <a:endParaRPr lang="fr-FR" sz="2400" dirty="0">
              <a:solidFill>
                <a:srgbClr val="002060"/>
              </a:solidFill>
              <a:effectLst/>
              <a:latin typeface="Calibri" panose="020F0502020204030204" pitchFamily="34" charset="0"/>
              <a:ea typeface="Times New Roman" panose="02020603050405020304" pitchFamily="18" charset="0"/>
              <a:cs typeface="Arial" panose="020B0604020202020204" pitchFamily="34" charset="0"/>
            </a:endParaRPr>
          </a:p>
        </p:txBody>
      </p:sp>
      <p:sp>
        <p:nvSpPr>
          <p:cNvPr id="3" name="Rectangle 2"/>
          <p:cNvSpPr/>
          <p:nvPr/>
        </p:nvSpPr>
        <p:spPr>
          <a:xfrm>
            <a:off x="467544" y="1268760"/>
            <a:ext cx="7816563" cy="584775"/>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r>
              <a:rPr lang="ar-SA" sz="3200" b="1" dirty="0">
                <a:solidFill>
                  <a:srgbClr val="000000"/>
                </a:solidFill>
                <a:latin typeface="Calibri" panose="020F0502020204030204" pitchFamily="34" charset="0"/>
                <a:ea typeface="Times New Roman" panose="02020603050405020304" pitchFamily="18" charset="0"/>
              </a:rPr>
              <a:t>استعن بالتمثيل التخطيطي ص20 وترجمه الى نص علمي </a:t>
            </a:r>
            <a:endParaRPr lang="fr-FR" sz="3200" dirty="0"/>
          </a:p>
        </p:txBody>
      </p:sp>
      <p:pic>
        <p:nvPicPr>
          <p:cNvPr id="9218" name="Picture 2" descr="المورد02:... - دروس و تمارين علوم طبيعة وحياة تعليم متوسط | فيسبوك"/>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947855"/>
            <a:ext cx="7920880" cy="4721505"/>
          </a:xfrm>
          <a:prstGeom prst="rect">
            <a:avLst/>
          </a:prstGeom>
          <a:noFill/>
          <a:ln>
            <a:solidFill>
              <a:srgbClr val="6699FF"/>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86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barn(inVertical)">
                                      <p:cBhvr>
                                        <p:cTn id="7" dur="500"/>
                                        <p:tgtEl>
                                          <p:spTgt spid="922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9218"/>
                                        </p:tgtEl>
                                        <p:attrNameLst>
                                          <p:attrName>style.visibility</p:attrName>
                                        </p:attrNameLst>
                                      </p:cBhvr>
                                      <p:to>
                                        <p:strVal val="visible"/>
                                      </p:to>
                                    </p:set>
                                    <p:animEffect transition="in" filter="barn(inVertical)">
                                      <p:cBhvr>
                                        <p:cTn id="22"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امتصاص معوي"/>
          <p:cNvSpPr>
            <a:spLocks noChangeAspect="1" noChangeArrowheads="1"/>
          </p:cNvSpPr>
          <p:nvPr/>
        </p:nvSpPr>
        <p:spPr bwMode="auto">
          <a:xfrm>
            <a:off x="755576" y="116624"/>
            <a:ext cx="3113112" cy="311312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Tree>
    <p:extLst>
      <p:ext uri="{BB962C8B-B14F-4D97-AF65-F5344CB8AC3E}">
        <p14:creationId xmlns:p14="http://schemas.microsoft.com/office/powerpoint/2010/main" val="140649308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9996</TotalTime>
  <Words>1556</Words>
  <Application>Microsoft Office PowerPoint</Application>
  <PresentationFormat>عرض على الشاشة (4:3)</PresentationFormat>
  <Paragraphs>151</Paragraphs>
  <Slides>27</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27</vt:i4>
      </vt:variant>
    </vt:vector>
  </HeadingPairs>
  <TitlesOfParts>
    <vt:vector size="32" baseType="lpstr">
      <vt:lpstr>Arial</vt:lpstr>
      <vt:lpstr>Arial,Bold</vt:lpstr>
      <vt:lpstr>Calibri</vt:lpstr>
      <vt:lpstr>Times New Roman</vt:lpstr>
      <vt:lpstr>Thème Office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Zimam Computer</dc:creator>
  <cp:lastModifiedBy>xxrraazyu@outlook.sa</cp:lastModifiedBy>
  <cp:revision>137</cp:revision>
  <dcterms:created xsi:type="dcterms:W3CDTF">2019-09-21T10:18:25Z</dcterms:created>
  <dcterms:modified xsi:type="dcterms:W3CDTF">2025-10-14T15:38:11Z</dcterms:modified>
</cp:coreProperties>
</file>