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61" r:id="rId1"/>
  </p:sldMasterIdLst>
  <p:notesMasterIdLst>
    <p:notesMasterId r:id="rId31"/>
  </p:notesMasterIdLst>
  <p:sldIdLst>
    <p:sldId id="819" r:id="rId2"/>
    <p:sldId id="774" r:id="rId3"/>
    <p:sldId id="814" r:id="rId4"/>
    <p:sldId id="813" r:id="rId5"/>
    <p:sldId id="791" r:id="rId6"/>
    <p:sldId id="823" r:id="rId7"/>
    <p:sldId id="790" r:id="rId8"/>
    <p:sldId id="280" r:id="rId9"/>
    <p:sldId id="786" r:id="rId10"/>
    <p:sldId id="821" r:id="rId11"/>
    <p:sldId id="775" r:id="rId12"/>
    <p:sldId id="776" r:id="rId13"/>
    <p:sldId id="778" r:id="rId14"/>
    <p:sldId id="799" r:id="rId15"/>
    <p:sldId id="798" r:id="rId16"/>
    <p:sldId id="806" r:id="rId17"/>
    <p:sldId id="832" r:id="rId18"/>
    <p:sldId id="824" r:id="rId19"/>
    <p:sldId id="831" r:id="rId20"/>
    <p:sldId id="807" r:id="rId21"/>
    <p:sldId id="689" r:id="rId22"/>
    <p:sldId id="818" r:id="rId23"/>
    <p:sldId id="820" r:id="rId24"/>
    <p:sldId id="829" r:id="rId25"/>
    <p:sldId id="636" r:id="rId26"/>
    <p:sldId id="653" r:id="rId27"/>
    <p:sldId id="826" r:id="rId28"/>
    <p:sldId id="787" r:id="rId29"/>
    <p:sldId id="825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00FF"/>
    <a:srgbClr val="00FF00"/>
    <a:srgbClr val="FFFF00"/>
    <a:srgbClr val="3FFF96"/>
    <a:srgbClr val="00AA48"/>
    <a:srgbClr val="FF0000"/>
    <a:srgbClr val="0096D5"/>
    <a:srgbClr val="FF9900"/>
    <a:srgbClr val="FF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2838BEF-8BB2-4498-84A7-C5851F593DF1}" styleName="Style moyen 4 - Accentuation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ar-D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fld id="{9E2FC8C3-9571-4543-9516-E7151CE6CC30}" type="datetimeFigureOut">
              <a:rPr lang="ar-DZ" smtClean="0"/>
              <a:t>29-04-1447</a:t>
            </a:fld>
            <a:endParaRPr lang="ar-D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ar-D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D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endParaRPr lang="ar-D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fld id="{886B4C19-F5D4-4217-B8B5-0FD1BFA9FCD5}" type="slidenum">
              <a:rPr lang="ar-DZ" smtClean="0"/>
              <a:t>‹N°›</a:t>
            </a:fld>
            <a:endParaRPr lang="ar-DZ"/>
          </a:p>
        </p:txBody>
      </p:sp>
    </p:spTree>
    <p:extLst>
      <p:ext uri="{BB962C8B-B14F-4D97-AF65-F5344CB8AC3E}">
        <p14:creationId xmlns:p14="http://schemas.microsoft.com/office/powerpoint/2010/main" val="6857766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r" rtl="1"/>
            <a:r>
              <a:rPr lang="ar-DZ" dirty="0"/>
              <a:t>المهمة : بعدالانتهاء من النشاط</a:t>
            </a:r>
            <a:r>
              <a:rPr lang="ar-DZ" baseline="0" dirty="0"/>
              <a:t> الثاني ينتقل السيد المؤطر الى النشاط الثالث لهيكلة المفاهيم بشرح سمكة اشيكاوا للجودةو و النتيجة المنتظرة او تسمى نظرية الميمات الخمس كما هي مصممة في الشكل اعلاه </a:t>
            </a:r>
          </a:p>
          <a:p>
            <a:pPr algn="r" rtl="1"/>
            <a:r>
              <a:rPr lang="ar-DZ" baseline="0" dirty="0"/>
              <a:t>و بالتالي كل الميمات الخمس هي عوامل مؤثرة على النجاح النوعي بين المدخل و المخرج و النتيجة المنتظرة هي الجودة  جون خلل او مشكلة وبأقل تكلفة و متوفرة –وفرة نسبة النجاح- و اي خلل في العوامل الخمس يعطي خلل في النتائج ,</a:t>
            </a:r>
          </a:p>
          <a:p>
            <a:pPr algn="r" rtl="1"/>
            <a:r>
              <a:rPr lang="ar-DZ" baseline="0" dirty="0"/>
              <a:t>المدة 15د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5F4D38-0C32-42CA-9CC0-8DC051D70CD8}" type="slidenum">
              <a:rPr lang="fr-FR" smtClean="0"/>
              <a:pPr/>
              <a:t>8</a:t>
            </a:fld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B40787-8AF8-BEF6-A423-288B51120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611D21E4-1426-5E5B-9739-026B81FBED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8086E2A4-56A5-215E-DA36-813FB54EFE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r" rtl="1"/>
            <a:r>
              <a:rPr lang="ar-DZ" dirty="0"/>
              <a:t>المهمة : بعدالانتهاء من النشاط</a:t>
            </a:r>
            <a:r>
              <a:rPr lang="ar-DZ" baseline="0" dirty="0"/>
              <a:t> الثاني ينتقل السيد المؤطر الى النشاط الثالث لهيكلة المفاهيم بشرح سمكة اشيكاوا للجودةو و النتيجة المنتظرة او تسمى نظرية الميمات الخمس كما هي مصممة في الشكل اعلاه </a:t>
            </a:r>
          </a:p>
          <a:p>
            <a:pPr algn="r" rtl="1"/>
            <a:r>
              <a:rPr lang="ar-DZ" baseline="0" dirty="0"/>
              <a:t>و بالتالي كل الميمات الخمس هي عوامل مؤثرة على النجاح النوعي بين المدخل و المخرج و النتيجة المنتظرة هي الجودة  جون خلل او مشكلة وبأقل تكلفة و متوفرة –وفرة نسبة النجاح- و اي خلل في العوامل الخمس يعطي خلل في النتائج ,</a:t>
            </a:r>
          </a:p>
          <a:p>
            <a:pPr algn="r" rtl="1"/>
            <a:r>
              <a:rPr lang="ar-DZ" baseline="0" dirty="0"/>
              <a:t>المدة 15د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D683C52-385F-3EAE-9A73-C770D0236C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5F4D38-0C32-42CA-9CC0-8DC051D70CD8}" type="slidenum">
              <a:rPr lang="fr-FR" smtClean="0"/>
              <a:pPr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34828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AF490-8DC7-459A-8B10-B8FD96D8798C}" type="datetimeFigureOut">
              <a:rPr lang="ar-DZ" smtClean="0"/>
              <a:t>29-04-1447</a:t>
            </a:fld>
            <a:endParaRPr lang="ar-D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D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3E568-C3CD-4030-A8D1-80ED7A9CE1FB}" type="slidenum">
              <a:rPr lang="ar-DZ" smtClean="0"/>
              <a:t>‹N°›</a:t>
            </a:fld>
            <a:endParaRPr lang="ar-DZ"/>
          </a:p>
        </p:txBody>
      </p:sp>
    </p:spTree>
    <p:extLst>
      <p:ext uri="{BB962C8B-B14F-4D97-AF65-F5344CB8AC3E}">
        <p14:creationId xmlns:p14="http://schemas.microsoft.com/office/powerpoint/2010/main" val="887947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AF490-8DC7-459A-8B10-B8FD96D8798C}" type="datetimeFigureOut">
              <a:rPr lang="ar-DZ" smtClean="0"/>
              <a:t>29-04-1447</a:t>
            </a:fld>
            <a:endParaRPr lang="ar-D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D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3E568-C3CD-4030-A8D1-80ED7A9CE1FB}" type="slidenum">
              <a:rPr lang="ar-DZ" smtClean="0"/>
              <a:t>‹N°›</a:t>
            </a:fld>
            <a:endParaRPr lang="ar-DZ"/>
          </a:p>
        </p:txBody>
      </p:sp>
    </p:spTree>
    <p:extLst>
      <p:ext uri="{BB962C8B-B14F-4D97-AF65-F5344CB8AC3E}">
        <p14:creationId xmlns:p14="http://schemas.microsoft.com/office/powerpoint/2010/main" val="21223181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AF490-8DC7-459A-8B10-B8FD96D8798C}" type="datetimeFigureOut">
              <a:rPr lang="ar-DZ" smtClean="0"/>
              <a:t>29-04-1447</a:t>
            </a:fld>
            <a:endParaRPr lang="ar-D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D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3E568-C3CD-4030-A8D1-80ED7A9CE1FB}" type="slidenum">
              <a:rPr lang="ar-DZ" smtClean="0"/>
              <a:t>‹N°›</a:t>
            </a:fld>
            <a:endParaRPr lang="ar-DZ"/>
          </a:p>
        </p:txBody>
      </p:sp>
    </p:spTree>
    <p:extLst>
      <p:ext uri="{BB962C8B-B14F-4D97-AF65-F5344CB8AC3E}">
        <p14:creationId xmlns:p14="http://schemas.microsoft.com/office/powerpoint/2010/main" val="2786139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AF490-8DC7-459A-8B10-B8FD96D8798C}" type="datetimeFigureOut">
              <a:rPr lang="ar-DZ" smtClean="0"/>
              <a:t>29-04-1447</a:t>
            </a:fld>
            <a:endParaRPr lang="ar-D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D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3E568-C3CD-4030-A8D1-80ED7A9CE1FB}" type="slidenum">
              <a:rPr lang="ar-DZ" smtClean="0"/>
              <a:t>‹N°›</a:t>
            </a:fld>
            <a:endParaRPr lang="ar-DZ"/>
          </a:p>
        </p:txBody>
      </p:sp>
    </p:spTree>
    <p:extLst>
      <p:ext uri="{BB962C8B-B14F-4D97-AF65-F5344CB8AC3E}">
        <p14:creationId xmlns:p14="http://schemas.microsoft.com/office/powerpoint/2010/main" val="26885532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AF490-8DC7-459A-8B10-B8FD96D8798C}" type="datetimeFigureOut">
              <a:rPr lang="ar-DZ" smtClean="0"/>
              <a:t>29-04-1447</a:t>
            </a:fld>
            <a:endParaRPr lang="ar-D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D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3E568-C3CD-4030-A8D1-80ED7A9CE1FB}" type="slidenum">
              <a:rPr lang="ar-DZ" smtClean="0"/>
              <a:t>‹N°›</a:t>
            </a:fld>
            <a:endParaRPr lang="ar-DZ"/>
          </a:p>
        </p:txBody>
      </p:sp>
    </p:spTree>
    <p:extLst>
      <p:ext uri="{BB962C8B-B14F-4D97-AF65-F5344CB8AC3E}">
        <p14:creationId xmlns:p14="http://schemas.microsoft.com/office/powerpoint/2010/main" val="30192039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AF490-8DC7-459A-8B10-B8FD96D8798C}" type="datetimeFigureOut">
              <a:rPr lang="ar-DZ" smtClean="0"/>
              <a:t>29-04-1447</a:t>
            </a:fld>
            <a:endParaRPr lang="ar-D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D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3E568-C3CD-4030-A8D1-80ED7A9CE1FB}" type="slidenum">
              <a:rPr lang="ar-DZ" smtClean="0"/>
              <a:t>‹N°›</a:t>
            </a:fld>
            <a:endParaRPr lang="ar-DZ"/>
          </a:p>
        </p:txBody>
      </p:sp>
    </p:spTree>
    <p:extLst>
      <p:ext uri="{BB962C8B-B14F-4D97-AF65-F5344CB8AC3E}">
        <p14:creationId xmlns:p14="http://schemas.microsoft.com/office/powerpoint/2010/main" val="3614150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AF490-8DC7-459A-8B10-B8FD96D8798C}" type="datetimeFigureOut">
              <a:rPr lang="ar-DZ" smtClean="0"/>
              <a:t>29-04-1447</a:t>
            </a:fld>
            <a:endParaRPr lang="ar-DZ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D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3E568-C3CD-4030-A8D1-80ED7A9CE1FB}" type="slidenum">
              <a:rPr lang="ar-DZ" smtClean="0"/>
              <a:t>‹N°›</a:t>
            </a:fld>
            <a:endParaRPr lang="ar-DZ"/>
          </a:p>
        </p:txBody>
      </p:sp>
    </p:spTree>
    <p:extLst>
      <p:ext uri="{BB962C8B-B14F-4D97-AF65-F5344CB8AC3E}">
        <p14:creationId xmlns:p14="http://schemas.microsoft.com/office/powerpoint/2010/main" val="8130529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AF490-8DC7-459A-8B10-B8FD96D8798C}" type="datetimeFigureOut">
              <a:rPr lang="ar-DZ" smtClean="0"/>
              <a:t>29-04-1447</a:t>
            </a:fld>
            <a:endParaRPr lang="ar-D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D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3E568-C3CD-4030-A8D1-80ED7A9CE1FB}" type="slidenum">
              <a:rPr lang="ar-DZ" smtClean="0"/>
              <a:t>‹N°›</a:t>
            </a:fld>
            <a:endParaRPr lang="ar-DZ"/>
          </a:p>
        </p:txBody>
      </p:sp>
    </p:spTree>
    <p:extLst>
      <p:ext uri="{BB962C8B-B14F-4D97-AF65-F5344CB8AC3E}">
        <p14:creationId xmlns:p14="http://schemas.microsoft.com/office/powerpoint/2010/main" val="26099851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AF490-8DC7-459A-8B10-B8FD96D8798C}" type="datetimeFigureOut">
              <a:rPr lang="ar-DZ" smtClean="0"/>
              <a:t>29-04-1447</a:t>
            </a:fld>
            <a:endParaRPr lang="ar-D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D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3E568-C3CD-4030-A8D1-80ED7A9CE1FB}" type="slidenum">
              <a:rPr lang="ar-DZ" smtClean="0"/>
              <a:t>‹N°›</a:t>
            </a:fld>
            <a:endParaRPr lang="ar-DZ"/>
          </a:p>
        </p:txBody>
      </p:sp>
    </p:spTree>
    <p:extLst>
      <p:ext uri="{BB962C8B-B14F-4D97-AF65-F5344CB8AC3E}">
        <p14:creationId xmlns:p14="http://schemas.microsoft.com/office/powerpoint/2010/main" val="12502502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AF490-8DC7-459A-8B10-B8FD96D8798C}" type="datetimeFigureOut">
              <a:rPr lang="ar-DZ" smtClean="0"/>
              <a:t>29-04-1447</a:t>
            </a:fld>
            <a:endParaRPr lang="ar-D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D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3E568-C3CD-4030-A8D1-80ED7A9CE1FB}" type="slidenum">
              <a:rPr lang="ar-DZ" smtClean="0"/>
              <a:t>‹N°›</a:t>
            </a:fld>
            <a:endParaRPr lang="ar-DZ"/>
          </a:p>
        </p:txBody>
      </p:sp>
    </p:spTree>
    <p:extLst>
      <p:ext uri="{BB962C8B-B14F-4D97-AF65-F5344CB8AC3E}">
        <p14:creationId xmlns:p14="http://schemas.microsoft.com/office/powerpoint/2010/main" val="1577490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AF490-8DC7-459A-8B10-B8FD96D8798C}" type="datetimeFigureOut">
              <a:rPr lang="ar-DZ" smtClean="0"/>
              <a:t>29-04-1447</a:t>
            </a:fld>
            <a:endParaRPr lang="ar-D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D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3E568-C3CD-4030-A8D1-80ED7A9CE1FB}" type="slidenum">
              <a:rPr lang="ar-DZ" smtClean="0"/>
              <a:t>‹N°›</a:t>
            </a:fld>
            <a:endParaRPr lang="ar-DZ"/>
          </a:p>
        </p:txBody>
      </p:sp>
    </p:spTree>
    <p:extLst>
      <p:ext uri="{BB962C8B-B14F-4D97-AF65-F5344CB8AC3E}">
        <p14:creationId xmlns:p14="http://schemas.microsoft.com/office/powerpoint/2010/main" val="5804352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AF490-8DC7-459A-8B10-B8FD96D8798C}" type="datetimeFigureOut">
              <a:rPr lang="ar-DZ" smtClean="0"/>
              <a:t>29-04-1447</a:t>
            </a:fld>
            <a:endParaRPr lang="ar-D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D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3E568-C3CD-4030-A8D1-80ED7A9CE1FB}" type="slidenum">
              <a:rPr lang="ar-DZ" smtClean="0"/>
              <a:t>‹N°›</a:t>
            </a:fld>
            <a:endParaRPr lang="ar-DZ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807715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AF490-8DC7-459A-8B10-B8FD96D8798C}" type="datetimeFigureOut">
              <a:rPr lang="ar-DZ" smtClean="0"/>
              <a:t>29-04-1447</a:t>
            </a:fld>
            <a:endParaRPr lang="ar-D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D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3E568-C3CD-4030-A8D1-80ED7A9CE1FB}" type="slidenum">
              <a:rPr lang="ar-DZ" smtClean="0"/>
              <a:t>‹N°›</a:t>
            </a:fld>
            <a:endParaRPr lang="ar-DZ"/>
          </a:p>
        </p:txBody>
      </p:sp>
    </p:spTree>
    <p:extLst>
      <p:ext uri="{BB962C8B-B14F-4D97-AF65-F5344CB8AC3E}">
        <p14:creationId xmlns:p14="http://schemas.microsoft.com/office/powerpoint/2010/main" val="9382134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AF490-8DC7-459A-8B10-B8FD96D8798C}" type="datetimeFigureOut">
              <a:rPr lang="ar-DZ" smtClean="0"/>
              <a:t>29-04-1447</a:t>
            </a:fld>
            <a:endParaRPr lang="ar-D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D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3E568-C3CD-4030-A8D1-80ED7A9CE1FB}" type="slidenum">
              <a:rPr lang="ar-DZ" smtClean="0"/>
              <a:t>‹N°›</a:t>
            </a:fld>
            <a:endParaRPr lang="ar-DZ"/>
          </a:p>
        </p:txBody>
      </p:sp>
    </p:spTree>
    <p:extLst>
      <p:ext uri="{BB962C8B-B14F-4D97-AF65-F5344CB8AC3E}">
        <p14:creationId xmlns:p14="http://schemas.microsoft.com/office/powerpoint/2010/main" val="37421167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AF490-8DC7-459A-8B10-B8FD96D8798C}" type="datetimeFigureOut">
              <a:rPr lang="ar-DZ" smtClean="0"/>
              <a:t>29-04-1447</a:t>
            </a:fld>
            <a:endParaRPr lang="ar-D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D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3E568-C3CD-4030-A8D1-80ED7A9CE1FB}" type="slidenum">
              <a:rPr lang="ar-DZ" smtClean="0"/>
              <a:t>‹N°›</a:t>
            </a:fld>
            <a:endParaRPr lang="ar-DZ"/>
          </a:p>
        </p:txBody>
      </p:sp>
    </p:spTree>
    <p:extLst>
      <p:ext uri="{BB962C8B-B14F-4D97-AF65-F5344CB8AC3E}">
        <p14:creationId xmlns:p14="http://schemas.microsoft.com/office/powerpoint/2010/main" val="32078422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AF490-8DC7-459A-8B10-B8FD96D8798C}" type="datetimeFigureOut">
              <a:rPr lang="ar-DZ" smtClean="0"/>
              <a:t>29-04-1447</a:t>
            </a:fld>
            <a:endParaRPr lang="ar-D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D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3E568-C3CD-4030-A8D1-80ED7A9CE1FB}" type="slidenum">
              <a:rPr lang="ar-DZ" smtClean="0"/>
              <a:t>‹N°›</a:t>
            </a:fld>
            <a:endParaRPr lang="ar-DZ"/>
          </a:p>
        </p:txBody>
      </p:sp>
    </p:spTree>
    <p:extLst>
      <p:ext uri="{BB962C8B-B14F-4D97-AF65-F5344CB8AC3E}">
        <p14:creationId xmlns:p14="http://schemas.microsoft.com/office/powerpoint/2010/main" val="3957741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AF490-8DC7-459A-8B10-B8FD96D8798C}" type="datetimeFigureOut">
              <a:rPr lang="ar-DZ" smtClean="0"/>
              <a:t>29-04-1447</a:t>
            </a:fld>
            <a:endParaRPr lang="ar-D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D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3E568-C3CD-4030-A8D1-80ED7A9CE1FB}" type="slidenum">
              <a:rPr lang="ar-DZ" smtClean="0"/>
              <a:t>‹N°›</a:t>
            </a:fld>
            <a:endParaRPr lang="ar-DZ"/>
          </a:p>
        </p:txBody>
      </p:sp>
    </p:spTree>
    <p:extLst>
      <p:ext uri="{BB962C8B-B14F-4D97-AF65-F5344CB8AC3E}">
        <p14:creationId xmlns:p14="http://schemas.microsoft.com/office/powerpoint/2010/main" val="3765591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573AF490-8DC7-459A-8B10-B8FD96D8798C}" type="datetimeFigureOut">
              <a:rPr lang="ar-DZ" smtClean="0"/>
              <a:t>29-04-1447</a:t>
            </a:fld>
            <a:endParaRPr lang="ar-D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ar-D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B2C3E568-C3CD-4030-A8D1-80ED7A9CE1FB}" type="slidenum">
              <a:rPr lang="ar-DZ" smtClean="0"/>
              <a:t>‹N°›</a:t>
            </a:fld>
            <a:endParaRPr lang="ar-DZ"/>
          </a:p>
        </p:txBody>
      </p:sp>
    </p:spTree>
    <p:extLst>
      <p:ext uri="{BB962C8B-B14F-4D97-AF65-F5344CB8AC3E}">
        <p14:creationId xmlns:p14="http://schemas.microsoft.com/office/powerpoint/2010/main" val="40297575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62" r:id="rId1"/>
    <p:sldLayoutId id="2147483963" r:id="rId2"/>
    <p:sldLayoutId id="2147483964" r:id="rId3"/>
    <p:sldLayoutId id="2147483965" r:id="rId4"/>
    <p:sldLayoutId id="2147483966" r:id="rId5"/>
    <p:sldLayoutId id="2147483967" r:id="rId6"/>
    <p:sldLayoutId id="2147483968" r:id="rId7"/>
    <p:sldLayoutId id="2147483969" r:id="rId8"/>
    <p:sldLayoutId id="2147483970" r:id="rId9"/>
    <p:sldLayoutId id="2147483971" r:id="rId10"/>
    <p:sldLayoutId id="2147483972" r:id="rId11"/>
    <p:sldLayoutId id="2147483973" r:id="rId12"/>
    <p:sldLayoutId id="2147483974" r:id="rId13"/>
    <p:sldLayoutId id="2147483975" r:id="rId14"/>
    <p:sldLayoutId id="2147483976" r:id="rId15"/>
    <p:sldLayoutId id="2147483977" r:id="rId16"/>
    <p:sldLayoutId id="2147483978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webp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gi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981EFCC-58C9-88AE-D262-CDFFA69785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8165" y="615717"/>
            <a:ext cx="6759019" cy="5222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17532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85459-0A58-A3C8-7C5A-455620FE4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40">
            <a:extLst>
              <a:ext uri="{FF2B5EF4-FFF2-40B4-BE49-F238E27FC236}">
                <a16:creationId xmlns:a16="http://schemas.microsoft.com/office/drawing/2014/main" id="{C928EAD5-9512-5514-A8B1-9856B281BB90}"/>
              </a:ext>
            </a:extLst>
          </p:cNvPr>
          <p:cNvGrpSpPr/>
          <p:nvPr/>
        </p:nvGrpSpPr>
        <p:grpSpPr>
          <a:xfrm>
            <a:off x="5219369" y="6001019"/>
            <a:ext cx="1436591" cy="1155398"/>
            <a:chOff x="869787" y="4264250"/>
            <a:chExt cx="1921675" cy="1586134"/>
          </a:xfrm>
        </p:grpSpPr>
        <p:sp>
          <p:nvSpPr>
            <p:cNvPr id="2" name="شكل بيضاوي 16">
              <a:extLst>
                <a:ext uri="{FF2B5EF4-FFF2-40B4-BE49-F238E27FC236}">
                  <a16:creationId xmlns:a16="http://schemas.microsoft.com/office/drawing/2014/main" id="{8122BAE8-E232-3391-DED4-0AC627AAD6AC}"/>
                </a:ext>
              </a:extLst>
            </p:cNvPr>
            <p:cNvSpPr/>
            <p:nvPr/>
          </p:nvSpPr>
          <p:spPr>
            <a:xfrm>
              <a:off x="869787" y="5514852"/>
              <a:ext cx="1921675" cy="335532"/>
            </a:xfrm>
            <a:prstGeom prst="ellipse">
              <a:avLst/>
            </a:prstGeom>
            <a:gradFill flip="none" rotWithShape="1">
              <a:gsLst>
                <a:gs pos="100000">
                  <a:schemeClr val="bg1">
                    <a:lumMod val="95000"/>
                    <a:alpha val="50000"/>
                  </a:schemeClr>
                </a:gs>
                <a:gs pos="0">
                  <a:schemeClr val="tx1">
                    <a:alpha val="7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23" name="مربع نص 25">
              <a:extLst>
                <a:ext uri="{FF2B5EF4-FFF2-40B4-BE49-F238E27FC236}">
                  <a16:creationId xmlns:a16="http://schemas.microsoft.com/office/drawing/2014/main" id="{570D6817-A1E8-42B7-B018-ECB8C77FCFF7}"/>
                </a:ext>
              </a:extLst>
            </p:cNvPr>
            <p:cNvSpPr txBox="1"/>
            <p:nvPr/>
          </p:nvSpPr>
          <p:spPr>
            <a:xfrm>
              <a:off x="1168268" y="4264250"/>
              <a:ext cx="1304967" cy="9717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ar-DZ" sz="4000" b="1" dirty="0">
                  <a:solidFill>
                    <a:schemeClr val="bg1"/>
                  </a:solidFill>
                  <a:cs typeface="+mj-cs"/>
                </a:rPr>
                <a:t>04</a:t>
              </a:r>
              <a:endParaRPr lang="fr-FR" sz="4000" b="1" dirty="0">
                <a:solidFill>
                  <a:schemeClr val="bg1"/>
                </a:solidFill>
                <a:cs typeface="+mj-cs"/>
              </a:endParaRPr>
            </a:p>
          </p:txBody>
        </p:sp>
      </p:grpSp>
      <p:sp>
        <p:nvSpPr>
          <p:cNvPr id="50" name="Title 1">
            <a:extLst>
              <a:ext uri="{FF2B5EF4-FFF2-40B4-BE49-F238E27FC236}">
                <a16:creationId xmlns:a16="http://schemas.microsoft.com/office/drawing/2014/main" id="{7E67BA00-4C1C-22D7-39EF-0BE8CFE9D145}"/>
              </a:ext>
            </a:extLst>
          </p:cNvPr>
          <p:cNvSpPr txBox="1">
            <a:spLocks/>
          </p:cNvSpPr>
          <p:nvPr/>
        </p:nvSpPr>
        <p:spPr>
          <a:xfrm>
            <a:off x="983159" y="578496"/>
            <a:ext cx="7624690" cy="911849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 fontScale="90000" lnSpcReduction="10000"/>
          </a:bodyPr>
          <a:lstStyle>
            <a:lvl1pPr algn="l" defTabSz="457200" rtl="1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rtl="1" eaLnBrk="1" hangingPunct="1"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rtl="1" eaLnBrk="1" hangingPunct="1"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rtl="1" eaLnBrk="1" hangingPunct="1"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rtl="1" eaLnBrk="1" hangingPunct="1"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rtl="1" eaLnBrk="1" hangingPunct="1"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rtl="1" eaLnBrk="1" hangingPunct="1"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rtl="1" eaLnBrk="1" hangingPunct="1"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rtl="1" eaLnBrk="1" hangingPunct="1"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ar-DZ" sz="6000" dirty="0">
                <a:solidFill>
                  <a:srgbClr val="FFFF00"/>
                </a:solidFill>
                <a:cs typeface="Sultan Medium" pitchFamily="2" charset="-78"/>
              </a:rPr>
              <a:t>الوضعية الانطلاقية</a:t>
            </a:r>
          </a:p>
        </p:txBody>
      </p:sp>
      <p:sp>
        <p:nvSpPr>
          <p:cNvPr id="51" name="Title 1">
            <a:extLst>
              <a:ext uri="{FF2B5EF4-FFF2-40B4-BE49-F238E27FC236}">
                <a16:creationId xmlns:a16="http://schemas.microsoft.com/office/drawing/2014/main" id="{EF90F12E-6ECA-14A8-29BD-0EB6784065E1}"/>
              </a:ext>
            </a:extLst>
          </p:cNvPr>
          <p:cNvSpPr txBox="1">
            <a:spLocks/>
          </p:cNvSpPr>
          <p:nvPr/>
        </p:nvSpPr>
        <p:spPr>
          <a:xfrm>
            <a:off x="1036799" y="1909764"/>
            <a:ext cx="7624690" cy="911849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 fontScale="90000" lnSpcReduction="10000"/>
          </a:bodyPr>
          <a:lstStyle>
            <a:lvl1pPr algn="l" defTabSz="457200" rtl="1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rtl="1" eaLnBrk="1" hangingPunct="1"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rtl="1" eaLnBrk="1" hangingPunct="1"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rtl="1" eaLnBrk="1" hangingPunct="1"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rtl="1" eaLnBrk="1" hangingPunct="1"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rtl="1" eaLnBrk="1" hangingPunct="1"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rtl="1" eaLnBrk="1" hangingPunct="1"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rtl="1" eaLnBrk="1" hangingPunct="1"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rtl="1" eaLnBrk="1" hangingPunct="1"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ar-DZ" sz="6000" dirty="0">
                <a:solidFill>
                  <a:srgbClr val="FFFF00"/>
                </a:solidFill>
                <a:cs typeface="Sultan Medium" pitchFamily="2" charset="-78"/>
              </a:rPr>
              <a:t>المشكلة</a:t>
            </a:r>
          </a:p>
        </p:txBody>
      </p:sp>
      <p:sp>
        <p:nvSpPr>
          <p:cNvPr id="52" name="Title 1">
            <a:extLst>
              <a:ext uri="{FF2B5EF4-FFF2-40B4-BE49-F238E27FC236}">
                <a16:creationId xmlns:a16="http://schemas.microsoft.com/office/drawing/2014/main" id="{129770FF-31F3-E4D5-FBE1-39D5A1B5BB9C}"/>
              </a:ext>
            </a:extLst>
          </p:cNvPr>
          <p:cNvSpPr txBox="1">
            <a:spLocks/>
          </p:cNvSpPr>
          <p:nvPr/>
        </p:nvSpPr>
        <p:spPr>
          <a:xfrm>
            <a:off x="1046633" y="3429000"/>
            <a:ext cx="7624690" cy="911849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 fontScale="90000" lnSpcReduction="10000"/>
          </a:bodyPr>
          <a:lstStyle>
            <a:lvl1pPr algn="l" defTabSz="457200" rtl="1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rtl="1" eaLnBrk="1" hangingPunct="1"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rtl="1" eaLnBrk="1" hangingPunct="1"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rtl="1" eaLnBrk="1" hangingPunct="1"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rtl="1" eaLnBrk="1" hangingPunct="1"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rtl="1" eaLnBrk="1" hangingPunct="1"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rtl="1" eaLnBrk="1" hangingPunct="1"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rtl="1" eaLnBrk="1" hangingPunct="1"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rtl="1" eaLnBrk="1" hangingPunct="1"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ar-DZ" sz="6000" dirty="0">
                <a:solidFill>
                  <a:srgbClr val="FFFF00"/>
                </a:solidFill>
                <a:cs typeface="Sultan Medium" pitchFamily="2" charset="-78"/>
              </a:rPr>
              <a:t>الفرضيات ‘’سمكة اشيكاوا’’</a:t>
            </a:r>
          </a:p>
        </p:txBody>
      </p:sp>
      <p:grpSp>
        <p:nvGrpSpPr>
          <p:cNvPr id="3" name="Group 33">
            <a:extLst>
              <a:ext uri="{FF2B5EF4-FFF2-40B4-BE49-F238E27FC236}">
                <a16:creationId xmlns:a16="http://schemas.microsoft.com/office/drawing/2014/main" id="{5338AE98-77DD-CE90-BE92-96C9DE706A79}"/>
              </a:ext>
            </a:extLst>
          </p:cNvPr>
          <p:cNvGrpSpPr/>
          <p:nvPr/>
        </p:nvGrpSpPr>
        <p:grpSpPr>
          <a:xfrm>
            <a:off x="9227180" y="60286"/>
            <a:ext cx="2964820" cy="1948267"/>
            <a:chOff x="8537240" y="1907829"/>
            <a:chExt cx="3707911" cy="2849594"/>
          </a:xfrm>
        </p:grpSpPr>
        <p:grpSp>
          <p:nvGrpSpPr>
            <p:cNvPr id="4" name="مجموعة 37">
              <a:extLst>
                <a:ext uri="{FF2B5EF4-FFF2-40B4-BE49-F238E27FC236}">
                  <a16:creationId xmlns:a16="http://schemas.microsoft.com/office/drawing/2014/main" id="{DE47DD9F-E369-E8DB-FDE5-F6B600757DCB}"/>
                </a:ext>
              </a:extLst>
            </p:cNvPr>
            <p:cNvGrpSpPr/>
            <p:nvPr/>
          </p:nvGrpSpPr>
          <p:grpSpPr>
            <a:xfrm>
              <a:off x="9344168" y="1907829"/>
              <a:ext cx="2106820" cy="1811577"/>
              <a:chOff x="881347" y="1494478"/>
              <a:chExt cx="2465848" cy="2983873"/>
            </a:xfrm>
          </p:grpSpPr>
          <p:sp>
            <p:nvSpPr>
              <p:cNvPr id="10" name="مخطط انسيابي: مستند 3">
                <a:extLst>
                  <a:ext uri="{FF2B5EF4-FFF2-40B4-BE49-F238E27FC236}">
                    <a16:creationId xmlns:a16="http://schemas.microsoft.com/office/drawing/2014/main" id="{93D2DB13-8426-E51D-46DB-A055F58ECABB}"/>
                  </a:ext>
                </a:extLst>
              </p:cNvPr>
              <p:cNvSpPr/>
              <p:nvPr/>
            </p:nvSpPr>
            <p:spPr>
              <a:xfrm flipH="1" flipV="1">
                <a:off x="881347" y="1494478"/>
                <a:ext cx="2465848" cy="2983873"/>
              </a:xfrm>
              <a:prstGeom prst="flowChartDocumen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1" name="مربع نص 7">
                <a:extLst>
                  <a:ext uri="{FF2B5EF4-FFF2-40B4-BE49-F238E27FC236}">
                    <a16:creationId xmlns:a16="http://schemas.microsoft.com/office/drawing/2014/main" id="{C4B223C6-11BE-A882-ABC0-8806C65503E3}"/>
                  </a:ext>
                </a:extLst>
              </p:cNvPr>
              <p:cNvSpPr txBox="1"/>
              <p:nvPr/>
            </p:nvSpPr>
            <p:spPr>
              <a:xfrm>
                <a:off x="1032536" y="2848903"/>
                <a:ext cx="2291025" cy="15044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ar-DZ" sz="3600" b="1" dirty="0">
                    <a:solidFill>
                      <a:srgbClr val="FFFF00"/>
                    </a:solidFill>
                    <a:latin typeface="Calibri" panose="020F0502020204030204" pitchFamily="34" charset="0"/>
                    <a:cs typeface="Sultan Medium" pitchFamily="2" charset="-78"/>
                  </a:rPr>
                  <a:t>افتتاحية</a:t>
                </a:r>
                <a:endParaRPr lang="fr-FR" sz="3600" b="1" dirty="0">
                  <a:solidFill>
                    <a:srgbClr val="FFFF00"/>
                  </a:solidFill>
                  <a:latin typeface="Calibri" panose="020F0502020204030204" pitchFamily="34" charset="0"/>
                  <a:cs typeface="Sultan Medium" pitchFamily="2" charset="-78"/>
                </a:endParaRPr>
              </a:p>
            </p:txBody>
          </p:sp>
        </p:grpSp>
        <p:grpSp>
          <p:nvGrpSpPr>
            <p:cNvPr id="5" name="Group 32">
              <a:extLst>
                <a:ext uri="{FF2B5EF4-FFF2-40B4-BE49-F238E27FC236}">
                  <a16:creationId xmlns:a16="http://schemas.microsoft.com/office/drawing/2014/main" id="{192B4E52-2372-9325-CE00-577245257180}"/>
                </a:ext>
              </a:extLst>
            </p:cNvPr>
            <p:cNvGrpSpPr/>
            <p:nvPr/>
          </p:nvGrpSpPr>
          <p:grpSpPr>
            <a:xfrm>
              <a:off x="8537240" y="3378203"/>
              <a:ext cx="3707911" cy="1379220"/>
              <a:chOff x="8537240" y="3378203"/>
              <a:chExt cx="3707911" cy="1379220"/>
            </a:xfrm>
          </p:grpSpPr>
          <p:sp>
            <p:nvSpPr>
              <p:cNvPr id="6" name="مثلث قائم الزاوية 5">
                <a:extLst>
                  <a:ext uri="{FF2B5EF4-FFF2-40B4-BE49-F238E27FC236}">
                    <a16:creationId xmlns:a16="http://schemas.microsoft.com/office/drawing/2014/main" id="{E539A533-F1F1-4F01-63CC-A77FB296CA58}"/>
                  </a:ext>
                </a:extLst>
              </p:cNvPr>
              <p:cNvSpPr/>
              <p:nvPr/>
            </p:nvSpPr>
            <p:spPr>
              <a:xfrm>
                <a:off x="11471181" y="3378203"/>
                <a:ext cx="773970" cy="335531"/>
              </a:xfrm>
              <a:prstGeom prst="rtTriangl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7" name="مثلث قائم الزاوية 6">
                <a:extLst>
                  <a:ext uri="{FF2B5EF4-FFF2-40B4-BE49-F238E27FC236}">
                    <a16:creationId xmlns:a16="http://schemas.microsoft.com/office/drawing/2014/main" id="{A6A91D30-203B-40AA-215B-77E42D0C96D8}"/>
                  </a:ext>
                </a:extLst>
              </p:cNvPr>
              <p:cNvSpPr/>
              <p:nvPr/>
            </p:nvSpPr>
            <p:spPr>
              <a:xfrm flipH="1">
                <a:off x="8537240" y="3378203"/>
                <a:ext cx="773970" cy="335531"/>
              </a:xfrm>
              <a:prstGeom prst="rtTriangl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8" name="مثلث متساوي الساقين 4">
                <a:extLst>
                  <a:ext uri="{FF2B5EF4-FFF2-40B4-BE49-F238E27FC236}">
                    <a16:creationId xmlns:a16="http://schemas.microsoft.com/office/drawing/2014/main" id="{DAFB9795-4DEF-0EAB-A19F-EBD59E0C47FC}"/>
                  </a:ext>
                </a:extLst>
              </p:cNvPr>
              <p:cNvSpPr/>
              <p:nvPr/>
            </p:nvSpPr>
            <p:spPr>
              <a:xfrm flipV="1">
                <a:off x="8579972" y="3666944"/>
                <a:ext cx="3654761" cy="1090479"/>
              </a:xfrm>
              <a:prstGeom prst="triangl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9" name="مربع نص 15">
                <a:extLst>
                  <a:ext uri="{FF2B5EF4-FFF2-40B4-BE49-F238E27FC236}">
                    <a16:creationId xmlns:a16="http://schemas.microsoft.com/office/drawing/2014/main" id="{892500E3-D506-CA81-7778-6B2EA157598C}"/>
                  </a:ext>
                </a:extLst>
              </p:cNvPr>
              <p:cNvSpPr txBox="1"/>
              <p:nvPr/>
            </p:nvSpPr>
            <p:spPr>
              <a:xfrm>
                <a:off x="9763644" y="3412652"/>
                <a:ext cx="1304968" cy="10873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ar-MA" sz="4400" b="1" dirty="0">
                    <a:solidFill>
                      <a:schemeClr val="bg1"/>
                    </a:solidFill>
                    <a:cs typeface="+mj-cs"/>
                  </a:rPr>
                  <a:t>01</a:t>
                </a:r>
                <a:endParaRPr lang="fr-FR" sz="6000" b="1" dirty="0">
                  <a:solidFill>
                    <a:schemeClr val="bg1"/>
                  </a:solidFill>
                  <a:cs typeface="+mj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69786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51" grpId="0" animBg="1"/>
      <p:bldP spid="5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3413C1-5467-CFDD-FE3D-C3FA0D4EB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45CCD31-12D6-8A48-B622-D92F0F05E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8543" y="-29775"/>
            <a:ext cx="1873788" cy="1072960"/>
          </a:xfrm>
          <a:solidFill>
            <a:srgbClr val="FFFF00"/>
          </a:solidFill>
        </p:spPr>
        <p:txBody>
          <a:bodyPr>
            <a:normAutofit/>
          </a:bodyPr>
          <a:lstStyle/>
          <a:p>
            <a:pPr algn="r" rtl="1"/>
            <a:r>
              <a:rPr lang="ar-DZ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تأمل </a:t>
            </a:r>
            <a:endParaRPr lang="fr-FR" dirty="0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4FD38E0-6119-C8B3-0328-D1231B8863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887027" y="1120531"/>
            <a:ext cx="3618423" cy="709972"/>
          </a:xfrm>
          <a:solidFill>
            <a:srgbClr val="00AA48"/>
          </a:solidFill>
        </p:spPr>
        <p:txBody>
          <a:bodyPr/>
          <a:lstStyle/>
          <a:p>
            <a:pPr algn="ctr"/>
            <a:r>
              <a:rPr lang="ar-DZ" sz="3600" dirty="0">
                <a:latin typeface="Arial" panose="020B0604020202020204" pitchFamily="34" charset="0"/>
                <a:cs typeface="Arial" panose="020B0604020202020204" pitchFamily="34" charset="0"/>
              </a:rPr>
              <a:t>التوزيع السنوي المعد</a:t>
            </a:r>
            <a:endParaRPr lang="fr-FR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1" name="Tableau 10">
            <a:extLst>
              <a:ext uri="{FF2B5EF4-FFF2-40B4-BE49-F238E27FC236}">
                <a16:creationId xmlns:a16="http://schemas.microsoft.com/office/drawing/2014/main" id="{5C7547FD-08D5-288C-3B85-93B082E7FE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6706612"/>
              </p:ext>
            </p:extLst>
          </p:nvPr>
        </p:nvGraphicFramePr>
        <p:xfrm>
          <a:off x="5456115" y="1938229"/>
          <a:ext cx="6735885" cy="4900806"/>
        </p:xfrm>
        <a:graphic>
          <a:graphicData uri="http://schemas.openxmlformats.org/drawingml/2006/table">
            <a:tbl>
              <a:tblPr rtl="1" firstRow="1" firstCol="1" bandRow="1">
                <a:tableStyleId>{22838BEF-8BB2-4498-84A7-C5851F593DF1}</a:tableStyleId>
              </a:tblPr>
              <a:tblGrid>
                <a:gridCol w="559677">
                  <a:extLst>
                    <a:ext uri="{9D8B030D-6E8A-4147-A177-3AD203B41FA5}">
                      <a16:colId xmlns:a16="http://schemas.microsoft.com/office/drawing/2014/main" val="1650530683"/>
                    </a:ext>
                  </a:extLst>
                </a:gridCol>
                <a:gridCol w="384230">
                  <a:extLst>
                    <a:ext uri="{9D8B030D-6E8A-4147-A177-3AD203B41FA5}">
                      <a16:colId xmlns:a16="http://schemas.microsoft.com/office/drawing/2014/main" val="318917354"/>
                    </a:ext>
                  </a:extLst>
                </a:gridCol>
                <a:gridCol w="744718">
                  <a:extLst>
                    <a:ext uri="{9D8B030D-6E8A-4147-A177-3AD203B41FA5}">
                      <a16:colId xmlns:a16="http://schemas.microsoft.com/office/drawing/2014/main" val="2050734533"/>
                    </a:ext>
                  </a:extLst>
                </a:gridCol>
                <a:gridCol w="657426">
                  <a:extLst>
                    <a:ext uri="{9D8B030D-6E8A-4147-A177-3AD203B41FA5}">
                      <a16:colId xmlns:a16="http://schemas.microsoft.com/office/drawing/2014/main" val="1074739408"/>
                    </a:ext>
                  </a:extLst>
                </a:gridCol>
                <a:gridCol w="1368866">
                  <a:extLst>
                    <a:ext uri="{9D8B030D-6E8A-4147-A177-3AD203B41FA5}">
                      <a16:colId xmlns:a16="http://schemas.microsoft.com/office/drawing/2014/main" val="517807434"/>
                    </a:ext>
                  </a:extLst>
                </a:gridCol>
                <a:gridCol w="1072676">
                  <a:extLst>
                    <a:ext uri="{9D8B030D-6E8A-4147-A177-3AD203B41FA5}">
                      <a16:colId xmlns:a16="http://schemas.microsoft.com/office/drawing/2014/main" val="1632118291"/>
                    </a:ext>
                  </a:extLst>
                </a:gridCol>
                <a:gridCol w="1320507">
                  <a:extLst>
                    <a:ext uri="{9D8B030D-6E8A-4147-A177-3AD203B41FA5}">
                      <a16:colId xmlns:a16="http://schemas.microsoft.com/office/drawing/2014/main" val="2549207149"/>
                    </a:ext>
                  </a:extLst>
                </a:gridCol>
                <a:gridCol w="627785">
                  <a:extLst>
                    <a:ext uri="{9D8B030D-6E8A-4147-A177-3AD203B41FA5}">
                      <a16:colId xmlns:a16="http://schemas.microsoft.com/office/drawing/2014/main" val="1690978591"/>
                    </a:ext>
                  </a:extLst>
                </a:gridCol>
              </a:tblGrid>
              <a:tr h="297858">
                <a:tc rowSpan="4">
                  <a:txBody>
                    <a:bodyPr/>
                    <a:lstStyle/>
                    <a:p>
                      <a:pPr marL="71755" marR="71755"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  <a:tabLst>
                          <a:tab pos="5890260" algn="l"/>
                        </a:tabLst>
                      </a:pPr>
                      <a:r>
                        <a:rPr lang="ar-SA" sz="2800" dirty="0" err="1">
                          <a:solidFill>
                            <a:srgbClr val="FF0000"/>
                          </a:solidFill>
                          <a:effectLst/>
                        </a:rPr>
                        <a:t>افريل</a:t>
                      </a:r>
                      <a:endParaRPr lang="fr-FR" sz="14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254" marR="50254" marT="0" marB="0" vert="vert27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  <a:tabLst>
                          <a:tab pos="5890260" algn="l"/>
                        </a:tabLst>
                      </a:pPr>
                      <a:r>
                        <a:rPr lang="ar-SA" sz="1800" dirty="0">
                          <a:solidFill>
                            <a:srgbClr val="0000FF"/>
                          </a:solidFill>
                          <a:effectLst/>
                        </a:rPr>
                        <a:t>01</a:t>
                      </a:r>
                      <a:endParaRPr lang="fr-FR" sz="1400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254" marR="50254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  <a:tabLst>
                          <a:tab pos="5890260" algn="l"/>
                        </a:tabLst>
                      </a:pPr>
                      <a:r>
                        <a:rPr lang="ar-SA" sz="1400" dirty="0">
                          <a:effectLst/>
                        </a:rPr>
                        <a:t>02 - 06</a:t>
                      </a:r>
                      <a:endParaRPr lang="fr-F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254" marR="50254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  <a:tabLst>
                          <a:tab pos="5890260" algn="l"/>
                        </a:tabLst>
                      </a:pPr>
                      <a:r>
                        <a:rPr lang="ar-SA" sz="1400">
                          <a:effectLst/>
                        </a:rPr>
                        <a:t> 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254" marR="50254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  <a:tabLst>
                          <a:tab pos="5890260" algn="l"/>
                        </a:tabLst>
                      </a:pPr>
                      <a:r>
                        <a:rPr lang="ar-SA" sz="1400">
                          <a:effectLst/>
                        </a:rPr>
                        <a:t>الاعتلالات المناعية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254" marR="50254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  <a:tabLst>
                          <a:tab pos="5890260" algn="l"/>
                        </a:tabLst>
                      </a:pPr>
                      <a:r>
                        <a:rPr lang="ar-SA" sz="1600">
                          <a:effectLst/>
                        </a:rPr>
                        <a:t>الحساسية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254" marR="50254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  <a:tabLst>
                          <a:tab pos="5890260" algn="l"/>
                        </a:tabLst>
                      </a:pPr>
                      <a:r>
                        <a:rPr lang="ar-SA" sz="1600" dirty="0">
                          <a:effectLst/>
                        </a:rPr>
                        <a:t>اللقاحات </a:t>
                      </a:r>
                      <a:endParaRPr lang="ar-DZ" sz="1600" dirty="0">
                        <a:effectLst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  <a:tabLst>
                          <a:tab pos="5890260" algn="l"/>
                        </a:tabLst>
                      </a:pPr>
                      <a:r>
                        <a:rPr lang="ar-SA" sz="1600" dirty="0">
                          <a:effectLst/>
                        </a:rPr>
                        <a:t>و الأمصال</a:t>
                      </a:r>
                      <a:endParaRPr lang="fr-F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254" marR="50254" marT="0" marB="0" anchor="ctr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  <a:tabLst>
                          <a:tab pos="5890260" algn="l"/>
                        </a:tabLst>
                      </a:pPr>
                      <a:endParaRPr lang="fr-F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254" marR="50254" marT="0" marB="0" anchor="ctr"/>
                </a:tc>
                <a:extLst>
                  <a:ext uri="{0D108BD9-81ED-4DB2-BD59-A6C34878D82A}">
                    <a16:rowId xmlns:a16="http://schemas.microsoft.com/office/drawing/2014/main" val="2425634148"/>
                  </a:ext>
                </a:extLst>
              </a:tr>
              <a:tr h="297858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  <a:tabLst>
                          <a:tab pos="5890260" algn="l"/>
                        </a:tabLst>
                      </a:pPr>
                      <a:r>
                        <a:rPr lang="ar-SA" sz="1800" dirty="0">
                          <a:solidFill>
                            <a:srgbClr val="0000FF"/>
                          </a:solidFill>
                          <a:effectLst/>
                        </a:rPr>
                        <a:t>02</a:t>
                      </a:r>
                      <a:endParaRPr lang="fr-FR" sz="1400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254" marR="50254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  <a:tabLst>
                          <a:tab pos="5890260" algn="l"/>
                        </a:tabLst>
                      </a:pPr>
                      <a:r>
                        <a:rPr lang="ar-SA" sz="1400">
                          <a:effectLst/>
                        </a:rPr>
                        <a:t>09 - 13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254" marR="50254" marT="0" marB="0" anchor="ctr"/>
                </a:tc>
                <a:tc rowSpan="6"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ar-SA" sz="2800" dirty="0">
                          <a:solidFill>
                            <a:srgbClr val="FF0000"/>
                          </a:solidFill>
                          <a:effectLst/>
                        </a:rPr>
                        <a:t>التكاثر وانتقال الصفات الوراثية</a:t>
                      </a:r>
                      <a:endParaRPr lang="fr-FR" sz="1400" dirty="0">
                        <a:solidFill>
                          <a:srgbClr val="FF0000"/>
                        </a:solidFill>
                        <a:effectLst/>
                      </a:endParaRPr>
                    </a:p>
                    <a:p>
                      <a:pPr marL="71755" marR="71755"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  <a:tabLst>
                          <a:tab pos="5890260" algn="l"/>
                        </a:tabLst>
                      </a:pPr>
                      <a:endParaRPr lang="fr-F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254" marR="50254" marT="0" marB="0" vert="vert270" anchor="ctr"/>
                </a:tc>
                <a:tc rowSpan="3"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  <a:tabLst>
                          <a:tab pos="5890260" algn="l"/>
                        </a:tabLst>
                      </a:pPr>
                      <a:r>
                        <a:rPr lang="ar-SA" sz="1400" dirty="0">
                          <a:effectLst/>
                        </a:rPr>
                        <a:t>تشكل</a:t>
                      </a:r>
                      <a:endParaRPr lang="ar-DZ" sz="1400" dirty="0">
                        <a:effectLst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  <a:tabLst>
                          <a:tab pos="5890260" algn="l"/>
                        </a:tabLst>
                      </a:pPr>
                      <a:r>
                        <a:rPr lang="ar-SA" sz="1400" dirty="0">
                          <a:effectLst/>
                        </a:rPr>
                        <a:t> الأمشاج والالقاح</a:t>
                      </a:r>
                      <a:endParaRPr lang="fr-F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254" marR="50254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  <a:tabLst>
                          <a:tab pos="5890260" algn="l"/>
                        </a:tabLst>
                      </a:pPr>
                      <a:r>
                        <a:rPr lang="ar-SA" sz="1600">
                          <a:effectLst/>
                        </a:rPr>
                        <a:t>إدماج (اتصال عصبي)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254" marR="50254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  <a:tabLst>
                          <a:tab pos="5890260" algn="l"/>
                        </a:tabLst>
                      </a:pPr>
                      <a:r>
                        <a:rPr lang="ar-SA" sz="1600">
                          <a:effectLst/>
                        </a:rPr>
                        <a:t>إدماج-(مناعة)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254" marR="50254" marT="0" marB="0" anchor="ctr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  <a:tabLst>
                          <a:tab pos="5890260" algn="l"/>
                        </a:tabLst>
                      </a:pPr>
                      <a:r>
                        <a:rPr lang="fr-FR" sz="1800" dirty="0">
                          <a:effectLst/>
                        </a:rPr>
                        <a:t>80</a:t>
                      </a:r>
                      <a:r>
                        <a:rPr lang="fr-FR" sz="2400" dirty="0">
                          <a:effectLst/>
                        </a:rPr>
                        <a:t>%</a:t>
                      </a:r>
                      <a:endParaRPr lang="fr-F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254" marR="50254" marT="0" marB="0" anchor="ctr"/>
                </a:tc>
                <a:extLst>
                  <a:ext uri="{0D108BD9-81ED-4DB2-BD59-A6C34878D82A}">
                    <a16:rowId xmlns:a16="http://schemas.microsoft.com/office/drawing/2014/main" val="1860092348"/>
                  </a:ext>
                </a:extLst>
              </a:tr>
              <a:tr h="260626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  <a:tabLst>
                          <a:tab pos="5890260" algn="l"/>
                        </a:tabLst>
                      </a:pPr>
                      <a:r>
                        <a:rPr lang="ar-SA" sz="1800" dirty="0">
                          <a:solidFill>
                            <a:srgbClr val="0000FF"/>
                          </a:solidFill>
                          <a:effectLst/>
                        </a:rPr>
                        <a:t>03</a:t>
                      </a:r>
                      <a:endParaRPr lang="fr-FR" sz="1400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254" marR="50254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  <a:tabLst>
                          <a:tab pos="5890260" algn="l"/>
                        </a:tabLst>
                      </a:pPr>
                      <a:r>
                        <a:rPr lang="ar-SA" sz="1400">
                          <a:effectLst/>
                        </a:rPr>
                        <a:t>16 - 20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254" marR="50254" marT="0" marB="0" anchor="ctr"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  <a:tabLst>
                          <a:tab pos="5890260" algn="l"/>
                        </a:tabLst>
                      </a:pPr>
                      <a:r>
                        <a:rPr lang="ar-SA" sz="1600" dirty="0">
                          <a:effectLst/>
                        </a:rPr>
                        <a:t>مراحل تشكل </a:t>
                      </a:r>
                      <a:endParaRPr lang="ar-DZ" sz="1600" dirty="0">
                        <a:effectLst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  <a:tabLst>
                          <a:tab pos="5890260" algn="l"/>
                        </a:tabLst>
                      </a:pPr>
                      <a:r>
                        <a:rPr lang="ar-SA" sz="1600" dirty="0">
                          <a:effectLst/>
                        </a:rPr>
                        <a:t>الأمشاج الذكرية</a:t>
                      </a:r>
                      <a:endParaRPr lang="fr-F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254" marR="50254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  <a:tabLst>
                          <a:tab pos="5890260" algn="l"/>
                        </a:tabLst>
                      </a:pPr>
                      <a:r>
                        <a:rPr lang="ar-SA" sz="1600">
                          <a:effectLst/>
                        </a:rPr>
                        <a:t>مراحل تشكل الأمشاج الأنثوية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254" marR="50254" marT="0" marB="0" anchor="ctr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  <a:tabLst>
                          <a:tab pos="5890260" algn="l"/>
                        </a:tabLst>
                      </a:pPr>
                      <a:r>
                        <a:rPr lang="fr-FR" sz="1800">
                          <a:effectLst/>
                        </a:rPr>
                        <a:t>84%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254" marR="50254" marT="0" marB="0" anchor="ctr"/>
                </a:tc>
                <a:extLst>
                  <a:ext uri="{0D108BD9-81ED-4DB2-BD59-A6C34878D82A}">
                    <a16:rowId xmlns:a16="http://schemas.microsoft.com/office/drawing/2014/main" val="3700313903"/>
                  </a:ext>
                </a:extLst>
              </a:tr>
              <a:tr h="260626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  <a:tabLst>
                          <a:tab pos="5890260" algn="l"/>
                        </a:tabLst>
                      </a:pPr>
                      <a:r>
                        <a:rPr lang="ar-SA" sz="1800" dirty="0">
                          <a:solidFill>
                            <a:srgbClr val="0000FF"/>
                          </a:solidFill>
                          <a:effectLst/>
                        </a:rPr>
                        <a:t>04</a:t>
                      </a:r>
                      <a:endParaRPr lang="fr-FR" sz="1400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254" marR="50254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  <a:tabLst>
                          <a:tab pos="5890260" algn="l"/>
                        </a:tabLst>
                      </a:pPr>
                      <a:r>
                        <a:rPr lang="ar-SA" sz="1400">
                          <a:effectLst/>
                        </a:rPr>
                        <a:t>23 - 27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254" marR="50254" marT="0" marB="0" anchor="ctr"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  <a:tabLst>
                          <a:tab pos="5890260" algn="l"/>
                        </a:tabLst>
                      </a:pPr>
                      <a:r>
                        <a:rPr lang="ar-SA" sz="1600">
                          <a:effectLst/>
                        </a:rPr>
                        <a:t>سلوك الصبغيات والنمط النووي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254" marR="50254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  <a:tabLst>
                          <a:tab pos="5890260" algn="l"/>
                        </a:tabLst>
                      </a:pPr>
                      <a:r>
                        <a:rPr lang="ar-SA" sz="1600">
                          <a:effectLst/>
                        </a:rPr>
                        <a:t>الالقاح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254" marR="50254" marT="0" marB="0" anchor="ctr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  <a:tabLst>
                          <a:tab pos="5890260" algn="l"/>
                        </a:tabLst>
                      </a:pPr>
                      <a:r>
                        <a:rPr lang="fr-FR" sz="1600">
                          <a:effectLst/>
                        </a:rPr>
                        <a:t>90%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254" marR="50254" marT="0" marB="0" anchor="ctr"/>
                </a:tc>
                <a:extLst>
                  <a:ext uri="{0D108BD9-81ED-4DB2-BD59-A6C34878D82A}">
                    <a16:rowId xmlns:a16="http://schemas.microsoft.com/office/drawing/2014/main" val="2282648887"/>
                  </a:ext>
                </a:extLst>
              </a:tr>
              <a:tr h="626655">
                <a:tc rowSpan="3">
                  <a:txBody>
                    <a:bodyPr/>
                    <a:lstStyle/>
                    <a:p>
                      <a:pPr marL="71755" marR="71755"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  <a:tabLst>
                          <a:tab pos="5890260" algn="l"/>
                        </a:tabLst>
                      </a:pPr>
                      <a:r>
                        <a:rPr lang="ar-SA" sz="2800" dirty="0">
                          <a:solidFill>
                            <a:srgbClr val="FF0000"/>
                          </a:solidFill>
                          <a:effectLst/>
                        </a:rPr>
                        <a:t>ماي</a:t>
                      </a:r>
                      <a:endParaRPr lang="fr-FR" sz="14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254" marR="50254" marT="0" marB="0" vert="vert27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  <a:tabLst>
                          <a:tab pos="5890260" algn="l"/>
                        </a:tabLst>
                      </a:pPr>
                      <a:r>
                        <a:rPr lang="ar-SA" sz="1800" dirty="0">
                          <a:solidFill>
                            <a:srgbClr val="0000FF"/>
                          </a:solidFill>
                          <a:effectLst/>
                        </a:rPr>
                        <a:t>01</a:t>
                      </a:r>
                      <a:endParaRPr lang="fr-FR" sz="1400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254" marR="50254" marT="0" marB="0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  <a:tabLst>
                          <a:tab pos="5890260" algn="l"/>
                        </a:tabLst>
                      </a:pPr>
                      <a:r>
                        <a:rPr lang="ar-SA" sz="1400">
                          <a:effectLst/>
                        </a:rPr>
                        <a:t>30 – 04 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254" marR="50254" marT="0" marB="0"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ar-SA" sz="1600" dirty="0">
                          <a:effectLst/>
                        </a:rPr>
                        <a:t>الدعامة الوراثية </a:t>
                      </a:r>
                      <a:endParaRPr lang="ar-DZ" sz="1600" dirty="0">
                        <a:effectLst/>
                      </a:endParaRPr>
                    </a:p>
                    <a:p>
                      <a:pPr algn="ctr" rtl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ar-SA" sz="1600" dirty="0">
                          <a:effectLst/>
                        </a:rPr>
                        <a:t>لانتقال الصفات  </a:t>
                      </a:r>
                      <a:endParaRPr lang="fr-F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254" marR="50254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  <a:tabLst>
                          <a:tab pos="5890260" algn="l"/>
                        </a:tabLst>
                      </a:pPr>
                      <a:r>
                        <a:rPr lang="ar-SA" sz="1600">
                          <a:effectLst/>
                        </a:rPr>
                        <a:t>النمط الظاهري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254" marR="50254" marT="0" marB="0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  <a:tabLst>
                          <a:tab pos="5890260" algn="l"/>
                        </a:tabLst>
                      </a:pPr>
                      <a:r>
                        <a:rPr lang="ar-SA" sz="1600">
                          <a:effectLst/>
                        </a:rPr>
                        <a:t>الدعامة الوراثية لانتقال الصفات  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254" marR="50254" marT="0" marB="0"/>
                </a:tc>
                <a:tc>
                  <a:txBody>
                    <a:bodyPr/>
                    <a:lstStyle/>
                    <a:p>
                      <a:pPr algn="r" rtl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  <a:tabLst>
                          <a:tab pos="5890260" algn="l"/>
                        </a:tabLst>
                      </a:pPr>
                      <a:r>
                        <a:rPr lang="fr-FR" sz="1600">
                          <a:effectLst/>
                        </a:rPr>
                        <a:t>94%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254" marR="50254" marT="0" marB="0"/>
                </a:tc>
                <a:extLst>
                  <a:ext uri="{0D108BD9-81ED-4DB2-BD59-A6C34878D82A}">
                    <a16:rowId xmlns:a16="http://schemas.microsoft.com/office/drawing/2014/main" val="2222562695"/>
                  </a:ext>
                </a:extLst>
              </a:tr>
              <a:tr h="626655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  <a:tabLst>
                          <a:tab pos="5890260" algn="l"/>
                        </a:tabLst>
                      </a:pPr>
                      <a:r>
                        <a:rPr lang="ar-SA" sz="1800" dirty="0">
                          <a:solidFill>
                            <a:srgbClr val="0000FF"/>
                          </a:solidFill>
                          <a:effectLst/>
                        </a:rPr>
                        <a:t>02</a:t>
                      </a:r>
                      <a:endParaRPr lang="fr-FR" sz="1400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254" marR="50254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  <a:tabLst>
                          <a:tab pos="5890260" algn="l"/>
                        </a:tabLst>
                      </a:pPr>
                      <a:r>
                        <a:rPr lang="ar-SA" sz="1400">
                          <a:effectLst/>
                        </a:rPr>
                        <a:t>07 - 11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254" marR="50254" marT="0" marB="0" anchor="ctr"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ar-SA" sz="1600">
                          <a:effectLst/>
                        </a:rPr>
                        <a:t>الاختلالات الوراثية </a:t>
                      </a:r>
                      <a:endParaRPr lang="fr-FR" sz="1400">
                        <a:effectLst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  <a:tabLst>
                          <a:tab pos="5890260" algn="l"/>
                        </a:tabLst>
                      </a:pPr>
                      <a:r>
                        <a:rPr lang="ar-SA" sz="1600">
                          <a:effectLst/>
                        </a:rPr>
                        <a:t> 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254" marR="50254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  <a:tabLst>
                          <a:tab pos="5890260" algn="l"/>
                        </a:tabLst>
                      </a:pPr>
                      <a:r>
                        <a:rPr lang="ar-SA" sz="1600">
                          <a:effectLst/>
                        </a:rPr>
                        <a:t>الاعتلالات الكروموزومية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254" marR="50254" marT="0" marB="0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  <a:tabLst>
                          <a:tab pos="5890260" algn="l"/>
                        </a:tabLst>
                      </a:pPr>
                      <a:r>
                        <a:rPr lang="ar-SA" sz="1600">
                          <a:effectLst/>
                        </a:rPr>
                        <a:t>بعض الأمراض الوراثية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254" marR="50254" marT="0" marB="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  <a:tabLst>
                          <a:tab pos="5890260" algn="l"/>
                        </a:tabLst>
                      </a:pPr>
                      <a:r>
                        <a:rPr lang="fr-FR" sz="1600">
                          <a:effectLst/>
                        </a:rPr>
                        <a:t>98%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254" marR="50254" marT="0" marB="0"/>
                </a:tc>
                <a:extLst>
                  <a:ext uri="{0D108BD9-81ED-4DB2-BD59-A6C34878D82A}">
                    <a16:rowId xmlns:a16="http://schemas.microsoft.com/office/drawing/2014/main" val="1414169109"/>
                  </a:ext>
                </a:extLst>
              </a:tr>
              <a:tr h="260626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  <a:tabLst>
                          <a:tab pos="5890260" algn="l"/>
                        </a:tabLst>
                      </a:pPr>
                      <a:r>
                        <a:rPr lang="ar-SA" sz="1800" dirty="0">
                          <a:solidFill>
                            <a:srgbClr val="0000FF"/>
                          </a:solidFill>
                          <a:effectLst/>
                        </a:rPr>
                        <a:t>03</a:t>
                      </a:r>
                      <a:endParaRPr lang="fr-FR" sz="1400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254" marR="50254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  <a:tabLst>
                          <a:tab pos="5890260" algn="l"/>
                        </a:tabLst>
                      </a:pPr>
                      <a:r>
                        <a:rPr lang="ar-SA" sz="1400">
                          <a:effectLst/>
                        </a:rPr>
                        <a:t>14 - 18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254" marR="50254" marT="0" marB="0" anchor="ctr"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  <a:tabLst>
                          <a:tab pos="5890260" algn="l"/>
                        </a:tabLst>
                      </a:pPr>
                      <a:r>
                        <a:rPr lang="ar-SA" sz="1600" dirty="0">
                          <a:effectLst/>
                        </a:rPr>
                        <a:t>اختبار الثلاثي الثالث</a:t>
                      </a:r>
                      <a:endParaRPr lang="fr-F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254" marR="50254" marT="0" marB="0" anchor="ctr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8771915"/>
                  </a:ext>
                </a:extLst>
              </a:tr>
            </a:tbl>
          </a:graphicData>
        </a:graphic>
      </p:graphicFrame>
      <p:sp>
        <p:nvSpPr>
          <p:cNvPr id="12" name="Espace réservé du texte 4">
            <a:extLst>
              <a:ext uri="{FF2B5EF4-FFF2-40B4-BE49-F238E27FC236}">
                <a16:creationId xmlns:a16="http://schemas.microsoft.com/office/drawing/2014/main" id="{FB6D47F6-D791-DF59-4D78-74BDF979476B}"/>
              </a:ext>
            </a:extLst>
          </p:cNvPr>
          <p:cNvSpPr txBox="1">
            <a:spLocks/>
          </p:cNvSpPr>
          <p:nvPr/>
        </p:nvSpPr>
        <p:spPr>
          <a:xfrm>
            <a:off x="0" y="1151401"/>
            <a:ext cx="5217136" cy="709972"/>
          </a:xfrm>
          <a:prstGeom prst="rect">
            <a:avLst/>
          </a:prstGeom>
          <a:solidFill>
            <a:srgbClr val="00AA48"/>
          </a:solidFill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400" b="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000" b="1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b="1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b="1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b="1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b="1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b="1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b="1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b="1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ar-DZ" sz="3600" dirty="0">
                <a:latin typeface="Arial" panose="020B0604020202020204" pitchFamily="34" charset="0"/>
                <a:cs typeface="Arial" panose="020B0604020202020204" pitchFamily="34" charset="0"/>
              </a:rPr>
              <a:t>متابعة تنفيذ المنهاج 30 أفريل</a:t>
            </a:r>
            <a:endParaRPr lang="fr-FR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E81E19F3-2FE9-4370-C735-BE9B4A9155D2}"/>
              </a:ext>
            </a:extLst>
          </p:cNvPr>
          <p:cNvSpPr txBox="1">
            <a:spLocks/>
          </p:cNvSpPr>
          <p:nvPr/>
        </p:nvSpPr>
        <p:spPr bwMode="auto">
          <a:xfrm>
            <a:off x="4397868" y="29201"/>
            <a:ext cx="5718518" cy="1008112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headEnd/>
            <a:tailEnd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1"/>
            <a:r>
              <a:rPr lang="ar-DZ" sz="6000" dirty="0">
                <a:solidFill>
                  <a:srgbClr val="FFFF00"/>
                </a:solidFill>
                <a:cs typeface="+mj-cs"/>
              </a:rPr>
              <a:t>1- الوضعية الانطلاقية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3E0A17C7-D6B9-40E6-B3FC-9DA499077C5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280" r="-1" b="1244"/>
          <a:stretch>
            <a:fillRect/>
          </a:stretch>
        </p:blipFill>
        <p:spPr>
          <a:xfrm>
            <a:off x="98322" y="1938719"/>
            <a:ext cx="5427407" cy="4812644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C940EA94-3EB5-FB50-6D4A-D06C2A736245}"/>
              </a:ext>
            </a:extLst>
          </p:cNvPr>
          <p:cNvSpPr txBox="1">
            <a:spLocks/>
          </p:cNvSpPr>
          <p:nvPr/>
        </p:nvSpPr>
        <p:spPr>
          <a:xfrm>
            <a:off x="245805" y="1977558"/>
            <a:ext cx="3451123" cy="4649384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Autofit/>
          </a:bodyPr>
          <a:lstStyle>
            <a:lvl1pPr algn="l" defTabSz="457200" rtl="1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rtl="1" eaLnBrk="1" hangingPunct="1"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rtl="1" eaLnBrk="1" hangingPunct="1"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rtl="1" eaLnBrk="1" hangingPunct="1"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rtl="1" eaLnBrk="1" hangingPunct="1"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rtl="1" eaLnBrk="1" hangingPunct="1"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rtl="1" eaLnBrk="1" hangingPunct="1"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rtl="1" eaLnBrk="1" hangingPunct="1"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rtl="1" eaLnBrk="1" hangingPunct="1"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ar-DZ" sz="4800" dirty="0">
                <a:solidFill>
                  <a:srgbClr val="FFFF00"/>
                </a:solidFill>
                <a:cs typeface="+mj-cs"/>
              </a:rPr>
              <a:t>هذه المتوسطات لم أتلقى منها الرد على المراسلة أو وصلت متأخرة</a:t>
            </a:r>
          </a:p>
          <a:p>
            <a:pPr algn="ctr"/>
            <a:r>
              <a:rPr lang="ar-DZ" sz="4800" dirty="0">
                <a:solidFill>
                  <a:srgbClr val="FFFF00"/>
                </a:solidFill>
                <a:cs typeface="+mj-cs"/>
              </a:rPr>
              <a:t>‘’المنسق’’</a:t>
            </a:r>
          </a:p>
        </p:txBody>
      </p:sp>
      <p:grpSp>
        <p:nvGrpSpPr>
          <p:cNvPr id="3" name="Group 33">
            <a:extLst>
              <a:ext uri="{FF2B5EF4-FFF2-40B4-BE49-F238E27FC236}">
                <a16:creationId xmlns:a16="http://schemas.microsoft.com/office/drawing/2014/main" id="{11CDC542-BFC3-E3AE-A2AF-A79A4E6FC360}"/>
              </a:ext>
            </a:extLst>
          </p:cNvPr>
          <p:cNvGrpSpPr/>
          <p:nvPr/>
        </p:nvGrpSpPr>
        <p:grpSpPr>
          <a:xfrm>
            <a:off x="9564969" y="150717"/>
            <a:ext cx="2964820" cy="1948267"/>
            <a:chOff x="8537240" y="1907829"/>
            <a:chExt cx="3707911" cy="2849594"/>
          </a:xfrm>
        </p:grpSpPr>
        <p:grpSp>
          <p:nvGrpSpPr>
            <p:cNvPr id="4" name="مجموعة 37">
              <a:extLst>
                <a:ext uri="{FF2B5EF4-FFF2-40B4-BE49-F238E27FC236}">
                  <a16:creationId xmlns:a16="http://schemas.microsoft.com/office/drawing/2014/main" id="{05864988-D9E0-16CC-9F37-F2F0B9745BD3}"/>
                </a:ext>
              </a:extLst>
            </p:cNvPr>
            <p:cNvGrpSpPr/>
            <p:nvPr/>
          </p:nvGrpSpPr>
          <p:grpSpPr>
            <a:xfrm>
              <a:off x="9344168" y="1907829"/>
              <a:ext cx="2106820" cy="1811577"/>
              <a:chOff x="881347" y="1494478"/>
              <a:chExt cx="2465848" cy="2983873"/>
            </a:xfrm>
          </p:grpSpPr>
          <p:sp>
            <p:nvSpPr>
              <p:cNvPr id="28" name="مخطط انسيابي: مستند 3">
                <a:extLst>
                  <a:ext uri="{FF2B5EF4-FFF2-40B4-BE49-F238E27FC236}">
                    <a16:creationId xmlns:a16="http://schemas.microsoft.com/office/drawing/2014/main" id="{6B844BA1-CE4B-6498-D481-69C970478666}"/>
                  </a:ext>
                </a:extLst>
              </p:cNvPr>
              <p:cNvSpPr/>
              <p:nvPr/>
            </p:nvSpPr>
            <p:spPr>
              <a:xfrm flipH="1" flipV="1">
                <a:off x="881347" y="1494478"/>
                <a:ext cx="2465848" cy="2983873"/>
              </a:xfrm>
              <a:prstGeom prst="flowChartDocumen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29" name="مربع نص 7">
                <a:extLst>
                  <a:ext uri="{FF2B5EF4-FFF2-40B4-BE49-F238E27FC236}">
                    <a16:creationId xmlns:a16="http://schemas.microsoft.com/office/drawing/2014/main" id="{B74A3AE4-16AC-05D0-B090-E4B6309228E2}"/>
                  </a:ext>
                </a:extLst>
              </p:cNvPr>
              <p:cNvSpPr txBox="1"/>
              <p:nvPr/>
            </p:nvSpPr>
            <p:spPr>
              <a:xfrm>
                <a:off x="1032536" y="2848903"/>
                <a:ext cx="2291025" cy="15044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ar-DZ" sz="3600" b="1" dirty="0">
                    <a:solidFill>
                      <a:srgbClr val="FFFF00"/>
                    </a:solidFill>
                    <a:latin typeface="Calibri" panose="020F0502020204030204" pitchFamily="34" charset="0"/>
                    <a:cs typeface="Sultan Medium" pitchFamily="2" charset="-78"/>
                  </a:rPr>
                  <a:t>افتتاحية</a:t>
                </a:r>
                <a:endParaRPr lang="fr-FR" sz="3600" b="1" dirty="0">
                  <a:solidFill>
                    <a:srgbClr val="FFFF00"/>
                  </a:solidFill>
                  <a:latin typeface="Calibri" panose="020F0502020204030204" pitchFamily="34" charset="0"/>
                  <a:cs typeface="Sultan Medium" pitchFamily="2" charset="-78"/>
                </a:endParaRPr>
              </a:p>
            </p:txBody>
          </p:sp>
        </p:grpSp>
        <p:grpSp>
          <p:nvGrpSpPr>
            <p:cNvPr id="6" name="Group 32">
              <a:extLst>
                <a:ext uri="{FF2B5EF4-FFF2-40B4-BE49-F238E27FC236}">
                  <a16:creationId xmlns:a16="http://schemas.microsoft.com/office/drawing/2014/main" id="{40F7D803-894A-291F-5CA7-37E2605D672E}"/>
                </a:ext>
              </a:extLst>
            </p:cNvPr>
            <p:cNvGrpSpPr/>
            <p:nvPr/>
          </p:nvGrpSpPr>
          <p:grpSpPr>
            <a:xfrm>
              <a:off x="8537240" y="3378203"/>
              <a:ext cx="3707911" cy="1379220"/>
              <a:chOff x="8537240" y="3378203"/>
              <a:chExt cx="3707911" cy="1379220"/>
            </a:xfrm>
          </p:grpSpPr>
          <p:sp>
            <p:nvSpPr>
              <p:cNvPr id="9" name="مثلث قائم الزاوية 5">
                <a:extLst>
                  <a:ext uri="{FF2B5EF4-FFF2-40B4-BE49-F238E27FC236}">
                    <a16:creationId xmlns:a16="http://schemas.microsoft.com/office/drawing/2014/main" id="{E10FA9DB-CE20-F8C0-8BE8-313CB0E6A2BF}"/>
                  </a:ext>
                </a:extLst>
              </p:cNvPr>
              <p:cNvSpPr/>
              <p:nvPr/>
            </p:nvSpPr>
            <p:spPr>
              <a:xfrm>
                <a:off x="11471181" y="3378203"/>
                <a:ext cx="773970" cy="335531"/>
              </a:xfrm>
              <a:prstGeom prst="rtTriangl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0" name="مثلث قائم الزاوية 6">
                <a:extLst>
                  <a:ext uri="{FF2B5EF4-FFF2-40B4-BE49-F238E27FC236}">
                    <a16:creationId xmlns:a16="http://schemas.microsoft.com/office/drawing/2014/main" id="{81E51A36-5596-80FD-3A08-46FAD0BB0DE8}"/>
                  </a:ext>
                </a:extLst>
              </p:cNvPr>
              <p:cNvSpPr/>
              <p:nvPr/>
            </p:nvSpPr>
            <p:spPr>
              <a:xfrm flipH="1">
                <a:off x="8537240" y="3378203"/>
                <a:ext cx="773970" cy="335531"/>
              </a:xfrm>
              <a:prstGeom prst="rtTriangl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26" name="مثلث متساوي الساقين 4">
                <a:extLst>
                  <a:ext uri="{FF2B5EF4-FFF2-40B4-BE49-F238E27FC236}">
                    <a16:creationId xmlns:a16="http://schemas.microsoft.com/office/drawing/2014/main" id="{8DA8861A-BA55-2F1E-62AE-3CB2CE13AE2E}"/>
                  </a:ext>
                </a:extLst>
              </p:cNvPr>
              <p:cNvSpPr/>
              <p:nvPr/>
            </p:nvSpPr>
            <p:spPr>
              <a:xfrm flipV="1">
                <a:off x="8579972" y="3666944"/>
                <a:ext cx="3654761" cy="1090479"/>
              </a:xfrm>
              <a:prstGeom prst="triangl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27" name="مربع نص 15">
                <a:extLst>
                  <a:ext uri="{FF2B5EF4-FFF2-40B4-BE49-F238E27FC236}">
                    <a16:creationId xmlns:a16="http://schemas.microsoft.com/office/drawing/2014/main" id="{58D0D512-80D5-933D-B093-8318865B01A2}"/>
                  </a:ext>
                </a:extLst>
              </p:cNvPr>
              <p:cNvSpPr txBox="1"/>
              <p:nvPr/>
            </p:nvSpPr>
            <p:spPr>
              <a:xfrm>
                <a:off x="9763644" y="3412652"/>
                <a:ext cx="1304968" cy="10873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ar-MA" sz="4400" b="1" dirty="0">
                    <a:solidFill>
                      <a:schemeClr val="bg1"/>
                    </a:solidFill>
                    <a:cs typeface="+mj-cs"/>
                  </a:rPr>
                  <a:t>01</a:t>
                </a:r>
                <a:endParaRPr lang="fr-FR" sz="6000" b="1" dirty="0">
                  <a:solidFill>
                    <a:schemeClr val="bg1"/>
                  </a:solidFill>
                  <a:cs typeface="+mj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95635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build="p" animBg="1"/>
      <p:bldP spid="12" grpId="0" animBg="1"/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2272B8-5589-D720-681F-46E85D087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D7E9CC-0A56-F449-9C2B-D285F6502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8543" y="-29775"/>
            <a:ext cx="1873788" cy="1072960"/>
          </a:xfrm>
          <a:solidFill>
            <a:srgbClr val="FFFF00"/>
          </a:solidFill>
        </p:spPr>
        <p:txBody>
          <a:bodyPr>
            <a:normAutofit/>
          </a:bodyPr>
          <a:lstStyle/>
          <a:p>
            <a:pPr algn="r" rtl="1"/>
            <a:r>
              <a:rPr lang="ar-DZ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تأمل </a:t>
            </a:r>
            <a:endParaRPr lang="fr-FR" dirty="0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751CDBF-6099-2159-9DD3-3F36000178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887027" y="1120531"/>
            <a:ext cx="3618423" cy="709972"/>
          </a:xfrm>
          <a:solidFill>
            <a:srgbClr val="00AA48"/>
          </a:solidFill>
        </p:spPr>
        <p:txBody>
          <a:bodyPr/>
          <a:lstStyle/>
          <a:p>
            <a:pPr algn="ctr"/>
            <a:r>
              <a:rPr lang="ar-DZ" sz="3600" dirty="0">
                <a:latin typeface="Arial" panose="020B0604020202020204" pitchFamily="34" charset="0"/>
                <a:cs typeface="Arial" panose="020B0604020202020204" pitchFamily="34" charset="0"/>
              </a:rPr>
              <a:t>التوزيع السنوي المعد</a:t>
            </a:r>
            <a:endParaRPr lang="fr-FR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1" name="Tableau 10">
            <a:extLst>
              <a:ext uri="{FF2B5EF4-FFF2-40B4-BE49-F238E27FC236}">
                <a16:creationId xmlns:a16="http://schemas.microsoft.com/office/drawing/2014/main" id="{693C17F1-7DA4-B179-777A-14DDACD71D68}"/>
              </a:ext>
            </a:extLst>
          </p:cNvPr>
          <p:cNvGraphicFramePr>
            <a:graphicFrameLocks noGrp="1"/>
          </p:cNvGraphicFramePr>
          <p:nvPr/>
        </p:nvGraphicFramePr>
        <p:xfrm>
          <a:off x="5456115" y="1977557"/>
          <a:ext cx="6735885" cy="4773806"/>
        </p:xfrm>
        <a:graphic>
          <a:graphicData uri="http://schemas.openxmlformats.org/drawingml/2006/table">
            <a:tbl>
              <a:tblPr rtl="1" firstRow="1" firstCol="1" bandRow="1">
                <a:tableStyleId>{22838BEF-8BB2-4498-84A7-C5851F593DF1}</a:tableStyleId>
              </a:tblPr>
              <a:tblGrid>
                <a:gridCol w="559677">
                  <a:extLst>
                    <a:ext uri="{9D8B030D-6E8A-4147-A177-3AD203B41FA5}">
                      <a16:colId xmlns:a16="http://schemas.microsoft.com/office/drawing/2014/main" val="1650530683"/>
                    </a:ext>
                  </a:extLst>
                </a:gridCol>
                <a:gridCol w="384230">
                  <a:extLst>
                    <a:ext uri="{9D8B030D-6E8A-4147-A177-3AD203B41FA5}">
                      <a16:colId xmlns:a16="http://schemas.microsoft.com/office/drawing/2014/main" val="318917354"/>
                    </a:ext>
                  </a:extLst>
                </a:gridCol>
                <a:gridCol w="744718">
                  <a:extLst>
                    <a:ext uri="{9D8B030D-6E8A-4147-A177-3AD203B41FA5}">
                      <a16:colId xmlns:a16="http://schemas.microsoft.com/office/drawing/2014/main" val="2050734533"/>
                    </a:ext>
                  </a:extLst>
                </a:gridCol>
                <a:gridCol w="657426">
                  <a:extLst>
                    <a:ext uri="{9D8B030D-6E8A-4147-A177-3AD203B41FA5}">
                      <a16:colId xmlns:a16="http://schemas.microsoft.com/office/drawing/2014/main" val="1074739408"/>
                    </a:ext>
                  </a:extLst>
                </a:gridCol>
                <a:gridCol w="1368866">
                  <a:extLst>
                    <a:ext uri="{9D8B030D-6E8A-4147-A177-3AD203B41FA5}">
                      <a16:colId xmlns:a16="http://schemas.microsoft.com/office/drawing/2014/main" val="517807434"/>
                    </a:ext>
                  </a:extLst>
                </a:gridCol>
                <a:gridCol w="1072676">
                  <a:extLst>
                    <a:ext uri="{9D8B030D-6E8A-4147-A177-3AD203B41FA5}">
                      <a16:colId xmlns:a16="http://schemas.microsoft.com/office/drawing/2014/main" val="1632118291"/>
                    </a:ext>
                  </a:extLst>
                </a:gridCol>
                <a:gridCol w="1320507">
                  <a:extLst>
                    <a:ext uri="{9D8B030D-6E8A-4147-A177-3AD203B41FA5}">
                      <a16:colId xmlns:a16="http://schemas.microsoft.com/office/drawing/2014/main" val="2549207149"/>
                    </a:ext>
                  </a:extLst>
                </a:gridCol>
                <a:gridCol w="627785">
                  <a:extLst>
                    <a:ext uri="{9D8B030D-6E8A-4147-A177-3AD203B41FA5}">
                      <a16:colId xmlns:a16="http://schemas.microsoft.com/office/drawing/2014/main" val="1690978591"/>
                    </a:ext>
                  </a:extLst>
                </a:gridCol>
              </a:tblGrid>
              <a:tr h="297858">
                <a:tc rowSpan="4">
                  <a:txBody>
                    <a:bodyPr/>
                    <a:lstStyle/>
                    <a:p>
                      <a:pPr marL="71755" marR="71755"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  <a:tabLst>
                          <a:tab pos="5890260" algn="l"/>
                        </a:tabLst>
                      </a:pPr>
                      <a:r>
                        <a:rPr lang="ar-SA" sz="2800" dirty="0" err="1">
                          <a:solidFill>
                            <a:srgbClr val="FF0000"/>
                          </a:solidFill>
                          <a:effectLst/>
                        </a:rPr>
                        <a:t>افريل</a:t>
                      </a:r>
                      <a:endParaRPr lang="fr-FR" sz="14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254" marR="50254" marT="0" marB="0" vert="vert27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  <a:tabLst>
                          <a:tab pos="5890260" algn="l"/>
                        </a:tabLst>
                      </a:pPr>
                      <a:r>
                        <a:rPr lang="ar-SA" sz="1800" dirty="0">
                          <a:solidFill>
                            <a:srgbClr val="0000FF"/>
                          </a:solidFill>
                          <a:effectLst/>
                        </a:rPr>
                        <a:t>01</a:t>
                      </a:r>
                      <a:endParaRPr lang="fr-FR" sz="1400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254" marR="50254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  <a:tabLst>
                          <a:tab pos="5890260" algn="l"/>
                        </a:tabLst>
                      </a:pPr>
                      <a:r>
                        <a:rPr lang="ar-SA" sz="1400" dirty="0">
                          <a:effectLst/>
                        </a:rPr>
                        <a:t>02 - 06</a:t>
                      </a:r>
                      <a:endParaRPr lang="fr-F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254" marR="50254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  <a:tabLst>
                          <a:tab pos="5890260" algn="l"/>
                        </a:tabLst>
                      </a:pPr>
                      <a:r>
                        <a:rPr lang="ar-SA" sz="1400">
                          <a:effectLst/>
                        </a:rPr>
                        <a:t> 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254" marR="50254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  <a:tabLst>
                          <a:tab pos="5890260" algn="l"/>
                        </a:tabLst>
                      </a:pPr>
                      <a:r>
                        <a:rPr lang="ar-SA" sz="1400">
                          <a:effectLst/>
                        </a:rPr>
                        <a:t>الاعتلالات المناعية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254" marR="50254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  <a:tabLst>
                          <a:tab pos="5890260" algn="l"/>
                        </a:tabLst>
                      </a:pPr>
                      <a:r>
                        <a:rPr lang="ar-SA" sz="1600">
                          <a:effectLst/>
                        </a:rPr>
                        <a:t>الحساسية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254" marR="50254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  <a:tabLst>
                          <a:tab pos="5890260" algn="l"/>
                        </a:tabLst>
                      </a:pPr>
                      <a:r>
                        <a:rPr lang="ar-SA" sz="1600" dirty="0">
                          <a:effectLst/>
                        </a:rPr>
                        <a:t>اللقاحات و الأمصال</a:t>
                      </a:r>
                      <a:endParaRPr lang="fr-F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254" marR="50254" marT="0" marB="0" anchor="ctr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  <a:tabLst>
                          <a:tab pos="5890260" algn="l"/>
                        </a:tabLst>
                      </a:pPr>
                      <a:endParaRPr lang="fr-F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254" marR="50254" marT="0" marB="0" anchor="ctr"/>
                </a:tc>
                <a:extLst>
                  <a:ext uri="{0D108BD9-81ED-4DB2-BD59-A6C34878D82A}">
                    <a16:rowId xmlns:a16="http://schemas.microsoft.com/office/drawing/2014/main" val="2425634148"/>
                  </a:ext>
                </a:extLst>
              </a:tr>
              <a:tr h="297858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  <a:tabLst>
                          <a:tab pos="5890260" algn="l"/>
                        </a:tabLst>
                      </a:pPr>
                      <a:r>
                        <a:rPr lang="ar-SA" sz="1800" dirty="0">
                          <a:solidFill>
                            <a:srgbClr val="0000FF"/>
                          </a:solidFill>
                          <a:effectLst/>
                        </a:rPr>
                        <a:t>02</a:t>
                      </a:r>
                      <a:endParaRPr lang="fr-FR" sz="1400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254" marR="50254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  <a:tabLst>
                          <a:tab pos="5890260" algn="l"/>
                        </a:tabLst>
                      </a:pPr>
                      <a:r>
                        <a:rPr lang="ar-SA" sz="1400">
                          <a:effectLst/>
                        </a:rPr>
                        <a:t>09 - 13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254" marR="50254" marT="0" marB="0" anchor="ctr"/>
                </a:tc>
                <a:tc rowSpan="6"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ar-SA" sz="2800" dirty="0">
                          <a:solidFill>
                            <a:srgbClr val="FF0000"/>
                          </a:solidFill>
                          <a:effectLst/>
                        </a:rPr>
                        <a:t>التكاثر وانتقال الصفات الوراثية</a:t>
                      </a:r>
                      <a:endParaRPr lang="fr-FR" sz="1400" dirty="0">
                        <a:solidFill>
                          <a:srgbClr val="FF0000"/>
                        </a:solidFill>
                        <a:effectLst/>
                      </a:endParaRPr>
                    </a:p>
                    <a:p>
                      <a:pPr marL="71755" marR="71755"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  <a:tabLst>
                          <a:tab pos="5890260" algn="l"/>
                        </a:tabLst>
                      </a:pPr>
                      <a:endParaRPr lang="fr-F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254" marR="50254" marT="0" marB="0" vert="vert270" anchor="ctr"/>
                </a:tc>
                <a:tc rowSpan="3"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  <a:tabLst>
                          <a:tab pos="5890260" algn="l"/>
                        </a:tabLst>
                      </a:pPr>
                      <a:r>
                        <a:rPr lang="ar-SA" sz="1400" dirty="0">
                          <a:effectLst/>
                        </a:rPr>
                        <a:t>تشكل</a:t>
                      </a:r>
                      <a:endParaRPr lang="ar-DZ" sz="1400" dirty="0">
                        <a:effectLst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  <a:tabLst>
                          <a:tab pos="5890260" algn="l"/>
                        </a:tabLst>
                      </a:pPr>
                      <a:r>
                        <a:rPr lang="ar-SA" sz="1400" dirty="0">
                          <a:effectLst/>
                        </a:rPr>
                        <a:t> الأمشاج والالقاح</a:t>
                      </a:r>
                      <a:endParaRPr lang="fr-F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254" marR="50254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  <a:tabLst>
                          <a:tab pos="5890260" algn="l"/>
                        </a:tabLst>
                      </a:pPr>
                      <a:r>
                        <a:rPr lang="ar-SA" sz="1600">
                          <a:effectLst/>
                        </a:rPr>
                        <a:t>إدماج (اتصال عصبي)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254" marR="50254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  <a:tabLst>
                          <a:tab pos="5890260" algn="l"/>
                        </a:tabLst>
                      </a:pPr>
                      <a:r>
                        <a:rPr lang="ar-SA" sz="1600">
                          <a:effectLst/>
                        </a:rPr>
                        <a:t>إدماج-(مناعة)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254" marR="50254" marT="0" marB="0" anchor="ctr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  <a:tabLst>
                          <a:tab pos="5890260" algn="l"/>
                        </a:tabLst>
                      </a:pPr>
                      <a:r>
                        <a:rPr lang="fr-FR" sz="1800" dirty="0">
                          <a:effectLst/>
                        </a:rPr>
                        <a:t>80</a:t>
                      </a:r>
                      <a:r>
                        <a:rPr lang="fr-FR" sz="2400" dirty="0">
                          <a:effectLst/>
                        </a:rPr>
                        <a:t>%</a:t>
                      </a:r>
                      <a:endParaRPr lang="fr-F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254" marR="50254" marT="0" marB="0" anchor="ctr"/>
                </a:tc>
                <a:extLst>
                  <a:ext uri="{0D108BD9-81ED-4DB2-BD59-A6C34878D82A}">
                    <a16:rowId xmlns:a16="http://schemas.microsoft.com/office/drawing/2014/main" val="1860092348"/>
                  </a:ext>
                </a:extLst>
              </a:tr>
              <a:tr h="260626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  <a:tabLst>
                          <a:tab pos="5890260" algn="l"/>
                        </a:tabLst>
                      </a:pPr>
                      <a:r>
                        <a:rPr lang="ar-SA" sz="1800" dirty="0">
                          <a:solidFill>
                            <a:srgbClr val="0000FF"/>
                          </a:solidFill>
                          <a:effectLst/>
                        </a:rPr>
                        <a:t>03</a:t>
                      </a:r>
                      <a:endParaRPr lang="fr-FR" sz="1400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254" marR="50254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  <a:tabLst>
                          <a:tab pos="5890260" algn="l"/>
                        </a:tabLst>
                      </a:pPr>
                      <a:r>
                        <a:rPr lang="ar-SA" sz="1400">
                          <a:effectLst/>
                        </a:rPr>
                        <a:t>16 - 20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254" marR="50254" marT="0" marB="0" anchor="ctr"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  <a:tabLst>
                          <a:tab pos="5890260" algn="l"/>
                        </a:tabLst>
                      </a:pPr>
                      <a:r>
                        <a:rPr lang="ar-SA" sz="1600" dirty="0">
                          <a:effectLst/>
                        </a:rPr>
                        <a:t>مراحل تشكل </a:t>
                      </a:r>
                      <a:endParaRPr lang="ar-DZ" sz="1600" dirty="0">
                        <a:effectLst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  <a:tabLst>
                          <a:tab pos="5890260" algn="l"/>
                        </a:tabLst>
                      </a:pPr>
                      <a:r>
                        <a:rPr lang="ar-SA" sz="1600" dirty="0">
                          <a:effectLst/>
                        </a:rPr>
                        <a:t>الأمشاج الذكرية</a:t>
                      </a:r>
                      <a:endParaRPr lang="fr-F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254" marR="50254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  <a:tabLst>
                          <a:tab pos="5890260" algn="l"/>
                        </a:tabLst>
                      </a:pPr>
                      <a:r>
                        <a:rPr lang="ar-SA" sz="1600">
                          <a:effectLst/>
                        </a:rPr>
                        <a:t>مراحل تشكل الأمشاج الأنثوية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254" marR="50254" marT="0" marB="0" anchor="ctr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  <a:tabLst>
                          <a:tab pos="5890260" algn="l"/>
                        </a:tabLst>
                      </a:pPr>
                      <a:r>
                        <a:rPr lang="fr-FR" sz="1800">
                          <a:effectLst/>
                        </a:rPr>
                        <a:t>84%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254" marR="50254" marT="0" marB="0" anchor="ctr"/>
                </a:tc>
                <a:extLst>
                  <a:ext uri="{0D108BD9-81ED-4DB2-BD59-A6C34878D82A}">
                    <a16:rowId xmlns:a16="http://schemas.microsoft.com/office/drawing/2014/main" val="3700313903"/>
                  </a:ext>
                </a:extLst>
              </a:tr>
              <a:tr h="260626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  <a:tabLst>
                          <a:tab pos="5890260" algn="l"/>
                        </a:tabLst>
                      </a:pPr>
                      <a:r>
                        <a:rPr lang="ar-SA" sz="1800" dirty="0">
                          <a:solidFill>
                            <a:srgbClr val="0000FF"/>
                          </a:solidFill>
                          <a:effectLst/>
                        </a:rPr>
                        <a:t>04</a:t>
                      </a:r>
                      <a:endParaRPr lang="fr-FR" sz="1400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254" marR="50254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  <a:tabLst>
                          <a:tab pos="5890260" algn="l"/>
                        </a:tabLst>
                      </a:pPr>
                      <a:r>
                        <a:rPr lang="ar-SA" sz="1400">
                          <a:effectLst/>
                        </a:rPr>
                        <a:t>23 - 27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254" marR="50254" marT="0" marB="0" anchor="ctr"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  <a:tabLst>
                          <a:tab pos="5890260" algn="l"/>
                        </a:tabLst>
                      </a:pPr>
                      <a:r>
                        <a:rPr lang="ar-SA" sz="1600">
                          <a:effectLst/>
                        </a:rPr>
                        <a:t>سلوك الصبغيات والنمط النووي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254" marR="50254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  <a:tabLst>
                          <a:tab pos="5890260" algn="l"/>
                        </a:tabLst>
                      </a:pPr>
                      <a:r>
                        <a:rPr lang="ar-SA" sz="1600">
                          <a:effectLst/>
                        </a:rPr>
                        <a:t>الالقاح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254" marR="50254" marT="0" marB="0" anchor="ctr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  <a:tabLst>
                          <a:tab pos="5890260" algn="l"/>
                        </a:tabLst>
                      </a:pPr>
                      <a:r>
                        <a:rPr lang="fr-FR" sz="1600">
                          <a:effectLst/>
                        </a:rPr>
                        <a:t>90%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254" marR="50254" marT="0" marB="0" anchor="ctr"/>
                </a:tc>
                <a:extLst>
                  <a:ext uri="{0D108BD9-81ED-4DB2-BD59-A6C34878D82A}">
                    <a16:rowId xmlns:a16="http://schemas.microsoft.com/office/drawing/2014/main" val="2282648887"/>
                  </a:ext>
                </a:extLst>
              </a:tr>
              <a:tr h="626655">
                <a:tc rowSpan="3">
                  <a:txBody>
                    <a:bodyPr/>
                    <a:lstStyle/>
                    <a:p>
                      <a:pPr marL="71755" marR="71755"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  <a:tabLst>
                          <a:tab pos="5890260" algn="l"/>
                        </a:tabLst>
                      </a:pPr>
                      <a:r>
                        <a:rPr lang="ar-SA" sz="2800" dirty="0">
                          <a:solidFill>
                            <a:srgbClr val="FF0000"/>
                          </a:solidFill>
                          <a:effectLst/>
                        </a:rPr>
                        <a:t>ماي</a:t>
                      </a:r>
                      <a:endParaRPr lang="fr-FR" sz="14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254" marR="50254" marT="0" marB="0" vert="vert27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  <a:tabLst>
                          <a:tab pos="5890260" algn="l"/>
                        </a:tabLst>
                      </a:pPr>
                      <a:r>
                        <a:rPr lang="ar-SA" sz="1800" dirty="0">
                          <a:solidFill>
                            <a:srgbClr val="0000FF"/>
                          </a:solidFill>
                          <a:effectLst/>
                        </a:rPr>
                        <a:t>01</a:t>
                      </a:r>
                      <a:endParaRPr lang="fr-FR" sz="1400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254" marR="50254" marT="0" marB="0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  <a:tabLst>
                          <a:tab pos="5890260" algn="l"/>
                        </a:tabLst>
                      </a:pPr>
                      <a:r>
                        <a:rPr lang="ar-SA" sz="1400">
                          <a:effectLst/>
                        </a:rPr>
                        <a:t>30 – 04 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254" marR="50254" marT="0" marB="0"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ar-SA" sz="1600" dirty="0">
                          <a:effectLst/>
                        </a:rPr>
                        <a:t>الدعامة الوراثية </a:t>
                      </a:r>
                      <a:endParaRPr lang="ar-DZ" sz="1600" dirty="0">
                        <a:effectLst/>
                      </a:endParaRPr>
                    </a:p>
                    <a:p>
                      <a:pPr algn="ctr" rtl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ar-SA" sz="1600" dirty="0">
                          <a:effectLst/>
                        </a:rPr>
                        <a:t>لانتقال الصفات  </a:t>
                      </a:r>
                      <a:endParaRPr lang="fr-F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254" marR="50254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  <a:tabLst>
                          <a:tab pos="5890260" algn="l"/>
                        </a:tabLst>
                      </a:pPr>
                      <a:r>
                        <a:rPr lang="ar-SA" sz="1600">
                          <a:effectLst/>
                        </a:rPr>
                        <a:t>النمط الظاهري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254" marR="50254" marT="0" marB="0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  <a:tabLst>
                          <a:tab pos="5890260" algn="l"/>
                        </a:tabLst>
                      </a:pPr>
                      <a:r>
                        <a:rPr lang="ar-SA" sz="1600">
                          <a:effectLst/>
                        </a:rPr>
                        <a:t>الدعامة الوراثية لانتقال الصفات  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254" marR="50254" marT="0" marB="0"/>
                </a:tc>
                <a:tc>
                  <a:txBody>
                    <a:bodyPr/>
                    <a:lstStyle/>
                    <a:p>
                      <a:pPr algn="r" rtl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  <a:tabLst>
                          <a:tab pos="5890260" algn="l"/>
                        </a:tabLst>
                      </a:pPr>
                      <a:r>
                        <a:rPr lang="fr-FR" sz="1600">
                          <a:effectLst/>
                        </a:rPr>
                        <a:t>94%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254" marR="50254" marT="0" marB="0"/>
                </a:tc>
                <a:extLst>
                  <a:ext uri="{0D108BD9-81ED-4DB2-BD59-A6C34878D82A}">
                    <a16:rowId xmlns:a16="http://schemas.microsoft.com/office/drawing/2014/main" val="2222562695"/>
                  </a:ext>
                </a:extLst>
              </a:tr>
              <a:tr h="626655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  <a:tabLst>
                          <a:tab pos="5890260" algn="l"/>
                        </a:tabLst>
                      </a:pPr>
                      <a:r>
                        <a:rPr lang="ar-SA" sz="1800" dirty="0">
                          <a:solidFill>
                            <a:srgbClr val="0000FF"/>
                          </a:solidFill>
                          <a:effectLst/>
                        </a:rPr>
                        <a:t>02</a:t>
                      </a:r>
                      <a:endParaRPr lang="fr-FR" sz="1400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254" marR="50254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  <a:tabLst>
                          <a:tab pos="5890260" algn="l"/>
                        </a:tabLst>
                      </a:pPr>
                      <a:r>
                        <a:rPr lang="ar-SA" sz="1400">
                          <a:effectLst/>
                        </a:rPr>
                        <a:t>07 - 11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254" marR="50254" marT="0" marB="0" anchor="ctr"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ar-SA" sz="1600">
                          <a:effectLst/>
                        </a:rPr>
                        <a:t>الاختلالات الوراثية </a:t>
                      </a:r>
                      <a:endParaRPr lang="fr-FR" sz="1400">
                        <a:effectLst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  <a:tabLst>
                          <a:tab pos="5890260" algn="l"/>
                        </a:tabLst>
                      </a:pPr>
                      <a:r>
                        <a:rPr lang="ar-SA" sz="1600">
                          <a:effectLst/>
                        </a:rPr>
                        <a:t> 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254" marR="50254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  <a:tabLst>
                          <a:tab pos="5890260" algn="l"/>
                        </a:tabLst>
                      </a:pPr>
                      <a:r>
                        <a:rPr lang="ar-SA" sz="1600">
                          <a:effectLst/>
                        </a:rPr>
                        <a:t>الاعتلالات الكروموزومية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254" marR="50254" marT="0" marB="0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  <a:tabLst>
                          <a:tab pos="5890260" algn="l"/>
                        </a:tabLst>
                      </a:pPr>
                      <a:r>
                        <a:rPr lang="ar-SA" sz="1600">
                          <a:effectLst/>
                        </a:rPr>
                        <a:t>بعض الأمراض الوراثية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254" marR="50254" marT="0" marB="0"/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  <a:tabLst>
                          <a:tab pos="5890260" algn="l"/>
                        </a:tabLst>
                      </a:pPr>
                      <a:r>
                        <a:rPr lang="fr-FR" sz="1600">
                          <a:effectLst/>
                        </a:rPr>
                        <a:t>98%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254" marR="50254" marT="0" marB="0"/>
                </a:tc>
                <a:extLst>
                  <a:ext uri="{0D108BD9-81ED-4DB2-BD59-A6C34878D82A}">
                    <a16:rowId xmlns:a16="http://schemas.microsoft.com/office/drawing/2014/main" val="1414169109"/>
                  </a:ext>
                </a:extLst>
              </a:tr>
              <a:tr h="260626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  <a:tabLst>
                          <a:tab pos="5890260" algn="l"/>
                        </a:tabLst>
                      </a:pPr>
                      <a:r>
                        <a:rPr lang="ar-SA" sz="1800" dirty="0">
                          <a:solidFill>
                            <a:srgbClr val="0000FF"/>
                          </a:solidFill>
                          <a:effectLst/>
                        </a:rPr>
                        <a:t>03</a:t>
                      </a:r>
                      <a:endParaRPr lang="fr-FR" sz="1400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254" marR="50254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  <a:tabLst>
                          <a:tab pos="5890260" algn="l"/>
                        </a:tabLst>
                      </a:pPr>
                      <a:r>
                        <a:rPr lang="ar-SA" sz="1400">
                          <a:effectLst/>
                        </a:rPr>
                        <a:t>14 - 18</a:t>
                      </a:r>
                      <a:endParaRPr lang="fr-FR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254" marR="50254" marT="0" marB="0" anchor="ctr"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  <a:tabLst>
                          <a:tab pos="5890260" algn="l"/>
                        </a:tabLst>
                      </a:pPr>
                      <a:r>
                        <a:rPr lang="ar-SA" sz="1600" dirty="0">
                          <a:effectLst/>
                        </a:rPr>
                        <a:t>اختبار الثلاثي الثالث</a:t>
                      </a:r>
                      <a:endParaRPr lang="fr-FR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0254" marR="50254" marT="0" marB="0" anchor="ctr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8771915"/>
                  </a:ext>
                </a:extLst>
              </a:tr>
            </a:tbl>
          </a:graphicData>
        </a:graphic>
      </p:graphicFrame>
      <p:sp>
        <p:nvSpPr>
          <p:cNvPr id="12" name="Espace réservé du texte 4">
            <a:extLst>
              <a:ext uri="{FF2B5EF4-FFF2-40B4-BE49-F238E27FC236}">
                <a16:creationId xmlns:a16="http://schemas.microsoft.com/office/drawing/2014/main" id="{D72F50F1-A9F9-B087-4F5D-C3608A68F63E}"/>
              </a:ext>
            </a:extLst>
          </p:cNvPr>
          <p:cNvSpPr txBox="1">
            <a:spLocks/>
          </p:cNvSpPr>
          <p:nvPr/>
        </p:nvSpPr>
        <p:spPr>
          <a:xfrm>
            <a:off x="0" y="1151401"/>
            <a:ext cx="5217136" cy="709972"/>
          </a:xfrm>
          <a:prstGeom prst="rect">
            <a:avLst/>
          </a:prstGeom>
          <a:solidFill>
            <a:srgbClr val="00AA48"/>
          </a:solidFill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400" b="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000" b="1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b="1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b="1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b="1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b="1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b="1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b="1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b="1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ar-DZ" sz="3600" dirty="0">
                <a:latin typeface="Arial" panose="020B0604020202020204" pitchFamily="34" charset="0"/>
                <a:cs typeface="Arial" panose="020B0604020202020204" pitchFamily="34" charset="0"/>
              </a:rPr>
              <a:t>متابعة تنفيذ المنهاج 30 أفريل</a:t>
            </a:r>
            <a:endParaRPr lang="fr-FR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F5181248-41F8-1CF0-DFA2-01C95E710BE2}"/>
              </a:ext>
            </a:extLst>
          </p:cNvPr>
          <p:cNvSpPr txBox="1">
            <a:spLocks/>
          </p:cNvSpPr>
          <p:nvPr/>
        </p:nvSpPr>
        <p:spPr bwMode="auto">
          <a:xfrm>
            <a:off x="4397868" y="29201"/>
            <a:ext cx="5718518" cy="1008112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headEnd/>
            <a:tailEnd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1"/>
            <a:r>
              <a:rPr lang="ar-DZ" sz="6000" dirty="0">
                <a:solidFill>
                  <a:srgbClr val="FFFF00"/>
                </a:solidFill>
                <a:cs typeface="+mj-cs"/>
              </a:rPr>
              <a:t>1- الوضعية الانطلاقية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F49D0A3D-3507-6680-855B-3AA7EDCD0F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3658" y="1913721"/>
            <a:ext cx="5892490" cy="4851421"/>
          </a:xfrm>
          <a:prstGeom prst="rect">
            <a:avLst/>
          </a:prstGeom>
        </p:spPr>
      </p:pic>
      <p:grpSp>
        <p:nvGrpSpPr>
          <p:cNvPr id="3" name="Group 33">
            <a:extLst>
              <a:ext uri="{FF2B5EF4-FFF2-40B4-BE49-F238E27FC236}">
                <a16:creationId xmlns:a16="http://schemas.microsoft.com/office/drawing/2014/main" id="{225D6FB2-0472-7CFE-0A15-8FD7AA664B5E}"/>
              </a:ext>
            </a:extLst>
          </p:cNvPr>
          <p:cNvGrpSpPr/>
          <p:nvPr/>
        </p:nvGrpSpPr>
        <p:grpSpPr>
          <a:xfrm>
            <a:off x="9564969" y="150717"/>
            <a:ext cx="2964820" cy="1948267"/>
            <a:chOff x="8537240" y="1907829"/>
            <a:chExt cx="3707911" cy="2849594"/>
          </a:xfrm>
        </p:grpSpPr>
        <p:grpSp>
          <p:nvGrpSpPr>
            <p:cNvPr id="4" name="مجموعة 37">
              <a:extLst>
                <a:ext uri="{FF2B5EF4-FFF2-40B4-BE49-F238E27FC236}">
                  <a16:creationId xmlns:a16="http://schemas.microsoft.com/office/drawing/2014/main" id="{03EB83C2-58CC-48EC-0D38-C9573F1B69FB}"/>
                </a:ext>
              </a:extLst>
            </p:cNvPr>
            <p:cNvGrpSpPr/>
            <p:nvPr/>
          </p:nvGrpSpPr>
          <p:grpSpPr>
            <a:xfrm>
              <a:off x="9344168" y="1907829"/>
              <a:ext cx="2106820" cy="1811577"/>
              <a:chOff x="881347" y="1494478"/>
              <a:chExt cx="2465848" cy="2983873"/>
            </a:xfrm>
          </p:grpSpPr>
          <p:sp>
            <p:nvSpPr>
              <p:cNvPr id="27" name="مخطط انسيابي: مستند 3">
                <a:extLst>
                  <a:ext uri="{FF2B5EF4-FFF2-40B4-BE49-F238E27FC236}">
                    <a16:creationId xmlns:a16="http://schemas.microsoft.com/office/drawing/2014/main" id="{4E5EB777-A791-2DEB-2699-6AA450C518AE}"/>
                  </a:ext>
                </a:extLst>
              </p:cNvPr>
              <p:cNvSpPr/>
              <p:nvPr/>
            </p:nvSpPr>
            <p:spPr>
              <a:xfrm flipH="1" flipV="1">
                <a:off x="881347" y="1494478"/>
                <a:ext cx="2465848" cy="2983873"/>
              </a:xfrm>
              <a:prstGeom prst="flowChartDocumen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28" name="مربع نص 7">
                <a:extLst>
                  <a:ext uri="{FF2B5EF4-FFF2-40B4-BE49-F238E27FC236}">
                    <a16:creationId xmlns:a16="http://schemas.microsoft.com/office/drawing/2014/main" id="{A3C0BCCF-BE3D-D66F-FB71-AB7260767EBF}"/>
                  </a:ext>
                </a:extLst>
              </p:cNvPr>
              <p:cNvSpPr txBox="1"/>
              <p:nvPr/>
            </p:nvSpPr>
            <p:spPr>
              <a:xfrm>
                <a:off x="1032536" y="2848903"/>
                <a:ext cx="2291025" cy="15044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ar-DZ" sz="3600" b="1" dirty="0">
                    <a:solidFill>
                      <a:srgbClr val="FFFF00"/>
                    </a:solidFill>
                    <a:latin typeface="Calibri" panose="020F0502020204030204" pitchFamily="34" charset="0"/>
                    <a:cs typeface="Sultan Medium" pitchFamily="2" charset="-78"/>
                  </a:rPr>
                  <a:t>افتتاحية</a:t>
                </a:r>
                <a:endParaRPr lang="fr-FR" sz="3600" b="1" dirty="0">
                  <a:solidFill>
                    <a:srgbClr val="FFFF00"/>
                  </a:solidFill>
                  <a:latin typeface="Calibri" panose="020F0502020204030204" pitchFamily="34" charset="0"/>
                  <a:cs typeface="Sultan Medium" pitchFamily="2" charset="-78"/>
                </a:endParaRPr>
              </a:p>
            </p:txBody>
          </p:sp>
        </p:grpSp>
        <p:grpSp>
          <p:nvGrpSpPr>
            <p:cNvPr id="6" name="Group 32">
              <a:extLst>
                <a:ext uri="{FF2B5EF4-FFF2-40B4-BE49-F238E27FC236}">
                  <a16:creationId xmlns:a16="http://schemas.microsoft.com/office/drawing/2014/main" id="{E82E1419-900F-9FC8-1BE7-F33A46692C0A}"/>
                </a:ext>
              </a:extLst>
            </p:cNvPr>
            <p:cNvGrpSpPr/>
            <p:nvPr/>
          </p:nvGrpSpPr>
          <p:grpSpPr>
            <a:xfrm>
              <a:off x="8537240" y="3378203"/>
              <a:ext cx="3707911" cy="1379220"/>
              <a:chOff x="8537240" y="3378203"/>
              <a:chExt cx="3707911" cy="1379220"/>
            </a:xfrm>
          </p:grpSpPr>
          <p:sp>
            <p:nvSpPr>
              <p:cNvPr id="7" name="مثلث قائم الزاوية 5">
                <a:extLst>
                  <a:ext uri="{FF2B5EF4-FFF2-40B4-BE49-F238E27FC236}">
                    <a16:creationId xmlns:a16="http://schemas.microsoft.com/office/drawing/2014/main" id="{9D42C6AB-9587-EEE6-C5C1-3B6F85F156E4}"/>
                  </a:ext>
                </a:extLst>
              </p:cNvPr>
              <p:cNvSpPr/>
              <p:nvPr/>
            </p:nvSpPr>
            <p:spPr>
              <a:xfrm>
                <a:off x="11471181" y="3378203"/>
                <a:ext cx="773970" cy="335531"/>
              </a:xfrm>
              <a:prstGeom prst="rtTriangl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8" name="مثلث قائم الزاوية 6">
                <a:extLst>
                  <a:ext uri="{FF2B5EF4-FFF2-40B4-BE49-F238E27FC236}">
                    <a16:creationId xmlns:a16="http://schemas.microsoft.com/office/drawing/2014/main" id="{D196C421-F3E2-DEA5-FEEB-DBC4D06F8F4F}"/>
                  </a:ext>
                </a:extLst>
              </p:cNvPr>
              <p:cNvSpPr/>
              <p:nvPr/>
            </p:nvSpPr>
            <p:spPr>
              <a:xfrm flipH="1">
                <a:off x="8537240" y="3378203"/>
                <a:ext cx="773970" cy="335531"/>
              </a:xfrm>
              <a:prstGeom prst="rtTriangl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9" name="مثلث متساوي الساقين 4">
                <a:extLst>
                  <a:ext uri="{FF2B5EF4-FFF2-40B4-BE49-F238E27FC236}">
                    <a16:creationId xmlns:a16="http://schemas.microsoft.com/office/drawing/2014/main" id="{F487BFD9-B233-BEAD-DABD-3D1943F73FCF}"/>
                  </a:ext>
                </a:extLst>
              </p:cNvPr>
              <p:cNvSpPr/>
              <p:nvPr/>
            </p:nvSpPr>
            <p:spPr>
              <a:xfrm flipV="1">
                <a:off x="8579972" y="3666944"/>
                <a:ext cx="3654761" cy="1090479"/>
              </a:xfrm>
              <a:prstGeom prst="triangl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26" name="مربع نص 15">
                <a:extLst>
                  <a:ext uri="{FF2B5EF4-FFF2-40B4-BE49-F238E27FC236}">
                    <a16:creationId xmlns:a16="http://schemas.microsoft.com/office/drawing/2014/main" id="{A8A0C6ED-C33B-3784-5594-80ECAD1A38D0}"/>
                  </a:ext>
                </a:extLst>
              </p:cNvPr>
              <p:cNvSpPr txBox="1"/>
              <p:nvPr/>
            </p:nvSpPr>
            <p:spPr>
              <a:xfrm>
                <a:off x="9763644" y="3412652"/>
                <a:ext cx="1304968" cy="10873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ar-MA" sz="4400" b="1" dirty="0">
                    <a:solidFill>
                      <a:schemeClr val="bg1"/>
                    </a:solidFill>
                    <a:cs typeface="+mj-cs"/>
                  </a:rPr>
                  <a:t>01</a:t>
                </a:r>
                <a:endParaRPr lang="fr-FR" sz="6000" b="1" dirty="0">
                  <a:solidFill>
                    <a:schemeClr val="bg1"/>
                  </a:solidFill>
                  <a:cs typeface="+mj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56509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build="p" animBg="1"/>
      <p:bldP spid="1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EB1F1D-8293-D6D1-5120-80B7C2DFE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D74566C-0D60-9E29-81C7-552F2C84C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767" y="2404420"/>
            <a:ext cx="10982227" cy="2610639"/>
          </a:xfrm>
          <a:solidFill>
            <a:srgbClr val="FFFF00"/>
          </a:solidFill>
        </p:spPr>
        <p:txBody>
          <a:bodyPr>
            <a:normAutofit/>
          </a:bodyPr>
          <a:lstStyle/>
          <a:p>
            <a:pPr algn="r"/>
            <a:r>
              <a:rPr lang="ar-DZ" sz="6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لماذا لا يتمكن أستاذ ع ط ح من تنفيذ المنهاج حسب ما هو مخطط له ؟ س 4 </a:t>
            </a:r>
            <a:endParaRPr lang="fr-FR" sz="6000" dirty="0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AAB1B3BD-8E1A-733E-A351-A9E6D2C4E0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322132" y="612742"/>
            <a:ext cx="4204206" cy="1187778"/>
          </a:xfrm>
          <a:solidFill>
            <a:srgbClr val="00AA48"/>
          </a:solidFill>
        </p:spPr>
        <p:txBody>
          <a:bodyPr/>
          <a:lstStyle/>
          <a:p>
            <a:pPr algn="ctr"/>
            <a:r>
              <a:rPr lang="ar-DZ" sz="6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المشكلة</a:t>
            </a:r>
            <a:endParaRPr lang="fr-FR" sz="6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0" name="Group 33">
            <a:extLst>
              <a:ext uri="{FF2B5EF4-FFF2-40B4-BE49-F238E27FC236}">
                <a16:creationId xmlns:a16="http://schemas.microsoft.com/office/drawing/2014/main" id="{181D861A-1380-366B-E09E-8D97DCCB8A25}"/>
              </a:ext>
            </a:extLst>
          </p:cNvPr>
          <p:cNvGrpSpPr/>
          <p:nvPr/>
        </p:nvGrpSpPr>
        <p:grpSpPr>
          <a:xfrm>
            <a:off x="9564969" y="150717"/>
            <a:ext cx="2964820" cy="1948267"/>
            <a:chOff x="8537240" y="1907829"/>
            <a:chExt cx="3707911" cy="2849594"/>
          </a:xfrm>
        </p:grpSpPr>
        <p:grpSp>
          <p:nvGrpSpPr>
            <p:cNvPr id="13" name="مجموعة 37">
              <a:extLst>
                <a:ext uri="{FF2B5EF4-FFF2-40B4-BE49-F238E27FC236}">
                  <a16:creationId xmlns:a16="http://schemas.microsoft.com/office/drawing/2014/main" id="{97B14DEB-A782-4F82-1D33-E77646D41B95}"/>
                </a:ext>
              </a:extLst>
            </p:cNvPr>
            <p:cNvGrpSpPr/>
            <p:nvPr/>
          </p:nvGrpSpPr>
          <p:grpSpPr>
            <a:xfrm>
              <a:off x="9344168" y="1907829"/>
              <a:ext cx="2106820" cy="1811577"/>
              <a:chOff x="881347" y="1494478"/>
              <a:chExt cx="2465848" cy="2983873"/>
            </a:xfrm>
          </p:grpSpPr>
          <p:sp>
            <p:nvSpPr>
              <p:cNvPr id="19" name="مخطط انسيابي: مستند 3">
                <a:extLst>
                  <a:ext uri="{FF2B5EF4-FFF2-40B4-BE49-F238E27FC236}">
                    <a16:creationId xmlns:a16="http://schemas.microsoft.com/office/drawing/2014/main" id="{E82D51CD-47C2-1D25-C6EB-AC0FCDD549D6}"/>
                  </a:ext>
                </a:extLst>
              </p:cNvPr>
              <p:cNvSpPr/>
              <p:nvPr/>
            </p:nvSpPr>
            <p:spPr>
              <a:xfrm flipH="1" flipV="1">
                <a:off x="881347" y="1494478"/>
                <a:ext cx="2465848" cy="2983873"/>
              </a:xfrm>
              <a:prstGeom prst="flowChartDocumen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20" name="مربع نص 7">
                <a:extLst>
                  <a:ext uri="{FF2B5EF4-FFF2-40B4-BE49-F238E27FC236}">
                    <a16:creationId xmlns:a16="http://schemas.microsoft.com/office/drawing/2014/main" id="{41267E53-F9BF-516C-C5DF-D3F69BF15A4E}"/>
                  </a:ext>
                </a:extLst>
              </p:cNvPr>
              <p:cNvSpPr txBox="1"/>
              <p:nvPr/>
            </p:nvSpPr>
            <p:spPr>
              <a:xfrm>
                <a:off x="1032536" y="2848903"/>
                <a:ext cx="2291025" cy="15044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ar-DZ" sz="3600" b="1" dirty="0">
                    <a:solidFill>
                      <a:srgbClr val="FFFF00"/>
                    </a:solidFill>
                    <a:latin typeface="Calibri" panose="020F0502020204030204" pitchFamily="34" charset="0"/>
                    <a:cs typeface="Sultan Medium" pitchFamily="2" charset="-78"/>
                  </a:rPr>
                  <a:t>افتتاحية</a:t>
                </a:r>
                <a:endParaRPr lang="fr-FR" sz="3600" b="1" dirty="0">
                  <a:solidFill>
                    <a:srgbClr val="FFFF00"/>
                  </a:solidFill>
                  <a:latin typeface="Calibri" panose="020F0502020204030204" pitchFamily="34" charset="0"/>
                  <a:cs typeface="Sultan Medium" pitchFamily="2" charset="-78"/>
                </a:endParaRPr>
              </a:p>
            </p:txBody>
          </p:sp>
        </p:grpSp>
        <p:grpSp>
          <p:nvGrpSpPr>
            <p:cNvPr id="14" name="Group 32">
              <a:extLst>
                <a:ext uri="{FF2B5EF4-FFF2-40B4-BE49-F238E27FC236}">
                  <a16:creationId xmlns:a16="http://schemas.microsoft.com/office/drawing/2014/main" id="{9C9F1241-AC3F-74CB-9615-F0C4EA6A2EC5}"/>
                </a:ext>
              </a:extLst>
            </p:cNvPr>
            <p:cNvGrpSpPr/>
            <p:nvPr/>
          </p:nvGrpSpPr>
          <p:grpSpPr>
            <a:xfrm>
              <a:off x="8537240" y="3378203"/>
              <a:ext cx="3707911" cy="1379220"/>
              <a:chOff x="8537240" y="3378203"/>
              <a:chExt cx="3707911" cy="1379220"/>
            </a:xfrm>
          </p:grpSpPr>
          <p:sp>
            <p:nvSpPr>
              <p:cNvPr id="15" name="مثلث قائم الزاوية 5">
                <a:extLst>
                  <a:ext uri="{FF2B5EF4-FFF2-40B4-BE49-F238E27FC236}">
                    <a16:creationId xmlns:a16="http://schemas.microsoft.com/office/drawing/2014/main" id="{2E188461-CA41-B471-377C-A345FAC43C18}"/>
                  </a:ext>
                </a:extLst>
              </p:cNvPr>
              <p:cNvSpPr/>
              <p:nvPr/>
            </p:nvSpPr>
            <p:spPr>
              <a:xfrm>
                <a:off x="11471181" y="3378203"/>
                <a:ext cx="773970" cy="335531"/>
              </a:xfrm>
              <a:prstGeom prst="rtTriangl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6" name="مثلث قائم الزاوية 6">
                <a:extLst>
                  <a:ext uri="{FF2B5EF4-FFF2-40B4-BE49-F238E27FC236}">
                    <a16:creationId xmlns:a16="http://schemas.microsoft.com/office/drawing/2014/main" id="{4E3B5FED-E398-18DD-C4D8-E21BD48A50B2}"/>
                  </a:ext>
                </a:extLst>
              </p:cNvPr>
              <p:cNvSpPr/>
              <p:nvPr/>
            </p:nvSpPr>
            <p:spPr>
              <a:xfrm flipH="1">
                <a:off x="8537240" y="3378203"/>
                <a:ext cx="773970" cy="335531"/>
              </a:xfrm>
              <a:prstGeom prst="rtTriangl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7" name="مثلث متساوي الساقين 4">
                <a:extLst>
                  <a:ext uri="{FF2B5EF4-FFF2-40B4-BE49-F238E27FC236}">
                    <a16:creationId xmlns:a16="http://schemas.microsoft.com/office/drawing/2014/main" id="{CEEC877F-CEA4-DD46-C4A6-7061611A56A5}"/>
                  </a:ext>
                </a:extLst>
              </p:cNvPr>
              <p:cNvSpPr/>
              <p:nvPr/>
            </p:nvSpPr>
            <p:spPr>
              <a:xfrm flipV="1">
                <a:off x="8579972" y="3666944"/>
                <a:ext cx="3654761" cy="1090479"/>
              </a:xfrm>
              <a:prstGeom prst="triangl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8" name="مربع نص 15">
                <a:extLst>
                  <a:ext uri="{FF2B5EF4-FFF2-40B4-BE49-F238E27FC236}">
                    <a16:creationId xmlns:a16="http://schemas.microsoft.com/office/drawing/2014/main" id="{E1455670-1B83-9786-6230-B72A261A01AF}"/>
                  </a:ext>
                </a:extLst>
              </p:cNvPr>
              <p:cNvSpPr txBox="1"/>
              <p:nvPr/>
            </p:nvSpPr>
            <p:spPr>
              <a:xfrm>
                <a:off x="9763644" y="3412652"/>
                <a:ext cx="1304968" cy="10873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ar-MA" sz="4400" b="1" dirty="0">
                    <a:solidFill>
                      <a:schemeClr val="bg1"/>
                    </a:solidFill>
                    <a:cs typeface="+mj-cs"/>
                  </a:rPr>
                  <a:t>01</a:t>
                </a:r>
                <a:endParaRPr lang="fr-FR" sz="6000" b="1" dirty="0">
                  <a:solidFill>
                    <a:schemeClr val="bg1"/>
                  </a:solidFill>
                  <a:cs typeface="+mj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55933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5409FC-3A7F-646B-EE33-89C6F3ED2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3E04663-0E88-1758-62F3-5F3455B56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B1A08-6A26-43A0-B48E-2ABDF235525A}" type="slidenum">
              <a:rPr lang="fr-FR" smtClean="0"/>
              <a:pPr/>
              <a:t>6</a:t>
            </a:fld>
            <a:endParaRPr lang="fr-FR"/>
          </a:p>
        </p:txBody>
      </p: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8D02F053-9BCB-C444-06A1-7AA0C59349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845" y="2549397"/>
            <a:ext cx="10884310" cy="1708117"/>
          </a:xfrm>
          <a:solidFill>
            <a:schemeClr val="bg1"/>
          </a:solidFill>
          <a:ln>
            <a:solidFill>
              <a:srgbClr val="FF0000"/>
            </a:solidFill>
          </a:ln>
        </p:spPr>
        <p:txBody>
          <a:bodyPr>
            <a:noAutofit/>
          </a:bodyPr>
          <a:lstStyle/>
          <a:p>
            <a:pPr marL="36900" indent="0" algn="ctr" rtl="1">
              <a:buNone/>
            </a:pPr>
            <a:r>
              <a:rPr lang="ar-DZ" sz="5400" dirty="0">
                <a:solidFill>
                  <a:srgbClr val="FFFF00"/>
                </a:solidFill>
              </a:rPr>
              <a:t> 1- تحديد أسباب عدم تنفيذ المنهاج باستخدام سمكة ايشيكاوا</a:t>
            </a:r>
          </a:p>
          <a:p>
            <a:pPr algn="r" rtl="1"/>
            <a:endParaRPr lang="fr-FR" sz="13800" dirty="0">
              <a:solidFill>
                <a:srgbClr val="FFFF00"/>
              </a:solidFill>
            </a:endParaRPr>
          </a:p>
        </p:txBody>
      </p:sp>
      <p:sp>
        <p:nvSpPr>
          <p:cNvPr id="9" name="Espace réservé du contenu 2">
            <a:extLst>
              <a:ext uri="{FF2B5EF4-FFF2-40B4-BE49-F238E27FC236}">
                <a16:creationId xmlns:a16="http://schemas.microsoft.com/office/drawing/2014/main" id="{53006C12-CFDA-7735-99DA-8AA9C6A22180}"/>
              </a:ext>
            </a:extLst>
          </p:cNvPr>
          <p:cNvSpPr txBox="1">
            <a:spLocks/>
          </p:cNvSpPr>
          <p:nvPr/>
        </p:nvSpPr>
        <p:spPr>
          <a:xfrm>
            <a:off x="1889686" y="4627947"/>
            <a:ext cx="7399939" cy="1055178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Autofit/>
          </a:bodyPr>
          <a:lstStyle>
            <a:lvl1pPr marL="3429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 algn="ctr" rtl="1">
              <a:buFont typeface="Wingdings 2" charset="2"/>
              <a:buNone/>
            </a:pPr>
            <a:r>
              <a:rPr lang="ar-DZ" sz="6600" dirty="0">
                <a:solidFill>
                  <a:srgbClr val="FFFF00"/>
                </a:solidFill>
              </a:rPr>
              <a:t> 2- دراسة أهم الأسباب</a:t>
            </a:r>
            <a:endParaRPr lang="fr-FR" sz="6600" dirty="0">
              <a:solidFill>
                <a:srgbClr val="FFFF00"/>
              </a:solidFill>
            </a:endParaRPr>
          </a:p>
        </p:txBody>
      </p:sp>
      <p:grpSp>
        <p:nvGrpSpPr>
          <p:cNvPr id="29" name="Group 33">
            <a:extLst>
              <a:ext uri="{FF2B5EF4-FFF2-40B4-BE49-F238E27FC236}">
                <a16:creationId xmlns:a16="http://schemas.microsoft.com/office/drawing/2014/main" id="{FA1B74C0-6F1F-3275-7F92-DB7F6B6F801E}"/>
              </a:ext>
            </a:extLst>
          </p:cNvPr>
          <p:cNvGrpSpPr/>
          <p:nvPr/>
        </p:nvGrpSpPr>
        <p:grpSpPr>
          <a:xfrm>
            <a:off x="9564969" y="150717"/>
            <a:ext cx="2964820" cy="1948267"/>
            <a:chOff x="8537240" y="1907829"/>
            <a:chExt cx="3707911" cy="2849594"/>
          </a:xfrm>
        </p:grpSpPr>
        <p:grpSp>
          <p:nvGrpSpPr>
            <p:cNvPr id="30" name="مجموعة 37">
              <a:extLst>
                <a:ext uri="{FF2B5EF4-FFF2-40B4-BE49-F238E27FC236}">
                  <a16:creationId xmlns:a16="http://schemas.microsoft.com/office/drawing/2014/main" id="{504F2FA2-5B41-0F05-B610-75DDA48946DC}"/>
                </a:ext>
              </a:extLst>
            </p:cNvPr>
            <p:cNvGrpSpPr/>
            <p:nvPr/>
          </p:nvGrpSpPr>
          <p:grpSpPr>
            <a:xfrm>
              <a:off x="9344168" y="1907829"/>
              <a:ext cx="2106820" cy="1811577"/>
              <a:chOff x="881347" y="1494478"/>
              <a:chExt cx="2465848" cy="2983873"/>
            </a:xfrm>
          </p:grpSpPr>
          <p:sp>
            <p:nvSpPr>
              <p:cNvPr id="36" name="مخطط انسيابي: مستند 3">
                <a:extLst>
                  <a:ext uri="{FF2B5EF4-FFF2-40B4-BE49-F238E27FC236}">
                    <a16:creationId xmlns:a16="http://schemas.microsoft.com/office/drawing/2014/main" id="{690CC676-D673-183D-90E5-C2463852D6EE}"/>
                  </a:ext>
                </a:extLst>
              </p:cNvPr>
              <p:cNvSpPr/>
              <p:nvPr/>
            </p:nvSpPr>
            <p:spPr>
              <a:xfrm flipH="1" flipV="1">
                <a:off x="881347" y="1494478"/>
                <a:ext cx="2465848" cy="2983873"/>
              </a:xfrm>
              <a:prstGeom prst="flowChartDocumen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37" name="مربع نص 7">
                <a:extLst>
                  <a:ext uri="{FF2B5EF4-FFF2-40B4-BE49-F238E27FC236}">
                    <a16:creationId xmlns:a16="http://schemas.microsoft.com/office/drawing/2014/main" id="{640739E5-F268-2ABE-65F0-9BB0A69D3A28}"/>
                  </a:ext>
                </a:extLst>
              </p:cNvPr>
              <p:cNvSpPr txBox="1"/>
              <p:nvPr/>
            </p:nvSpPr>
            <p:spPr>
              <a:xfrm>
                <a:off x="1032536" y="2848903"/>
                <a:ext cx="2291025" cy="15044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ar-DZ" sz="3600" b="1" dirty="0">
                    <a:solidFill>
                      <a:srgbClr val="FFFF00"/>
                    </a:solidFill>
                    <a:latin typeface="Calibri" panose="020F0502020204030204" pitchFamily="34" charset="0"/>
                    <a:cs typeface="Sultan Medium" pitchFamily="2" charset="-78"/>
                  </a:rPr>
                  <a:t>افتتاحية</a:t>
                </a:r>
                <a:endParaRPr lang="fr-FR" sz="3600" b="1" dirty="0">
                  <a:solidFill>
                    <a:srgbClr val="FFFF00"/>
                  </a:solidFill>
                  <a:latin typeface="Calibri" panose="020F0502020204030204" pitchFamily="34" charset="0"/>
                  <a:cs typeface="Sultan Medium" pitchFamily="2" charset="-78"/>
                </a:endParaRPr>
              </a:p>
            </p:txBody>
          </p:sp>
        </p:grpSp>
        <p:grpSp>
          <p:nvGrpSpPr>
            <p:cNvPr id="31" name="Group 32">
              <a:extLst>
                <a:ext uri="{FF2B5EF4-FFF2-40B4-BE49-F238E27FC236}">
                  <a16:creationId xmlns:a16="http://schemas.microsoft.com/office/drawing/2014/main" id="{FF795ECC-345C-24F9-C33B-D52530563BF7}"/>
                </a:ext>
              </a:extLst>
            </p:cNvPr>
            <p:cNvGrpSpPr/>
            <p:nvPr/>
          </p:nvGrpSpPr>
          <p:grpSpPr>
            <a:xfrm>
              <a:off x="8537240" y="3378203"/>
              <a:ext cx="3707911" cy="1379220"/>
              <a:chOff x="8537240" y="3378203"/>
              <a:chExt cx="3707911" cy="1379220"/>
            </a:xfrm>
          </p:grpSpPr>
          <p:sp>
            <p:nvSpPr>
              <p:cNvPr id="32" name="مثلث قائم الزاوية 5">
                <a:extLst>
                  <a:ext uri="{FF2B5EF4-FFF2-40B4-BE49-F238E27FC236}">
                    <a16:creationId xmlns:a16="http://schemas.microsoft.com/office/drawing/2014/main" id="{5693F0B2-84DC-F65E-292E-77DF4B6C8838}"/>
                  </a:ext>
                </a:extLst>
              </p:cNvPr>
              <p:cNvSpPr/>
              <p:nvPr/>
            </p:nvSpPr>
            <p:spPr>
              <a:xfrm>
                <a:off x="11471181" y="3378203"/>
                <a:ext cx="773970" cy="335531"/>
              </a:xfrm>
              <a:prstGeom prst="rtTriangl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33" name="مثلث قائم الزاوية 6">
                <a:extLst>
                  <a:ext uri="{FF2B5EF4-FFF2-40B4-BE49-F238E27FC236}">
                    <a16:creationId xmlns:a16="http://schemas.microsoft.com/office/drawing/2014/main" id="{EF3DDBE8-8182-CE8C-808D-27A2282E5A57}"/>
                  </a:ext>
                </a:extLst>
              </p:cNvPr>
              <p:cNvSpPr/>
              <p:nvPr/>
            </p:nvSpPr>
            <p:spPr>
              <a:xfrm flipH="1">
                <a:off x="8537240" y="3378203"/>
                <a:ext cx="773970" cy="335531"/>
              </a:xfrm>
              <a:prstGeom prst="rtTriangl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34" name="مثلث متساوي الساقين 4">
                <a:extLst>
                  <a:ext uri="{FF2B5EF4-FFF2-40B4-BE49-F238E27FC236}">
                    <a16:creationId xmlns:a16="http://schemas.microsoft.com/office/drawing/2014/main" id="{9EED5D20-0A90-2360-0DF9-C05A248E8257}"/>
                  </a:ext>
                </a:extLst>
              </p:cNvPr>
              <p:cNvSpPr/>
              <p:nvPr/>
            </p:nvSpPr>
            <p:spPr>
              <a:xfrm flipV="1">
                <a:off x="8579972" y="3666944"/>
                <a:ext cx="3654761" cy="1090479"/>
              </a:xfrm>
              <a:prstGeom prst="triangl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35" name="مربع نص 15">
                <a:extLst>
                  <a:ext uri="{FF2B5EF4-FFF2-40B4-BE49-F238E27FC236}">
                    <a16:creationId xmlns:a16="http://schemas.microsoft.com/office/drawing/2014/main" id="{680EAA1E-4E51-40C8-C2AB-201146FA44D2}"/>
                  </a:ext>
                </a:extLst>
              </p:cNvPr>
              <p:cNvSpPr txBox="1"/>
              <p:nvPr/>
            </p:nvSpPr>
            <p:spPr>
              <a:xfrm>
                <a:off x="9763644" y="3412652"/>
                <a:ext cx="1304968" cy="10873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ar-MA" sz="4400" b="1" dirty="0">
                    <a:solidFill>
                      <a:schemeClr val="bg1"/>
                    </a:solidFill>
                    <a:cs typeface="+mj-cs"/>
                  </a:rPr>
                  <a:t>01</a:t>
                </a:r>
                <a:endParaRPr lang="fr-FR" sz="6000" b="1" dirty="0">
                  <a:solidFill>
                    <a:schemeClr val="bg1"/>
                  </a:solidFill>
                  <a:cs typeface="+mj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6261429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F1698-724D-15E7-4D06-315DC7CC3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E1E616C-8CA3-F65E-0039-3249E5A1CD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407741" y="61866"/>
            <a:ext cx="4065727" cy="1033372"/>
          </a:xfrm>
          <a:solidFill>
            <a:srgbClr val="00AA48"/>
          </a:solidFill>
        </p:spPr>
        <p:txBody>
          <a:bodyPr/>
          <a:lstStyle/>
          <a:p>
            <a:pPr algn="ctr"/>
            <a:r>
              <a:rPr lang="ar-DZ" sz="6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الفرضيات</a:t>
            </a:r>
            <a:endParaRPr lang="fr-FR" sz="6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itre 1">
            <a:extLst>
              <a:ext uri="{FF2B5EF4-FFF2-40B4-BE49-F238E27FC236}">
                <a16:creationId xmlns:a16="http://schemas.microsoft.com/office/drawing/2014/main" id="{D99FE566-A53D-3E8A-0748-BEA0BAEF9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0326" y="1347358"/>
            <a:ext cx="8371205" cy="970450"/>
          </a:xfrm>
          <a:solidFill>
            <a:schemeClr val="bg1"/>
          </a:solidFill>
          <a:ln>
            <a:solidFill>
              <a:srgbClr val="FFFF00"/>
            </a:solidFill>
          </a:ln>
        </p:spPr>
        <p:txBody>
          <a:bodyPr/>
          <a:lstStyle/>
          <a:p>
            <a:r>
              <a:rPr lang="ar-DZ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مخطط ‘’ سمكة  ’’ ايشيكاوا –السبب والأثر </a:t>
            </a:r>
            <a:endParaRPr lang="fr-FR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pic>
        <p:nvPicPr>
          <p:cNvPr id="27" name="Image 26">
            <a:extLst>
              <a:ext uri="{FF2B5EF4-FFF2-40B4-BE49-F238E27FC236}">
                <a16:creationId xmlns:a16="http://schemas.microsoft.com/office/drawing/2014/main" id="{BBF8ADF5-FE22-8B61-8006-6D1DAD93BA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580" y="2611555"/>
            <a:ext cx="10812544" cy="3914089"/>
          </a:xfrm>
          <a:prstGeom prst="rect">
            <a:avLst/>
          </a:prstGeom>
        </p:spPr>
      </p:pic>
      <p:grpSp>
        <p:nvGrpSpPr>
          <p:cNvPr id="2" name="Group 33">
            <a:extLst>
              <a:ext uri="{FF2B5EF4-FFF2-40B4-BE49-F238E27FC236}">
                <a16:creationId xmlns:a16="http://schemas.microsoft.com/office/drawing/2014/main" id="{9CFBDF91-06D8-076D-D09B-ADDDFAF93F6F}"/>
              </a:ext>
            </a:extLst>
          </p:cNvPr>
          <p:cNvGrpSpPr/>
          <p:nvPr/>
        </p:nvGrpSpPr>
        <p:grpSpPr>
          <a:xfrm>
            <a:off x="9564969" y="150717"/>
            <a:ext cx="2964820" cy="1948267"/>
            <a:chOff x="8537240" y="1907829"/>
            <a:chExt cx="3707911" cy="2849594"/>
          </a:xfrm>
        </p:grpSpPr>
        <p:grpSp>
          <p:nvGrpSpPr>
            <p:cNvPr id="3" name="مجموعة 37">
              <a:extLst>
                <a:ext uri="{FF2B5EF4-FFF2-40B4-BE49-F238E27FC236}">
                  <a16:creationId xmlns:a16="http://schemas.microsoft.com/office/drawing/2014/main" id="{E4C1199B-3704-BE52-B7D6-B46CC84321A0}"/>
                </a:ext>
              </a:extLst>
            </p:cNvPr>
            <p:cNvGrpSpPr/>
            <p:nvPr/>
          </p:nvGrpSpPr>
          <p:grpSpPr>
            <a:xfrm>
              <a:off x="9344168" y="1907829"/>
              <a:ext cx="2106820" cy="1811577"/>
              <a:chOff x="881347" y="1494478"/>
              <a:chExt cx="2465848" cy="2983873"/>
            </a:xfrm>
          </p:grpSpPr>
          <p:sp>
            <p:nvSpPr>
              <p:cNvPr id="10" name="مخطط انسيابي: مستند 3">
                <a:extLst>
                  <a:ext uri="{FF2B5EF4-FFF2-40B4-BE49-F238E27FC236}">
                    <a16:creationId xmlns:a16="http://schemas.microsoft.com/office/drawing/2014/main" id="{D2CA8112-C92A-7D2D-F3C6-7CDD0DCD7256}"/>
                  </a:ext>
                </a:extLst>
              </p:cNvPr>
              <p:cNvSpPr/>
              <p:nvPr/>
            </p:nvSpPr>
            <p:spPr>
              <a:xfrm flipH="1" flipV="1">
                <a:off x="881347" y="1494478"/>
                <a:ext cx="2465848" cy="2983873"/>
              </a:xfrm>
              <a:prstGeom prst="flowChartDocumen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1" name="مربع نص 7">
                <a:extLst>
                  <a:ext uri="{FF2B5EF4-FFF2-40B4-BE49-F238E27FC236}">
                    <a16:creationId xmlns:a16="http://schemas.microsoft.com/office/drawing/2014/main" id="{1BBFB2ED-351E-1185-B53E-F75697C30F73}"/>
                  </a:ext>
                </a:extLst>
              </p:cNvPr>
              <p:cNvSpPr txBox="1"/>
              <p:nvPr/>
            </p:nvSpPr>
            <p:spPr>
              <a:xfrm>
                <a:off x="1032536" y="2848903"/>
                <a:ext cx="2291025" cy="15044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ar-DZ" sz="3600" b="1" dirty="0">
                    <a:solidFill>
                      <a:srgbClr val="FFFF00"/>
                    </a:solidFill>
                    <a:latin typeface="Calibri" panose="020F0502020204030204" pitchFamily="34" charset="0"/>
                    <a:cs typeface="Sultan Medium" pitchFamily="2" charset="-78"/>
                  </a:rPr>
                  <a:t>افتتاحية</a:t>
                </a:r>
                <a:endParaRPr lang="fr-FR" sz="3600" b="1" dirty="0">
                  <a:solidFill>
                    <a:srgbClr val="FFFF00"/>
                  </a:solidFill>
                  <a:latin typeface="Calibri" panose="020F0502020204030204" pitchFamily="34" charset="0"/>
                  <a:cs typeface="Sultan Medium" pitchFamily="2" charset="-78"/>
                </a:endParaRPr>
              </a:p>
            </p:txBody>
          </p:sp>
        </p:grpSp>
        <p:grpSp>
          <p:nvGrpSpPr>
            <p:cNvPr id="4" name="Group 32">
              <a:extLst>
                <a:ext uri="{FF2B5EF4-FFF2-40B4-BE49-F238E27FC236}">
                  <a16:creationId xmlns:a16="http://schemas.microsoft.com/office/drawing/2014/main" id="{338D45E1-B0D9-1E74-50FF-CCC490D996CA}"/>
                </a:ext>
              </a:extLst>
            </p:cNvPr>
            <p:cNvGrpSpPr/>
            <p:nvPr/>
          </p:nvGrpSpPr>
          <p:grpSpPr>
            <a:xfrm>
              <a:off x="8537240" y="3378203"/>
              <a:ext cx="3707911" cy="1379220"/>
              <a:chOff x="8537240" y="3378203"/>
              <a:chExt cx="3707911" cy="1379220"/>
            </a:xfrm>
          </p:grpSpPr>
          <p:sp>
            <p:nvSpPr>
              <p:cNvPr id="6" name="مثلث قائم الزاوية 5">
                <a:extLst>
                  <a:ext uri="{FF2B5EF4-FFF2-40B4-BE49-F238E27FC236}">
                    <a16:creationId xmlns:a16="http://schemas.microsoft.com/office/drawing/2014/main" id="{051A8059-5BD7-BD05-E2E8-E61D49E095A9}"/>
                  </a:ext>
                </a:extLst>
              </p:cNvPr>
              <p:cNvSpPr/>
              <p:nvPr/>
            </p:nvSpPr>
            <p:spPr>
              <a:xfrm>
                <a:off x="11471181" y="3378203"/>
                <a:ext cx="773970" cy="335531"/>
              </a:xfrm>
              <a:prstGeom prst="rtTriangl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7" name="مثلث قائم الزاوية 6">
                <a:extLst>
                  <a:ext uri="{FF2B5EF4-FFF2-40B4-BE49-F238E27FC236}">
                    <a16:creationId xmlns:a16="http://schemas.microsoft.com/office/drawing/2014/main" id="{D36FCE5D-9D6F-D037-E4E0-1ED1839D71FB}"/>
                  </a:ext>
                </a:extLst>
              </p:cNvPr>
              <p:cNvSpPr/>
              <p:nvPr/>
            </p:nvSpPr>
            <p:spPr>
              <a:xfrm flipH="1">
                <a:off x="8537240" y="3378203"/>
                <a:ext cx="773970" cy="335531"/>
              </a:xfrm>
              <a:prstGeom prst="rtTriangl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8" name="مثلث متساوي الساقين 4">
                <a:extLst>
                  <a:ext uri="{FF2B5EF4-FFF2-40B4-BE49-F238E27FC236}">
                    <a16:creationId xmlns:a16="http://schemas.microsoft.com/office/drawing/2014/main" id="{1CEFB3F8-E763-1C9D-B818-725293AB2520}"/>
                  </a:ext>
                </a:extLst>
              </p:cNvPr>
              <p:cNvSpPr/>
              <p:nvPr/>
            </p:nvSpPr>
            <p:spPr>
              <a:xfrm flipV="1">
                <a:off x="8579972" y="3666944"/>
                <a:ext cx="3654761" cy="1090479"/>
              </a:xfrm>
              <a:prstGeom prst="triangl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9" name="مربع نص 15">
                <a:extLst>
                  <a:ext uri="{FF2B5EF4-FFF2-40B4-BE49-F238E27FC236}">
                    <a16:creationId xmlns:a16="http://schemas.microsoft.com/office/drawing/2014/main" id="{C869DCEF-5072-2691-1649-039EA24E2071}"/>
                  </a:ext>
                </a:extLst>
              </p:cNvPr>
              <p:cNvSpPr txBox="1"/>
              <p:nvPr/>
            </p:nvSpPr>
            <p:spPr>
              <a:xfrm>
                <a:off x="9763644" y="3412652"/>
                <a:ext cx="1304968" cy="10873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ar-MA" sz="4400" b="1" dirty="0">
                    <a:solidFill>
                      <a:schemeClr val="bg1"/>
                    </a:solidFill>
                    <a:cs typeface="+mj-cs"/>
                  </a:rPr>
                  <a:t>01</a:t>
                </a:r>
                <a:endParaRPr lang="fr-FR" sz="6000" b="1" dirty="0">
                  <a:solidFill>
                    <a:schemeClr val="bg1"/>
                  </a:solidFill>
                  <a:cs typeface="+mj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22241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7378" y="1831108"/>
            <a:ext cx="11915480" cy="4828607"/>
          </a:xfrm>
          <a:solidFill>
            <a:srgbClr val="00AA48"/>
          </a:solidFill>
        </p:spPr>
        <p:txBody>
          <a:bodyPr>
            <a:normAutofit/>
          </a:bodyPr>
          <a:lstStyle/>
          <a:p>
            <a:pPr marL="36900" indent="0" algn="r" rtl="1">
              <a:buNone/>
            </a:pPr>
            <a:endParaRPr lang="ar-DZ" sz="2400" b="1" dirty="0"/>
          </a:p>
          <a:p>
            <a:pPr algn="r" rtl="1"/>
            <a:r>
              <a:rPr lang="ar-DZ" sz="3300" b="1" dirty="0"/>
              <a:t>نظرية الميمات الخمس (سمكة اشيكاوا )- السبب والنتيجة – السبب والأثر.</a:t>
            </a:r>
          </a:p>
          <a:p>
            <a:pPr marL="36900" indent="0" algn="r" rtl="1">
              <a:buNone/>
            </a:pPr>
            <a:r>
              <a:rPr lang="ar-DZ" sz="2400" b="1" dirty="0"/>
              <a:t>                           </a:t>
            </a:r>
          </a:p>
          <a:p>
            <a:pPr algn="r" rtl="1"/>
            <a:r>
              <a:rPr lang="ar-DZ" sz="2400" b="1" dirty="0"/>
              <a:t>                                                                                                </a:t>
            </a:r>
          </a:p>
          <a:p>
            <a:pPr algn="r" rtl="1"/>
            <a:endParaRPr lang="ar-DZ" sz="2400" dirty="0"/>
          </a:p>
        </p:txBody>
      </p:sp>
      <p:cxnSp>
        <p:nvCxnSpPr>
          <p:cNvPr id="14" name="Connecteur droit 13"/>
          <p:cNvCxnSpPr>
            <a:cxnSpLocks/>
          </p:cNvCxnSpPr>
          <p:nvPr/>
        </p:nvCxnSpPr>
        <p:spPr>
          <a:xfrm>
            <a:off x="7733128" y="4733168"/>
            <a:ext cx="893480" cy="9594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15"/>
          <p:cNvCxnSpPr>
            <a:cxnSpLocks/>
          </p:cNvCxnSpPr>
          <p:nvPr/>
        </p:nvCxnSpPr>
        <p:spPr>
          <a:xfrm flipV="1">
            <a:off x="8420124" y="4127878"/>
            <a:ext cx="704209" cy="60675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Connecteur droit 16"/>
          <p:cNvCxnSpPr>
            <a:cxnSpLocks/>
          </p:cNvCxnSpPr>
          <p:nvPr/>
        </p:nvCxnSpPr>
        <p:spPr>
          <a:xfrm>
            <a:off x="5204364" y="4782069"/>
            <a:ext cx="773652" cy="79282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Connecteur droit 17"/>
          <p:cNvCxnSpPr>
            <a:cxnSpLocks/>
          </p:cNvCxnSpPr>
          <p:nvPr/>
        </p:nvCxnSpPr>
        <p:spPr>
          <a:xfrm flipV="1">
            <a:off x="6254249" y="4018582"/>
            <a:ext cx="837149" cy="7266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Connecteur droit 18"/>
          <p:cNvCxnSpPr>
            <a:cxnSpLocks/>
          </p:cNvCxnSpPr>
          <p:nvPr/>
        </p:nvCxnSpPr>
        <p:spPr>
          <a:xfrm flipV="1">
            <a:off x="3913239" y="3973756"/>
            <a:ext cx="941565" cy="77142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Connecteur droit avec flèche 27"/>
          <p:cNvCxnSpPr>
            <a:cxnSpLocks/>
          </p:cNvCxnSpPr>
          <p:nvPr/>
        </p:nvCxnSpPr>
        <p:spPr>
          <a:xfrm flipH="1">
            <a:off x="3126658" y="4752600"/>
            <a:ext cx="6497264" cy="7546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Espace réservé du texte 4">
            <a:extLst>
              <a:ext uri="{FF2B5EF4-FFF2-40B4-BE49-F238E27FC236}">
                <a16:creationId xmlns:a16="http://schemas.microsoft.com/office/drawing/2014/main" id="{8AE3D4E3-FB99-3970-2756-6F9C74A881A9}"/>
              </a:ext>
            </a:extLst>
          </p:cNvPr>
          <p:cNvSpPr txBox="1">
            <a:spLocks/>
          </p:cNvSpPr>
          <p:nvPr/>
        </p:nvSpPr>
        <p:spPr>
          <a:xfrm>
            <a:off x="3232388" y="-49799"/>
            <a:ext cx="4204206" cy="973626"/>
          </a:xfrm>
          <a:prstGeom prst="rect">
            <a:avLst/>
          </a:prstGeom>
          <a:solidFill>
            <a:srgbClr val="00AA48"/>
          </a:solidFill>
        </p:spPr>
        <p:txBody>
          <a:bodyPr/>
          <a:lstStyle>
            <a:lvl1pPr marL="3429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algn="ctr" rtl="1"/>
            <a:r>
              <a:rPr lang="ar-DZ" sz="6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الفرضيات</a:t>
            </a:r>
            <a:endParaRPr lang="fr-FR" sz="6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Espace réservé du texte 4">
            <a:extLst>
              <a:ext uri="{FF2B5EF4-FFF2-40B4-BE49-F238E27FC236}">
                <a16:creationId xmlns:a16="http://schemas.microsoft.com/office/drawing/2014/main" id="{10D43BA3-222B-6561-7DB1-EE69580E6E1A}"/>
              </a:ext>
            </a:extLst>
          </p:cNvPr>
          <p:cNvSpPr txBox="1">
            <a:spLocks/>
          </p:cNvSpPr>
          <p:nvPr/>
        </p:nvSpPr>
        <p:spPr>
          <a:xfrm>
            <a:off x="1210500" y="986498"/>
            <a:ext cx="7512291" cy="712279"/>
          </a:xfrm>
          <a:prstGeom prst="rect">
            <a:avLst/>
          </a:prstGeom>
          <a:solidFill>
            <a:srgbClr val="FFFF00"/>
          </a:solidFill>
        </p:spPr>
        <p:txBody>
          <a:bodyPr/>
          <a:lstStyle>
            <a:lvl1pPr marL="3429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algn="ctr" rtl="1"/>
            <a:r>
              <a:rPr lang="ar-DZ" sz="4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مخطط ‘’ </a:t>
            </a:r>
            <a:r>
              <a:rPr lang="ar-DZ" sz="4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سمكة</a:t>
            </a:r>
            <a:r>
              <a:rPr lang="ar-DZ" sz="4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‘’ايشيكاوا</a:t>
            </a:r>
            <a:endParaRPr lang="fr-FR" sz="48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0100C8FC-490E-D455-1153-DD44C7369EA1}"/>
              </a:ext>
            </a:extLst>
          </p:cNvPr>
          <p:cNvSpPr txBox="1"/>
          <p:nvPr/>
        </p:nvSpPr>
        <p:spPr>
          <a:xfrm>
            <a:off x="3769332" y="3391259"/>
            <a:ext cx="17931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400" dirty="0">
                <a:solidFill>
                  <a:schemeClr val="bg1"/>
                </a:solidFill>
              </a:rPr>
              <a:t>م</a:t>
            </a:r>
            <a:r>
              <a:rPr lang="ar-DZ" sz="2000" dirty="0">
                <a:solidFill>
                  <a:schemeClr val="bg1"/>
                </a:solidFill>
              </a:rPr>
              <a:t>3</a:t>
            </a:r>
            <a:r>
              <a:rPr lang="ar-DZ" sz="2400" dirty="0">
                <a:solidFill>
                  <a:schemeClr val="bg1"/>
                </a:solidFill>
              </a:rPr>
              <a:t> </a:t>
            </a:r>
            <a:r>
              <a:rPr lang="ar-DZ" sz="2000" b="1" dirty="0">
                <a:solidFill>
                  <a:schemeClr val="bg1"/>
                </a:solidFill>
              </a:rPr>
              <a:t>مادة أولية 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BCDD3404-3400-3300-1773-EF7249DCEBA9}"/>
              </a:ext>
            </a:extLst>
          </p:cNvPr>
          <p:cNvSpPr txBox="1"/>
          <p:nvPr/>
        </p:nvSpPr>
        <p:spPr>
          <a:xfrm>
            <a:off x="6065118" y="3436981"/>
            <a:ext cx="17931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900" indent="0" algn="r" rtl="1">
              <a:buNone/>
            </a:pPr>
            <a:r>
              <a:rPr lang="ar-DZ" sz="2000" b="1" dirty="0">
                <a:solidFill>
                  <a:schemeClr val="bg1"/>
                </a:solidFill>
              </a:rPr>
              <a:t>م2 معدات</a:t>
            </a:r>
            <a:endParaRPr lang="ar-DZ" sz="1600" b="1" dirty="0">
              <a:solidFill>
                <a:schemeClr val="bg1"/>
              </a:solidFill>
            </a:endParaRP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90C4B3C7-6055-D072-93F1-B9107D689834}"/>
              </a:ext>
            </a:extLst>
          </p:cNvPr>
          <p:cNvSpPr txBox="1"/>
          <p:nvPr/>
        </p:nvSpPr>
        <p:spPr>
          <a:xfrm>
            <a:off x="8125490" y="3409220"/>
            <a:ext cx="17931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000" b="1" dirty="0">
                <a:solidFill>
                  <a:schemeClr val="bg1"/>
                </a:solidFill>
              </a:rPr>
              <a:t>م1 متدخلون</a:t>
            </a:r>
            <a:endParaRPr lang="fr-FR" sz="2000" dirty="0">
              <a:solidFill>
                <a:schemeClr val="bg1"/>
              </a:solidFill>
            </a:endParaRPr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B61BBCCF-565E-8F02-E7D4-EECB1566AC9E}"/>
              </a:ext>
            </a:extLst>
          </p:cNvPr>
          <p:cNvSpPr txBox="1"/>
          <p:nvPr/>
        </p:nvSpPr>
        <p:spPr>
          <a:xfrm>
            <a:off x="7900272" y="5634883"/>
            <a:ext cx="17931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000" b="1" dirty="0">
                <a:solidFill>
                  <a:schemeClr val="bg1"/>
                </a:solidFill>
              </a:rPr>
              <a:t>م4  محيط’مكان’ </a:t>
            </a:r>
            <a:endParaRPr lang="fr-FR" sz="2000" dirty="0">
              <a:solidFill>
                <a:schemeClr val="bg1"/>
              </a:solidFill>
            </a:endParaRPr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291B5699-4C56-3558-1426-A3176C927D1A}"/>
              </a:ext>
            </a:extLst>
          </p:cNvPr>
          <p:cNvSpPr txBox="1"/>
          <p:nvPr/>
        </p:nvSpPr>
        <p:spPr>
          <a:xfrm>
            <a:off x="4940210" y="5584509"/>
            <a:ext cx="24143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000" b="1" dirty="0">
                <a:solidFill>
                  <a:schemeClr val="bg1"/>
                </a:solidFill>
              </a:rPr>
              <a:t>م5  منهجية ‘ممارسة’</a:t>
            </a:r>
            <a:endParaRPr lang="ar-DZ" sz="1600" b="1" dirty="0">
              <a:solidFill>
                <a:schemeClr val="bg1"/>
              </a:solidFill>
            </a:endParaRPr>
          </a:p>
        </p:txBody>
      </p:sp>
      <p:sp>
        <p:nvSpPr>
          <p:cNvPr id="15" name="Triangle isocèle 14">
            <a:extLst>
              <a:ext uri="{FF2B5EF4-FFF2-40B4-BE49-F238E27FC236}">
                <a16:creationId xmlns:a16="http://schemas.microsoft.com/office/drawing/2014/main" id="{C7E1B822-D788-D1D2-2508-A1C35638D6CE}"/>
              </a:ext>
            </a:extLst>
          </p:cNvPr>
          <p:cNvSpPr/>
          <p:nvPr/>
        </p:nvSpPr>
        <p:spPr>
          <a:xfrm rot="16200000">
            <a:off x="1773905" y="3996258"/>
            <a:ext cx="1793164" cy="1442755"/>
          </a:xfrm>
          <a:prstGeom prst="triangl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16C7C18C-45AF-A472-6512-B848ADF4FD47}"/>
              </a:ext>
            </a:extLst>
          </p:cNvPr>
          <p:cNvSpPr txBox="1"/>
          <p:nvPr/>
        </p:nvSpPr>
        <p:spPr>
          <a:xfrm>
            <a:off x="2241130" y="4529313"/>
            <a:ext cx="12337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DZ" sz="2400" b="1" dirty="0">
                <a:solidFill>
                  <a:schemeClr val="bg1"/>
                </a:solidFill>
              </a:rPr>
              <a:t>المشكلة</a:t>
            </a:r>
            <a:endParaRPr lang="fr-FR" sz="2000" dirty="0">
              <a:solidFill>
                <a:schemeClr val="bg1"/>
              </a:solidFill>
            </a:endParaRPr>
          </a:p>
        </p:txBody>
      </p:sp>
      <p:grpSp>
        <p:nvGrpSpPr>
          <p:cNvPr id="22" name="Group 33">
            <a:extLst>
              <a:ext uri="{FF2B5EF4-FFF2-40B4-BE49-F238E27FC236}">
                <a16:creationId xmlns:a16="http://schemas.microsoft.com/office/drawing/2014/main" id="{BC4651E8-1BF5-26F5-92CD-06FE6B7852A3}"/>
              </a:ext>
            </a:extLst>
          </p:cNvPr>
          <p:cNvGrpSpPr/>
          <p:nvPr/>
        </p:nvGrpSpPr>
        <p:grpSpPr>
          <a:xfrm>
            <a:off x="9564969" y="150717"/>
            <a:ext cx="2964820" cy="1948267"/>
            <a:chOff x="8537240" y="1907829"/>
            <a:chExt cx="3707911" cy="2849594"/>
          </a:xfrm>
        </p:grpSpPr>
        <p:grpSp>
          <p:nvGrpSpPr>
            <p:cNvPr id="23" name="مجموعة 37">
              <a:extLst>
                <a:ext uri="{FF2B5EF4-FFF2-40B4-BE49-F238E27FC236}">
                  <a16:creationId xmlns:a16="http://schemas.microsoft.com/office/drawing/2014/main" id="{796C63C5-5F26-0CAD-B321-89259A0F8548}"/>
                </a:ext>
              </a:extLst>
            </p:cNvPr>
            <p:cNvGrpSpPr/>
            <p:nvPr/>
          </p:nvGrpSpPr>
          <p:grpSpPr>
            <a:xfrm>
              <a:off x="9344168" y="1907829"/>
              <a:ext cx="2106820" cy="1811577"/>
              <a:chOff x="881347" y="1494478"/>
              <a:chExt cx="2465848" cy="2983873"/>
            </a:xfrm>
          </p:grpSpPr>
          <p:sp>
            <p:nvSpPr>
              <p:cNvPr id="30" name="مخطط انسيابي: مستند 3">
                <a:extLst>
                  <a:ext uri="{FF2B5EF4-FFF2-40B4-BE49-F238E27FC236}">
                    <a16:creationId xmlns:a16="http://schemas.microsoft.com/office/drawing/2014/main" id="{DC4F0B5B-C3D5-178E-9DE4-EF9DEF66DAFC}"/>
                  </a:ext>
                </a:extLst>
              </p:cNvPr>
              <p:cNvSpPr/>
              <p:nvPr/>
            </p:nvSpPr>
            <p:spPr>
              <a:xfrm flipH="1" flipV="1">
                <a:off x="881347" y="1494478"/>
                <a:ext cx="2465848" cy="2983873"/>
              </a:xfrm>
              <a:prstGeom prst="flowChartDocumen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31" name="مربع نص 7">
                <a:extLst>
                  <a:ext uri="{FF2B5EF4-FFF2-40B4-BE49-F238E27FC236}">
                    <a16:creationId xmlns:a16="http://schemas.microsoft.com/office/drawing/2014/main" id="{FD727F23-BE41-D0F2-F787-19B88BDEE8C1}"/>
                  </a:ext>
                </a:extLst>
              </p:cNvPr>
              <p:cNvSpPr txBox="1"/>
              <p:nvPr/>
            </p:nvSpPr>
            <p:spPr>
              <a:xfrm>
                <a:off x="1032536" y="2848903"/>
                <a:ext cx="2291025" cy="15044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ar-DZ" sz="3600" b="1" dirty="0">
                    <a:solidFill>
                      <a:srgbClr val="FFFF00"/>
                    </a:solidFill>
                    <a:latin typeface="Calibri" panose="020F0502020204030204" pitchFamily="34" charset="0"/>
                    <a:cs typeface="Sultan Medium" pitchFamily="2" charset="-78"/>
                  </a:rPr>
                  <a:t>افتتاحية</a:t>
                </a:r>
                <a:endParaRPr lang="fr-FR" sz="3600" b="1" dirty="0">
                  <a:solidFill>
                    <a:srgbClr val="FFFF00"/>
                  </a:solidFill>
                  <a:latin typeface="Calibri" panose="020F0502020204030204" pitchFamily="34" charset="0"/>
                  <a:cs typeface="Sultan Medium" pitchFamily="2" charset="-78"/>
                </a:endParaRPr>
              </a:p>
            </p:txBody>
          </p:sp>
        </p:grpSp>
        <p:grpSp>
          <p:nvGrpSpPr>
            <p:cNvPr id="24" name="Group 32">
              <a:extLst>
                <a:ext uri="{FF2B5EF4-FFF2-40B4-BE49-F238E27FC236}">
                  <a16:creationId xmlns:a16="http://schemas.microsoft.com/office/drawing/2014/main" id="{7A814191-D669-898A-9174-B195A52F8201}"/>
                </a:ext>
              </a:extLst>
            </p:cNvPr>
            <p:cNvGrpSpPr/>
            <p:nvPr/>
          </p:nvGrpSpPr>
          <p:grpSpPr>
            <a:xfrm>
              <a:off x="8537240" y="3378203"/>
              <a:ext cx="3707911" cy="1379220"/>
              <a:chOff x="8537240" y="3378203"/>
              <a:chExt cx="3707911" cy="1379220"/>
            </a:xfrm>
          </p:grpSpPr>
          <p:sp>
            <p:nvSpPr>
              <p:cNvPr id="25" name="مثلث قائم الزاوية 5">
                <a:extLst>
                  <a:ext uri="{FF2B5EF4-FFF2-40B4-BE49-F238E27FC236}">
                    <a16:creationId xmlns:a16="http://schemas.microsoft.com/office/drawing/2014/main" id="{CE83C537-BEA1-FE40-0FE9-F4F050B46B42}"/>
                  </a:ext>
                </a:extLst>
              </p:cNvPr>
              <p:cNvSpPr/>
              <p:nvPr/>
            </p:nvSpPr>
            <p:spPr>
              <a:xfrm>
                <a:off x="11471181" y="3378203"/>
                <a:ext cx="773970" cy="335531"/>
              </a:xfrm>
              <a:prstGeom prst="rtTriangl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26" name="مثلث قائم الزاوية 6">
                <a:extLst>
                  <a:ext uri="{FF2B5EF4-FFF2-40B4-BE49-F238E27FC236}">
                    <a16:creationId xmlns:a16="http://schemas.microsoft.com/office/drawing/2014/main" id="{C3C48A1B-F7AA-B23D-E613-D25666C369E5}"/>
                  </a:ext>
                </a:extLst>
              </p:cNvPr>
              <p:cNvSpPr/>
              <p:nvPr/>
            </p:nvSpPr>
            <p:spPr>
              <a:xfrm flipH="1">
                <a:off x="8537240" y="3378203"/>
                <a:ext cx="773970" cy="335531"/>
              </a:xfrm>
              <a:prstGeom prst="rtTriangl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27" name="مثلث متساوي الساقين 4">
                <a:extLst>
                  <a:ext uri="{FF2B5EF4-FFF2-40B4-BE49-F238E27FC236}">
                    <a16:creationId xmlns:a16="http://schemas.microsoft.com/office/drawing/2014/main" id="{9694AEEF-547F-BE9C-0AD4-7B2FE26CC287}"/>
                  </a:ext>
                </a:extLst>
              </p:cNvPr>
              <p:cNvSpPr/>
              <p:nvPr/>
            </p:nvSpPr>
            <p:spPr>
              <a:xfrm flipV="1">
                <a:off x="8579972" y="3666944"/>
                <a:ext cx="3654761" cy="1090479"/>
              </a:xfrm>
              <a:prstGeom prst="triangl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29" name="مربع نص 15">
                <a:extLst>
                  <a:ext uri="{FF2B5EF4-FFF2-40B4-BE49-F238E27FC236}">
                    <a16:creationId xmlns:a16="http://schemas.microsoft.com/office/drawing/2014/main" id="{61DC444D-31F4-C281-3D56-DFC981F23B1A}"/>
                  </a:ext>
                </a:extLst>
              </p:cNvPr>
              <p:cNvSpPr txBox="1"/>
              <p:nvPr/>
            </p:nvSpPr>
            <p:spPr>
              <a:xfrm>
                <a:off x="9763644" y="3412652"/>
                <a:ext cx="1304968" cy="10873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ar-MA" sz="4400" b="1" dirty="0">
                    <a:solidFill>
                      <a:schemeClr val="bg1"/>
                    </a:solidFill>
                    <a:cs typeface="+mj-cs"/>
                  </a:rPr>
                  <a:t>01</a:t>
                </a:r>
                <a:endParaRPr lang="fr-FR" sz="6000" b="1" dirty="0">
                  <a:solidFill>
                    <a:schemeClr val="bg1"/>
                  </a:solidFill>
                  <a:cs typeface="+mj-cs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35" grpId="0"/>
      <p:bldP spid="36" grpId="0"/>
      <p:bldP spid="37" grpId="0"/>
      <p:bldP spid="38" grpId="0"/>
      <p:bldP spid="40" grpId="0"/>
      <p:bldP spid="3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2AD738-6A00-0D55-61DA-7ECF7F05B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DBBA14A-6F0E-C318-F94C-B097A1E91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154" y="948837"/>
            <a:ext cx="9404258" cy="767745"/>
          </a:xfrm>
          <a:solidFill>
            <a:schemeClr val="bg1"/>
          </a:solidFill>
          <a:ln>
            <a:solidFill>
              <a:srgbClr val="FF0000"/>
            </a:solidFill>
          </a:ln>
        </p:spPr>
        <p:txBody>
          <a:bodyPr>
            <a:normAutofit/>
          </a:bodyPr>
          <a:lstStyle/>
          <a:p>
            <a:r>
              <a:rPr lang="ar-DZ" sz="32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 </a:t>
            </a:r>
            <a:r>
              <a:rPr lang="ar-DZ" sz="32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0000"/>
                </a:solidFill>
                <a:effectLst/>
              </a:rPr>
              <a:t>مثال : استعمال مخطط ‘’ سمكة ايشيكاوا’’ في البحث عن الأسباب </a:t>
            </a:r>
            <a:endParaRPr lang="fr-FR" sz="32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A8F992C-E36E-8D91-82EE-0E14AF5BF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B1A08-6A26-43A0-B48E-2ABDF235525A}" type="slidenum">
              <a:rPr lang="fr-FR" smtClean="0"/>
              <a:pPr/>
              <a:t>9</a:t>
            </a:fld>
            <a:endParaRPr lang="fr-FR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2CA5A1DC-D6F8-6586-9C9D-93FBC5130B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154" y="1716582"/>
            <a:ext cx="10398137" cy="5081693"/>
          </a:xfrm>
          <a:prstGeom prst="rect">
            <a:avLst/>
          </a:prstGeom>
        </p:spPr>
      </p:pic>
      <p:sp>
        <p:nvSpPr>
          <p:cNvPr id="12" name="Espace réservé du texte 4">
            <a:extLst>
              <a:ext uri="{FF2B5EF4-FFF2-40B4-BE49-F238E27FC236}">
                <a16:creationId xmlns:a16="http://schemas.microsoft.com/office/drawing/2014/main" id="{DCC46B1C-C814-9A7D-FBD8-223F2B76B1D9}"/>
              </a:ext>
            </a:extLst>
          </p:cNvPr>
          <p:cNvSpPr txBox="1">
            <a:spLocks/>
          </p:cNvSpPr>
          <p:nvPr/>
        </p:nvSpPr>
        <p:spPr>
          <a:xfrm>
            <a:off x="3232388" y="59725"/>
            <a:ext cx="4171302" cy="864102"/>
          </a:xfrm>
          <a:prstGeom prst="rect">
            <a:avLst/>
          </a:prstGeom>
          <a:solidFill>
            <a:srgbClr val="00AA48"/>
          </a:solidFill>
        </p:spPr>
        <p:txBody>
          <a:bodyPr/>
          <a:lstStyle>
            <a:lvl1pPr marL="3429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algn="ctr" rtl="1"/>
            <a:r>
              <a:rPr lang="ar-DZ" sz="6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الفرضيات</a:t>
            </a:r>
            <a:endParaRPr lang="fr-FR" sz="6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6" name="Group 37">
            <a:extLst>
              <a:ext uri="{FF2B5EF4-FFF2-40B4-BE49-F238E27FC236}">
                <a16:creationId xmlns:a16="http://schemas.microsoft.com/office/drawing/2014/main" id="{E55BE4EF-3390-9A0D-975D-2B189ECECD2F}"/>
              </a:ext>
            </a:extLst>
          </p:cNvPr>
          <p:cNvGrpSpPr/>
          <p:nvPr/>
        </p:nvGrpSpPr>
        <p:grpSpPr>
          <a:xfrm>
            <a:off x="9573645" y="0"/>
            <a:ext cx="5598441" cy="2105401"/>
            <a:chOff x="128349" y="5007168"/>
            <a:chExt cx="7350775" cy="2850215"/>
          </a:xfrm>
        </p:grpSpPr>
        <p:sp>
          <p:nvSpPr>
            <p:cNvPr id="27" name="شكل بيضاوي 26">
              <a:extLst>
                <a:ext uri="{FF2B5EF4-FFF2-40B4-BE49-F238E27FC236}">
                  <a16:creationId xmlns:a16="http://schemas.microsoft.com/office/drawing/2014/main" id="{87261698-1E62-A588-2004-81E1B243CC53}"/>
                </a:ext>
              </a:extLst>
            </p:cNvPr>
            <p:cNvSpPr/>
            <p:nvPr/>
          </p:nvSpPr>
          <p:spPr>
            <a:xfrm>
              <a:off x="5557449" y="6154329"/>
              <a:ext cx="1921675" cy="335532"/>
            </a:xfrm>
            <a:prstGeom prst="ellipse">
              <a:avLst/>
            </a:prstGeom>
            <a:gradFill flip="none" rotWithShape="1">
              <a:gsLst>
                <a:gs pos="100000">
                  <a:schemeClr val="bg1">
                    <a:lumMod val="95000"/>
                    <a:alpha val="50000"/>
                  </a:schemeClr>
                </a:gs>
                <a:gs pos="0">
                  <a:schemeClr val="tx1">
                    <a:alpha val="7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grpSp>
          <p:nvGrpSpPr>
            <p:cNvPr id="28" name="Group 36">
              <a:extLst>
                <a:ext uri="{FF2B5EF4-FFF2-40B4-BE49-F238E27FC236}">
                  <a16:creationId xmlns:a16="http://schemas.microsoft.com/office/drawing/2014/main" id="{FBE07701-C966-6ACA-3AA5-ABCBC41883FA}"/>
                </a:ext>
              </a:extLst>
            </p:cNvPr>
            <p:cNvGrpSpPr/>
            <p:nvPr/>
          </p:nvGrpSpPr>
          <p:grpSpPr>
            <a:xfrm>
              <a:off x="128349" y="5007168"/>
              <a:ext cx="3706860" cy="2850215"/>
              <a:chOff x="128349" y="5007168"/>
              <a:chExt cx="3706860" cy="2850215"/>
            </a:xfrm>
          </p:grpSpPr>
          <p:grpSp>
            <p:nvGrpSpPr>
              <p:cNvPr id="29" name="Group 35">
                <a:extLst>
                  <a:ext uri="{FF2B5EF4-FFF2-40B4-BE49-F238E27FC236}">
                    <a16:creationId xmlns:a16="http://schemas.microsoft.com/office/drawing/2014/main" id="{A5E1C7F5-B966-99D6-2F87-F2A723241088}"/>
                  </a:ext>
                </a:extLst>
              </p:cNvPr>
              <p:cNvGrpSpPr/>
              <p:nvPr/>
            </p:nvGrpSpPr>
            <p:grpSpPr>
              <a:xfrm>
                <a:off x="128349" y="5007168"/>
                <a:ext cx="3706860" cy="2850215"/>
                <a:chOff x="128349" y="5007168"/>
                <a:chExt cx="3706860" cy="2850215"/>
              </a:xfrm>
            </p:grpSpPr>
            <p:grpSp>
              <p:nvGrpSpPr>
                <p:cNvPr id="31" name="Group 34">
                  <a:extLst>
                    <a:ext uri="{FF2B5EF4-FFF2-40B4-BE49-F238E27FC236}">
                      <a16:creationId xmlns:a16="http://schemas.microsoft.com/office/drawing/2014/main" id="{0ABF3AD4-40F9-F60E-7ED3-E1C0C5FC747B}"/>
                    </a:ext>
                  </a:extLst>
                </p:cNvPr>
                <p:cNvGrpSpPr/>
                <p:nvPr/>
              </p:nvGrpSpPr>
              <p:grpSpPr>
                <a:xfrm>
                  <a:off x="128349" y="5007168"/>
                  <a:ext cx="3654760" cy="2850215"/>
                  <a:chOff x="128349" y="5007168"/>
                  <a:chExt cx="3654760" cy="2850215"/>
                </a:xfrm>
              </p:grpSpPr>
              <p:grpSp>
                <p:nvGrpSpPr>
                  <p:cNvPr id="34" name="مجموعة 35">
                    <a:extLst>
                      <a:ext uri="{FF2B5EF4-FFF2-40B4-BE49-F238E27FC236}">
                        <a16:creationId xmlns:a16="http://schemas.microsoft.com/office/drawing/2014/main" id="{D5B6541E-95D4-F634-7BA7-46B61F2F104B}"/>
                      </a:ext>
                    </a:extLst>
                  </p:cNvPr>
                  <p:cNvGrpSpPr/>
                  <p:nvPr/>
                </p:nvGrpSpPr>
                <p:grpSpPr>
                  <a:xfrm>
                    <a:off x="914441" y="5007168"/>
                    <a:ext cx="2106820" cy="1811577"/>
                    <a:chOff x="1188381" y="4465908"/>
                    <a:chExt cx="2465848" cy="2983872"/>
                  </a:xfrm>
                </p:grpSpPr>
                <p:sp>
                  <p:nvSpPr>
                    <p:cNvPr id="36" name="مخطط انسيابي: مستند 27">
                      <a:extLst>
                        <a:ext uri="{FF2B5EF4-FFF2-40B4-BE49-F238E27FC236}">
                          <a16:creationId xmlns:a16="http://schemas.microsoft.com/office/drawing/2014/main" id="{7F83D19C-E330-1E62-49B4-3CF309E78194}"/>
                        </a:ext>
                      </a:extLst>
                    </p:cNvPr>
                    <p:cNvSpPr/>
                    <p:nvPr/>
                  </p:nvSpPr>
                  <p:spPr>
                    <a:xfrm flipH="1" flipV="1">
                      <a:off x="1188381" y="4465908"/>
                      <a:ext cx="2465848" cy="2983872"/>
                    </a:xfrm>
                    <a:prstGeom prst="flowChartDocument">
                      <a:avLst/>
                    </a:prstGeom>
                    <a:solidFill>
                      <a:srgbClr val="FF00FF"/>
                    </a:solidFill>
                    <a:ln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 dirty="0"/>
                    </a:p>
                  </p:txBody>
                </p:sp>
                <p:sp>
                  <p:nvSpPr>
                    <p:cNvPr id="37" name="مربع نص 31">
                      <a:extLst>
                        <a:ext uri="{FF2B5EF4-FFF2-40B4-BE49-F238E27FC236}">
                          <a16:creationId xmlns:a16="http://schemas.microsoft.com/office/drawing/2014/main" id="{BAAB9500-B20A-33E0-7AA0-2051DD1106D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277213" y="4864378"/>
                      <a:ext cx="2291025" cy="116667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ar-DZ" sz="2800" b="1" dirty="0">
                          <a:solidFill>
                            <a:schemeClr val="bg1"/>
                          </a:solidFill>
                        </a:rPr>
                        <a:t>الافتتاحية</a:t>
                      </a:r>
                      <a:endParaRPr lang="fr-FR" sz="2800" b="1" dirty="0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sp>
                <p:nvSpPr>
                  <p:cNvPr id="35" name="مثلث متساوي الساقين 28">
                    <a:extLst>
                      <a:ext uri="{FF2B5EF4-FFF2-40B4-BE49-F238E27FC236}">
                        <a16:creationId xmlns:a16="http://schemas.microsoft.com/office/drawing/2014/main" id="{93292961-1D70-490D-9552-DD57A69E2EC4}"/>
                      </a:ext>
                    </a:extLst>
                  </p:cNvPr>
                  <p:cNvSpPr/>
                  <p:nvPr/>
                </p:nvSpPr>
                <p:spPr>
                  <a:xfrm flipV="1">
                    <a:off x="128349" y="6766904"/>
                    <a:ext cx="3654760" cy="1090479"/>
                  </a:xfrm>
                  <a:prstGeom prst="triangle">
                    <a:avLst/>
                  </a:prstGeom>
                  <a:solidFill>
                    <a:srgbClr val="FF0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dirty="0"/>
                  </a:p>
                </p:txBody>
              </p:sp>
            </p:grpSp>
            <p:sp>
              <p:nvSpPr>
                <p:cNvPr id="32" name="مثلث قائم الزاوية 29">
                  <a:extLst>
                    <a:ext uri="{FF2B5EF4-FFF2-40B4-BE49-F238E27FC236}">
                      <a16:creationId xmlns:a16="http://schemas.microsoft.com/office/drawing/2014/main" id="{F6CE6FEA-D6BF-63C3-E6BB-920752FF530B}"/>
                    </a:ext>
                  </a:extLst>
                </p:cNvPr>
                <p:cNvSpPr/>
                <p:nvPr/>
              </p:nvSpPr>
              <p:spPr>
                <a:xfrm>
                  <a:off x="3061239" y="6398128"/>
                  <a:ext cx="773970" cy="335531"/>
                </a:xfrm>
                <a:prstGeom prst="rtTriangl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dirty="0"/>
                </a:p>
              </p:txBody>
            </p:sp>
            <p:sp>
              <p:nvSpPr>
                <p:cNvPr id="33" name="مثلث قائم الزاوية 30">
                  <a:extLst>
                    <a:ext uri="{FF2B5EF4-FFF2-40B4-BE49-F238E27FC236}">
                      <a16:creationId xmlns:a16="http://schemas.microsoft.com/office/drawing/2014/main" id="{F7B4FAD7-3FB1-F290-F2A6-AD85FFA1C34E}"/>
                    </a:ext>
                  </a:extLst>
                </p:cNvPr>
                <p:cNvSpPr/>
                <p:nvPr/>
              </p:nvSpPr>
              <p:spPr>
                <a:xfrm flipH="1">
                  <a:off x="194363" y="6447329"/>
                  <a:ext cx="773970" cy="335532"/>
                </a:xfrm>
                <a:prstGeom prst="rtTriangl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dirty="0"/>
                </a:p>
              </p:txBody>
            </p:sp>
          </p:grpSp>
          <p:sp>
            <p:nvSpPr>
              <p:cNvPr id="30" name="مربع نص 34">
                <a:extLst>
                  <a:ext uri="{FF2B5EF4-FFF2-40B4-BE49-F238E27FC236}">
                    <a16:creationId xmlns:a16="http://schemas.microsoft.com/office/drawing/2014/main" id="{14DD642A-FD2D-56C3-B50C-72782DE97EA1}"/>
                  </a:ext>
                </a:extLst>
              </p:cNvPr>
              <p:cNvSpPr txBox="1"/>
              <p:nvPr/>
            </p:nvSpPr>
            <p:spPr>
              <a:xfrm>
                <a:off x="1280477" y="6694898"/>
                <a:ext cx="1304967" cy="11249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ar-DZ" sz="4800" b="1" dirty="0">
                    <a:solidFill>
                      <a:schemeClr val="bg1"/>
                    </a:solidFill>
                    <a:cs typeface="+mj-cs"/>
                  </a:rPr>
                  <a:t>01</a:t>
                </a:r>
                <a:endParaRPr lang="fr-FR" sz="6000" b="1" dirty="0">
                  <a:solidFill>
                    <a:schemeClr val="bg1"/>
                  </a:solidFill>
                  <a:cs typeface="+mj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16951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655813-8B7A-5F00-1D33-E9678A5B2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D5B20C0B-101D-D416-1F7B-5D0606472821}"/>
              </a:ext>
            </a:extLst>
          </p:cNvPr>
          <p:cNvCxnSpPr>
            <a:cxnSpLocks/>
          </p:cNvCxnSpPr>
          <p:nvPr/>
        </p:nvCxnSpPr>
        <p:spPr>
          <a:xfrm>
            <a:off x="7733128" y="4733168"/>
            <a:ext cx="893480" cy="9594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E84E9702-96BB-591C-1B80-36F596879E75}"/>
              </a:ext>
            </a:extLst>
          </p:cNvPr>
          <p:cNvCxnSpPr>
            <a:cxnSpLocks/>
          </p:cNvCxnSpPr>
          <p:nvPr/>
        </p:nvCxnSpPr>
        <p:spPr>
          <a:xfrm flipV="1">
            <a:off x="8420124" y="4127878"/>
            <a:ext cx="704209" cy="60675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8223971A-9517-2509-274D-980195C59402}"/>
              </a:ext>
            </a:extLst>
          </p:cNvPr>
          <p:cNvCxnSpPr>
            <a:cxnSpLocks/>
          </p:cNvCxnSpPr>
          <p:nvPr/>
        </p:nvCxnSpPr>
        <p:spPr>
          <a:xfrm>
            <a:off x="5204364" y="4782069"/>
            <a:ext cx="773652" cy="79282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3DFAA832-BC91-A057-8110-EA9667005835}"/>
              </a:ext>
            </a:extLst>
          </p:cNvPr>
          <p:cNvCxnSpPr>
            <a:cxnSpLocks/>
          </p:cNvCxnSpPr>
          <p:nvPr/>
        </p:nvCxnSpPr>
        <p:spPr>
          <a:xfrm flipV="1">
            <a:off x="6254249" y="4018582"/>
            <a:ext cx="837149" cy="7266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6CD5112B-AB3D-3006-7513-5A63181FC37C}"/>
              </a:ext>
            </a:extLst>
          </p:cNvPr>
          <p:cNvCxnSpPr>
            <a:cxnSpLocks/>
          </p:cNvCxnSpPr>
          <p:nvPr/>
        </p:nvCxnSpPr>
        <p:spPr>
          <a:xfrm flipV="1">
            <a:off x="3913239" y="3973756"/>
            <a:ext cx="941565" cy="77142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5" name="ZoneTexte 34">
            <a:extLst>
              <a:ext uri="{FF2B5EF4-FFF2-40B4-BE49-F238E27FC236}">
                <a16:creationId xmlns:a16="http://schemas.microsoft.com/office/drawing/2014/main" id="{4078AC4E-F64E-6FEA-9A86-0EA982A2A45E}"/>
              </a:ext>
            </a:extLst>
          </p:cNvPr>
          <p:cNvSpPr txBox="1"/>
          <p:nvPr/>
        </p:nvSpPr>
        <p:spPr>
          <a:xfrm>
            <a:off x="3769332" y="3391259"/>
            <a:ext cx="17931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400" dirty="0">
                <a:solidFill>
                  <a:schemeClr val="bg1"/>
                </a:solidFill>
              </a:rPr>
              <a:t>م</a:t>
            </a:r>
            <a:r>
              <a:rPr lang="ar-DZ" sz="2000" dirty="0">
                <a:solidFill>
                  <a:schemeClr val="bg1"/>
                </a:solidFill>
              </a:rPr>
              <a:t>3</a:t>
            </a:r>
            <a:r>
              <a:rPr lang="ar-DZ" sz="2400" dirty="0">
                <a:solidFill>
                  <a:schemeClr val="bg1"/>
                </a:solidFill>
              </a:rPr>
              <a:t> </a:t>
            </a:r>
            <a:r>
              <a:rPr lang="ar-DZ" sz="2000" b="1" dirty="0">
                <a:solidFill>
                  <a:schemeClr val="bg1"/>
                </a:solidFill>
              </a:rPr>
              <a:t>مادة أولية 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088AE858-69A5-B68F-A065-FEB98B1202B1}"/>
              </a:ext>
            </a:extLst>
          </p:cNvPr>
          <p:cNvSpPr txBox="1"/>
          <p:nvPr/>
        </p:nvSpPr>
        <p:spPr>
          <a:xfrm>
            <a:off x="6065118" y="3436981"/>
            <a:ext cx="17931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900" indent="0" algn="r" rtl="1">
              <a:buNone/>
            </a:pPr>
            <a:r>
              <a:rPr lang="ar-DZ" sz="2000" b="1" dirty="0">
                <a:solidFill>
                  <a:schemeClr val="bg1"/>
                </a:solidFill>
              </a:rPr>
              <a:t>م2 معدات</a:t>
            </a:r>
            <a:endParaRPr lang="ar-DZ" sz="1600" b="1" dirty="0">
              <a:solidFill>
                <a:schemeClr val="bg1"/>
              </a:solidFill>
            </a:endParaRP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B6D02B79-990A-B075-E88C-0FDEEF59921D}"/>
              </a:ext>
            </a:extLst>
          </p:cNvPr>
          <p:cNvSpPr txBox="1"/>
          <p:nvPr/>
        </p:nvSpPr>
        <p:spPr>
          <a:xfrm>
            <a:off x="8125490" y="3409220"/>
            <a:ext cx="17931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000" b="1" dirty="0">
                <a:solidFill>
                  <a:schemeClr val="bg1"/>
                </a:solidFill>
              </a:rPr>
              <a:t>م1 متدخلون</a:t>
            </a:r>
            <a:endParaRPr lang="fr-FR" sz="2000" dirty="0">
              <a:solidFill>
                <a:schemeClr val="bg1"/>
              </a:solidFill>
            </a:endParaRPr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18ECE2FF-31EB-9BBE-109C-695701C4FD6B}"/>
              </a:ext>
            </a:extLst>
          </p:cNvPr>
          <p:cNvSpPr txBox="1"/>
          <p:nvPr/>
        </p:nvSpPr>
        <p:spPr>
          <a:xfrm>
            <a:off x="7900272" y="5634883"/>
            <a:ext cx="17931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000" b="1" dirty="0">
                <a:solidFill>
                  <a:schemeClr val="bg1"/>
                </a:solidFill>
              </a:rPr>
              <a:t>م4  محيط’مكان’ </a:t>
            </a:r>
            <a:endParaRPr lang="fr-FR" sz="2000" dirty="0">
              <a:solidFill>
                <a:schemeClr val="bg1"/>
              </a:solidFill>
            </a:endParaRPr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FAC77ABD-DCE2-B1AA-2C6D-5D6123199011}"/>
              </a:ext>
            </a:extLst>
          </p:cNvPr>
          <p:cNvSpPr txBox="1"/>
          <p:nvPr/>
        </p:nvSpPr>
        <p:spPr>
          <a:xfrm>
            <a:off x="4940210" y="5584509"/>
            <a:ext cx="24143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000" b="1" dirty="0">
                <a:solidFill>
                  <a:schemeClr val="bg1"/>
                </a:solidFill>
              </a:rPr>
              <a:t>م5  منهجية ‘ممارسة’</a:t>
            </a:r>
            <a:endParaRPr lang="ar-DZ" sz="1600" b="1" dirty="0">
              <a:solidFill>
                <a:schemeClr val="bg1"/>
              </a:solidFill>
            </a:endParaRP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7DA062FB-5983-EE80-F7E7-200F76C65E4E}"/>
              </a:ext>
            </a:extLst>
          </p:cNvPr>
          <p:cNvSpPr txBox="1"/>
          <p:nvPr/>
        </p:nvSpPr>
        <p:spPr>
          <a:xfrm>
            <a:off x="2241130" y="4529313"/>
            <a:ext cx="12337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DZ" sz="2400" b="1" dirty="0">
                <a:solidFill>
                  <a:schemeClr val="bg1"/>
                </a:solidFill>
              </a:rPr>
              <a:t>المشكلة</a:t>
            </a:r>
            <a:endParaRPr lang="fr-FR" sz="2000" dirty="0">
              <a:solidFill>
                <a:schemeClr val="bg1"/>
              </a:solidFill>
            </a:endParaRPr>
          </a:p>
        </p:txBody>
      </p: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2ADC8BA2-FB04-B082-B6DC-15D3C20227C3}"/>
              </a:ext>
            </a:extLst>
          </p:cNvPr>
          <p:cNvSpPr txBox="1">
            <a:spLocks/>
          </p:cNvSpPr>
          <p:nvPr/>
        </p:nvSpPr>
        <p:spPr>
          <a:xfrm>
            <a:off x="4108537" y="41084"/>
            <a:ext cx="3912519" cy="3368135"/>
          </a:xfrm>
          <a:prstGeom prst="rect">
            <a:avLst/>
          </a:prstGeom>
          <a:solidFill>
            <a:srgbClr val="0000FF"/>
          </a:solidFill>
          <a:ln>
            <a:solidFill>
              <a:srgbClr val="FF0000"/>
            </a:solidFill>
          </a:ln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Autofit/>
          </a:bodyPr>
          <a:lstStyle>
            <a:lvl1pPr marL="3429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 algn="r" rtl="1">
              <a:buFont typeface="Wingdings 2" charset="2"/>
              <a:buNone/>
            </a:pPr>
            <a:r>
              <a:rPr lang="ar-DZ" sz="4400" b="1" dirty="0">
                <a:solidFill>
                  <a:srgbClr val="FFFF00"/>
                </a:solidFill>
              </a:rPr>
              <a:t> 1- تحديد أسباب عدم تنفيذ المنهاج باستخدام سمكة ايشيكاوا  </a:t>
            </a:r>
            <a:r>
              <a:rPr lang="ar-DZ" sz="4400" b="1" dirty="0">
                <a:solidFill>
                  <a:srgbClr val="FF0000"/>
                </a:solidFill>
              </a:rPr>
              <a:t>استراتيجية</a:t>
            </a:r>
            <a:r>
              <a:rPr lang="ar-DZ" sz="4400" b="1" dirty="0">
                <a:solidFill>
                  <a:srgbClr val="FFFF00"/>
                </a:solidFill>
              </a:rPr>
              <a:t> ‘</a:t>
            </a:r>
            <a:r>
              <a:rPr lang="fr-FR" sz="4400" b="1" dirty="0">
                <a:solidFill>
                  <a:srgbClr val="FFFF00"/>
                </a:solidFill>
              </a:rPr>
              <a:t>TPS</a:t>
            </a:r>
            <a:r>
              <a:rPr lang="ar-DZ" sz="4400" b="1" dirty="0">
                <a:solidFill>
                  <a:srgbClr val="FFFF00"/>
                </a:solidFill>
              </a:rPr>
              <a:t>’</a:t>
            </a:r>
          </a:p>
          <a:p>
            <a:pPr algn="r" rtl="1"/>
            <a:endParaRPr lang="fr-FR" sz="9600" b="1" dirty="0">
              <a:solidFill>
                <a:srgbClr val="FFFF00"/>
              </a:solidFill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B217B5C4-9D76-5585-1673-7776577513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48" y="3535738"/>
            <a:ext cx="7936480" cy="3283425"/>
          </a:xfrm>
          <a:prstGeom prst="rect">
            <a:avLst/>
          </a:prstGeom>
        </p:spPr>
      </p:pic>
      <p:sp>
        <p:nvSpPr>
          <p:cNvPr id="8" name="Espace réservé du texte 4">
            <a:extLst>
              <a:ext uri="{FF2B5EF4-FFF2-40B4-BE49-F238E27FC236}">
                <a16:creationId xmlns:a16="http://schemas.microsoft.com/office/drawing/2014/main" id="{907F20CD-5149-D423-F349-0F8FC359F8E2}"/>
              </a:ext>
            </a:extLst>
          </p:cNvPr>
          <p:cNvSpPr txBox="1">
            <a:spLocks/>
          </p:cNvSpPr>
          <p:nvPr/>
        </p:nvSpPr>
        <p:spPr>
          <a:xfrm>
            <a:off x="8188201" y="1902017"/>
            <a:ext cx="3919228" cy="4914897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/>
          <a:lstStyle>
            <a:lvl1pPr marL="3429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 algn="r" rtl="1">
              <a:buNone/>
            </a:pPr>
            <a:r>
              <a:rPr lang="ar-DZ" sz="4000" b="1" u="sng" dirty="0">
                <a:solidFill>
                  <a:srgbClr val="FFFF00"/>
                </a:solidFill>
              </a:rPr>
              <a:t>التعليمة</a:t>
            </a:r>
            <a:r>
              <a:rPr lang="ar-DZ" sz="4000" dirty="0"/>
              <a:t>:</a:t>
            </a:r>
          </a:p>
          <a:p>
            <a:pPr marL="36900" indent="0" algn="r" rtl="1">
              <a:buNone/>
            </a:pPr>
            <a:r>
              <a:rPr lang="ar-DZ" sz="4000" dirty="0"/>
              <a:t>ارسم مخطط اشيكاوا و دوّن عليه مدخلاته ‘’ </a:t>
            </a:r>
            <a:r>
              <a:rPr lang="ar-DZ" sz="4000" dirty="0" err="1"/>
              <a:t>الميمات</a:t>
            </a:r>
            <a:r>
              <a:rPr lang="ar-DZ" sz="4000" dirty="0"/>
              <a:t> الخمس’’ و حاول تحديد السبب الرئيس وراء التأخر في تنفيذ المنهاج’’</a:t>
            </a:r>
            <a:endParaRPr lang="fr-FR" sz="40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1C1474B9-2BEC-3F8B-93C2-A49C6C2737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5" t="7599" r="5373" b="15986"/>
          <a:stretch>
            <a:fillRect/>
          </a:stretch>
        </p:blipFill>
        <p:spPr>
          <a:xfrm>
            <a:off x="62912" y="41084"/>
            <a:ext cx="3912519" cy="3262105"/>
          </a:xfrm>
          <a:prstGeom prst="rect">
            <a:avLst/>
          </a:prstGeom>
        </p:spPr>
      </p:pic>
      <p:grpSp>
        <p:nvGrpSpPr>
          <p:cNvPr id="12" name="Group 33">
            <a:extLst>
              <a:ext uri="{FF2B5EF4-FFF2-40B4-BE49-F238E27FC236}">
                <a16:creationId xmlns:a16="http://schemas.microsoft.com/office/drawing/2014/main" id="{67F91187-F3C0-5CDA-FA82-EAEF461B3072}"/>
              </a:ext>
            </a:extLst>
          </p:cNvPr>
          <p:cNvGrpSpPr/>
          <p:nvPr/>
        </p:nvGrpSpPr>
        <p:grpSpPr>
          <a:xfrm>
            <a:off x="9564969" y="150717"/>
            <a:ext cx="2964820" cy="1948267"/>
            <a:chOff x="8537240" y="1907829"/>
            <a:chExt cx="3707911" cy="2849594"/>
          </a:xfrm>
        </p:grpSpPr>
        <p:grpSp>
          <p:nvGrpSpPr>
            <p:cNvPr id="13" name="مجموعة 37">
              <a:extLst>
                <a:ext uri="{FF2B5EF4-FFF2-40B4-BE49-F238E27FC236}">
                  <a16:creationId xmlns:a16="http://schemas.microsoft.com/office/drawing/2014/main" id="{A2BF1B56-ED67-BAE7-B3C6-55A3C1553A8B}"/>
                </a:ext>
              </a:extLst>
            </p:cNvPr>
            <p:cNvGrpSpPr/>
            <p:nvPr/>
          </p:nvGrpSpPr>
          <p:grpSpPr>
            <a:xfrm>
              <a:off x="9344168" y="1907829"/>
              <a:ext cx="2106820" cy="1811577"/>
              <a:chOff x="881347" y="1494478"/>
              <a:chExt cx="2465848" cy="2983873"/>
            </a:xfrm>
          </p:grpSpPr>
          <p:sp>
            <p:nvSpPr>
              <p:cNvPr id="25" name="مخطط انسيابي: مستند 3">
                <a:extLst>
                  <a:ext uri="{FF2B5EF4-FFF2-40B4-BE49-F238E27FC236}">
                    <a16:creationId xmlns:a16="http://schemas.microsoft.com/office/drawing/2014/main" id="{64047C8E-8FE3-0DE6-6BA4-42A20A1E1ABC}"/>
                  </a:ext>
                </a:extLst>
              </p:cNvPr>
              <p:cNvSpPr/>
              <p:nvPr/>
            </p:nvSpPr>
            <p:spPr>
              <a:xfrm flipH="1" flipV="1">
                <a:off x="881347" y="1494478"/>
                <a:ext cx="2465848" cy="2983873"/>
              </a:xfrm>
              <a:prstGeom prst="flowChartDocumen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26" name="مربع نص 7">
                <a:extLst>
                  <a:ext uri="{FF2B5EF4-FFF2-40B4-BE49-F238E27FC236}">
                    <a16:creationId xmlns:a16="http://schemas.microsoft.com/office/drawing/2014/main" id="{53505482-2A66-0276-DB49-9DFD5DAAAD52}"/>
                  </a:ext>
                </a:extLst>
              </p:cNvPr>
              <p:cNvSpPr txBox="1"/>
              <p:nvPr/>
            </p:nvSpPr>
            <p:spPr>
              <a:xfrm>
                <a:off x="1032536" y="2848903"/>
                <a:ext cx="2291025" cy="15044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ar-DZ" sz="3600" b="1" dirty="0">
                    <a:solidFill>
                      <a:srgbClr val="FFFF00"/>
                    </a:solidFill>
                    <a:latin typeface="Calibri" panose="020F0502020204030204" pitchFamily="34" charset="0"/>
                    <a:cs typeface="Sultan Medium" pitchFamily="2" charset="-78"/>
                  </a:rPr>
                  <a:t>افتتاحية</a:t>
                </a:r>
                <a:endParaRPr lang="fr-FR" sz="3600" b="1" dirty="0">
                  <a:solidFill>
                    <a:srgbClr val="FFFF00"/>
                  </a:solidFill>
                  <a:latin typeface="Calibri" panose="020F0502020204030204" pitchFamily="34" charset="0"/>
                  <a:cs typeface="Sultan Medium" pitchFamily="2" charset="-78"/>
                </a:endParaRPr>
              </a:p>
            </p:txBody>
          </p:sp>
        </p:grpSp>
        <p:grpSp>
          <p:nvGrpSpPr>
            <p:cNvPr id="20" name="Group 32">
              <a:extLst>
                <a:ext uri="{FF2B5EF4-FFF2-40B4-BE49-F238E27FC236}">
                  <a16:creationId xmlns:a16="http://schemas.microsoft.com/office/drawing/2014/main" id="{D1234077-EDA9-2353-FAA3-D3274957B7E2}"/>
                </a:ext>
              </a:extLst>
            </p:cNvPr>
            <p:cNvGrpSpPr/>
            <p:nvPr/>
          </p:nvGrpSpPr>
          <p:grpSpPr>
            <a:xfrm>
              <a:off x="8537240" y="3378203"/>
              <a:ext cx="3707911" cy="1379220"/>
              <a:chOff x="8537240" y="3378203"/>
              <a:chExt cx="3707911" cy="1379220"/>
            </a:xfrm>
          </p:grpSpPr>
          <p:sp>
            <p:nvSpPr>
              <p:cNvPr id="21" name="مثلث قائم الزاوية 5">
                <a:extLst>
                  <a:ext uri="{FF2B5EF4-FFF2-40B4-BE49-F238E27FC236}">
                    <a16:creationId xmlns:a16="http://schemas.microsoft.com/office/drawing/2014/main" id="{963EF021-0269-4F1D-BBD9-6211887AC2E0}"/>
                  </a:ext>
                </a:extLst>
              </p:cNvPr>
              <p:cNvSpPr/>
              <p:nvPr/>
            </p:nvSpPr>
            <p:spPr>
              <a:xfrm>
                <a:off x="11471181" y="3378203"/>
                <a:ext cx="773970" cy="335531"/>
              </a:xfrm>
              <a:prstGeom prst="rtTriangl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22" name="مثلث قائم الزاوية 6">
                <a:extLst>
                  <a:ext uri="{FF2B5EF4-FFF2-40B4-BE49-F238E27FC236}">
                    <a16:creationId xmlns:a16="http://schemas.microsoft.com/office/drawing/2014/main" id="{E8E12FF1-3E38-3BCE-11C1-DA978B3E12F2}"/>
                  </a:ext>
                </a:extLst>
              </p:cNvPr>
              <p:cNvSpPr/>
              <p:nvPr/>
            </p:nvSpPr>
            <p:spPr>
              <a:xfrm flipH="1">
                <a:off x="8537240" y="3378203"/>
                <a:ext cx="773970" cy="335531"/>
              </a:xfrm>
              <a:prstGeom prst="rtTriangl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23" name="مثلث متساوي الساقين 4">
                <a:extLst>
                  <a:ext uri="{FF2B5EF4-FFF2-40B4-BE49-F238E27FC236}">
                    <a16:creationId xmlns:a16="http://schemas.microsoft.com/office/drawing/2014/main" id="{FA2BB9ED-B7A2-2EA7-8D00-1B29621FFC3D}"/>
                  </a:ext>
                </a:extLst>
              </p:cNvPr>
              <p:cNvSpPr/>
              <p:nvPr/>
            </p:nvSpPr>
            <p:spPr>
              <a:xfrm flipV="1">
                <a:off x="8579972" y="3666944"/>
                <a:ext cx="3654761" cy="1090479"/>
              </a:xfrm>
              <a:prstGeom prst="triangl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24" name="مربع نص 15">
                <a:extLst>
                  <a:ext uri="{FF2B5EF4-FFF2-40B4-BE49-F238E27FC236}">
                    <a16:creationId xmlns:a16="http://schemas.microsoft.com/office/drawing/2014/main" id="{41A161FF-4B75-874B-37BE-A942FC19BB9A}"/>
                  </a:ext>
                </a:extLst>
              </p:cNvPr>
              <p:cNvSpPr txBox="1"/>
              <p:nvPr/>
            </p:nvSpPr>
            <p:spPr>
              <a:xfrm>
                <a:off x="9763644" y="3412652"/>
                <a:ext cx="1304968" cy="10873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ar-MA" sz="4400" b="1" dirty="0">
                    <a:solidFill>
                      <a:schemeClr val="bg1"/>
                    </a:solidFill>
                    <a:cs typeface="+mj-cs"/>
                  </a:rPr>
                  <a:t>01</a:t>
                </a:r>
                <a:endParaRPr lang="fr-FR" sz="6000" b="1" dirty="0">
                  <a:solidFill>
                    <a:schemeClr val="bg1"/>
                  </a:solidFill>
                  <a:cs typeface="+mj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74095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D0B05C-260D-0E46-683A-828A853E9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>
            <a:extLst>
              <a:ext uri="{FF2B5EF4-FFF2-40B4-BE49-F238E27FC236}">
                <a16:creationId xmlns:a16="http://schemas.microsoft.com/office/drawing/2014/main" id="{D986FF90-F3A6-8A4D-A745-827BEA14CC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15" y="0"/>
            <a:ext cx="3163689" cy="2372767"/>
          </a:xfrm>
          <a:prstGeom prst="rect">
            <a:avLst/>
          </a:prstGeom>
        </p:spPr>
      </p:pic>
      <p:grpSp>
        <p:nvGrpSpPr>
          <p:cNvPr id="40" name="Group 39">
            <a:extLst>
              <a:ext uri="{FF2B5EF4-FFF2-40B4-BE49-F238E27FC236}">
                <a16:creationId xmlns:a16="http://schemas.microsoft.com/office/drawing/2014/main" id="{601B9CA6-014D-5ACF-43A7-10936A903792}"/>
              </a:ext>
            </a:extLst>
          </p:cNvPr>
          <p:cNvGrpSpPr/>
          <p:nvPr/>
        </p:nvGrpSpPr>
        <p:grpSpPr>
          <a:xfrm>
            <a:off x="9254021" y="65394"/>
            <a:ext cx="2937979" cy="2095819"/>
            <a:chOff x="8214062" y="3535985"/>
            <a:chExt cx="3707913" cy="2961758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D79CE4A9-7D7A-3A92-CB74-2327E56C1E5F}"/>
                </a:ext>
              </a:extLst>
            </p:cNvPr>
            <p:cNvGrpSpPr/>
            <p:nvPr/>
          </p:nvGrpSpPr>
          <p:grpSpPr>
            <a:xfrm>
              <a:off x="8214062" y="3535985"/>
              <a:ext cx="3707913" cy="2961758"/>
              <a:chOff x="8214062" y="3535985"/>
              <a:chExt cx="3707913" cy="2961758"/>
            </a:xfrm>
          </p:grpSpPr>
          <p:grpSp>
            <p:nvGrpSpPr>
              <p:cNvPr id="6" name="مجموعة 37">
                <a:extLst>
                  <a:ext uri="{FF2B5EF4-FFF2-40B4-BE49-F238E27FC236}">
                    <a16:creationId xmlns:a16="http://schemas.microsoft.com/office/drawing/2014/main" id="{9C62DD7B-5107-60FD-3E7B-BF36145FF130}"/>
                  </a:ext>
                </a:extLst>
              </p:cNvPr>
              <p:cNvGrpSpPr/>
              <p:nvPr/>
            </p:nvGrpSpPr>
            <p:grpSpPr>
              <a:xfrm>
                <a:off x="8998451" y="3535985"/>
                <a:ext cx="2106820" cy="1811579"/>
                <a:chOff x="476716" y="4176231"/>
                <a:chExt cx="2465848" cy="2983873"/>
              </a:xfrm>
            </p:grpSpPr>
            <p:sp>
              <p:nvSpPr>
                <p:cNvPr id="7" name="مخطط انسيابي: مستند 3">
                  <a:extLst>
                    <a:ext uri="{FF2B5EF4-FFF2-40B4-BE49-F238E27FC236}">
                      <a16:creationId xmlns:a16="http://schemas.microsoft.com/office/drawing/2014/main" id="{69A83F2C-ED79-A5C3-77D2-CC57657130C4}"/>
                    </a:ext>
                  </a:extLst>
                </p:cNvPr>
                <p:cNvSpPr/>
                <p:nvPr/>
              </p:nvSpPr>
              <p:spPr>
                <a:xfrm flipH="1" flipV="1">
                  <a:off x="476716" y="4176231"/>
                  <a:ext cx="2465848" cy="2983873"/>
                </a:xfrm>
                <a:prstGeom prst="flowChartDocument">
                  <a:avLst/>
                </a:prstGeom>
                <a:solidFill>
                  <a:srgbClr val="FF00FF"/>
                </a:solidFill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8" name="مربع نص 7">
                  <a:extLst>
                    <a:ext uri="{FF2B5EF4-FFF2-40B4-BE49-F238E27FC236}">
                      <a16:creationId xmlns:a16="http://schemas.microsoft.com/office/drawing/2014/main" id="{977090FB-1323-2BCC-3755-70E4D3BF458D}"/>
                    </a:ext>
                  </a:extLst>
                </p:cNvPr>
                <p:cNvSpPr txBox="1"/>
                <p:nvPr/>
              </p:nvSpPr>
              <p:spPr>
                <a:xfrm>
                  <a:off x="611608" y="4383211"/>
                  <a:ext cx="2291025" cy="222083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ar-DZ" sz="2800" b="1" dirty="0">
                      <a:solidFill>
                        <a:schemeClr val="bg1"/>
                      </a:solidFill>
                      <a:latin typeface="Calibri" panose="020F0502020204030204" pitchFamily="34" charset="0"/>
                      <a:cs typeface="Sultan Medium" pitchFamily="2" charset="-78"/>
                    </a:rPr>
                    <a:t>الجانب النظري</a:t>
                  </a:r>
                  <a:endParaRPr lang="fr-FR" sz="2800" b="1" dirty="0">
                    <a:solidFill>
                      <a:schemeClr val="bg1"/>
                    </a:solidFill>
                    <a:latin typeface="Calibri" panose="020F0502020204030204" pitchFamily="34" charset="0"/>
                    <a:cs typeface="Sultan Medium" pitchFamily="2" charset="-78"/>
                  </a:endParaRPr>
                </a:p>
              </p:txBody>
            </p:sp>
          </p:grpSp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A9C196C4-399B-CF81-C1D9-4E7203680BA7}"/>
                  </a:ext>
                </a:extLst>
              </p:cNvPr>
              <p:cNvGrpSpPr/>
              <p:nvPr/>
            </p:nvGrpSpPr>
            <p:grpSpPr>
              <a:xfrm>
                <a:off x="8214062" y="5047223"/>
                <a:ext cx="3707913" cy="1450520"/>
                <a:chOff x="8214062" y="5047223"/>
                <a:chExt cx="3707913" cy="1450520"/>
              </a:xfrm>
            </p:grpSpPr>
            <p:sp>
              <p:nvSpPr>
                <p:cNvPr id="3" name="مثلث متساوي الساقين 4">
                  <a:extLst>
                    <a:ext uri="{FF2B5EF4-FFF2-40B4-BE49-F238E27FC236}">
                      <a16:creationId xmlns:a16="http://schemas.microsoft.com/office/drawing/2014/main" id="{A14758BB-CDBC-CA4A-4191-6F19110B1DCD}"/>
                    </a:ext>
                  </a:extLst>
                </p:cNvPr>
                <p:cNvSpPr/>
                <p:nvPr/>
              </p:nvSpPr>
              <p:spPr>
                <a:xfrm flipV="1">
                  <a:off x="8214063" y="5407264"/>
                  <a:ext cx="3654760" cy="1090479"/>
                </a:xfrm>
                <a:prstGeom prst="triangle">
                  <a:avLst/>
                </a:prstGeom>
                <a:gradFill flip="none" rotWithShape="1">
                  <a:gsLst>
                    <a:gs pos="100000">
                      <a:srgbClr val="6666FF"/>
                    </a:gs>
                    <a:gs pos="0">
                      <a:srgbClr val="3333CC"/>
                    </a:gs>
                  </a:gsLst>
                  <a:lin ang="162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dirty="0"/>
                </a:p>
              </p:txBody>
            </p:sp>
            <p:sp>
              <p:nvSpPr>
                <p:cNvPr id="4" name="مثلث قائم الزاوية 5">
                  <a:extLst>
                    <a:ext uri="{FF2B5EF4-FFF2-40B4-BE49-F238E27FC236}">
                      <a16:creationId xmlns:a16="http://schemas.microsoft.com/office/drawing/2014/main" id="{0C91C624-8906-A8FD-346A-4B2B70246642}"/>
                    </a:ext>
                  </a:extLst>
                </p:cNvPr>
                <p:cNvSpPr/>
                <p:nvPr/>
              </p:nvSpPr>
              <p:spPr>
                <a:xfrm>
                  <a:off x="11148005" y="5047224"/>
                  <a:ext cx="773970" cy="335531"/>
                </a:xfrm>
                <a:prstGeom prst="rtTriangle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dirty="0"/>
                </a:p>
              </p:txBody>
            </p:sp>
            <p:sp>
              <p:nvSpPr>
                <p:cNvPr id="5" name="مثلث قائم الزاوية 6">
                  <a:extLst>
                    <a:ext uri="{FF2B5EF4-FFF2-40B4-BE49-F238E27FC236}">
                      <a16:creationId xmlns:a16="http://schemas.microsoft.com/office/drawing/2014/main" id="{97326B49-8573-E7C0-845F-AC75D666F99D}"/>
                    </a:ext>
                  </a:extLst>
                </p:cNvPr>
                <p:cNvSpPr/>
                <p:nvPr/>
              </p:nvSpPr>
              <p:spPr>
                <a:xfrm flipH="1">
                  <a:off x="8214062" y="5047223"/>
                  <a:ext cx="773970" cy="335531"/>
                </a:xfrm>
                <a:prstGeom prst="rtTriangle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dirty="0"/>
                </a:p>
              </p:txBody>
            </p:sp>
            <p:sp>
              <p:nvSpPr>
                <p:cNvPr id="87" name="مربع نص 15">
                  <a:extLst>
                    <a:ext uri="{FF2B5EF4-FFF2-40B4-BE49-F238E27FC236}">
                      <a16:creationId xmlns:a16="http://schemas.microsoft.com/office/drawing/2014/main" id="{47421C45-C8D0-B484-D336-AC1483508EE6}"/>
                    </a:ext>
                  </a:extLst>
                </p:cNvPr>
                <p:cNvSpPr txBox="1"/>
                <p:nvPr/>
              </p:nvSpPr>
              <p:spPr>
                <a:xfrm>
                  <a:off x="9285167" y="5405804"/>
                  <a:ext cx="1304967" cy="10873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ar-DZ" sz="4400" b="1" dirty="0">
                      <a:solidFill>
                        <a:schemeClr val="bg1"/>
                      </a:solidFill>
                      <a:cs typeface="+mj-cs"/>
                    </a:rPr>
                    <a:t>02</a:t>
                  </a:r>
                  <a:endParaRPr lang="fr-FR" sz="6000" b="1" dirty="0">
                    <a:solidFill>
                      <a:schemeClr val="bg1"/>
                    </a:solidFill>
                    <a:cs typeface="+mj-cs"/>
                  </a:endParaRPr>
                </a:p>
              </p:txBody>
            </p:sp>
          </p:grpSp>
        </p:grpSp>
        <p:sp>
          <p:nvSpPr>
            <p:cNvPr id="11" name="شكل بيضاوي 17">
              <a:extLst>
                <a:ext uri="{FF2B5EF4-FFF2-40B4-BE49-F238E27FC236}">
                  <a16:creationId xmlns:a16="http://schemas.microsoft.com/office/drawing/2014/main" id="{3DB8A0FB-CDF0-131D-4C7D-3F7324AB93A8}"/>
                </a:ext>
              </a:extLst>
            </p:cNvPr>
            <p:cNvSpPr/>
            <p:nvPr/>
          </p:nvSpPr>
          <p:spPr>
            <a:xfrm>
              <a:off x="9617360" y="5034387"/>
              <a:ext cx="1921675" cy="335532"/>
            </a:xfrm>
            <a:prstGeom prst="ellipse">
              <a:avLst/>
            </a:prstGeom>
            <a:gradFill flip="none" rotWithShape="1">
              <a:gsLst>
                <a:gs pos="100000">
                  <a:schemeClr val="bg1">
                    <a:lumMod val="95000"/>
                    <a:alpha val="50000"/>
                  </a:schemeClr>
                </a:gs>
                <a:gs pos="0">
                  <a:schemeClr val="tx1">
                    <a:alpha val="7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C559C7B7-F1EB-DC28-1952-DE3AE02C97C2}"/>
              </a:ext>
            </a:extLst>
          </p:cNvPr>
          <p:cNvGrpSpPr/>
          <p:nvPr/>
        </p:nvGrpSpPr>
        <p:grpSpPr>
          <a:xfrm>
            <a:off x="5219369" y="6001019"/>
            <a:ext cx="1436591" cy="1155398"/>
            <a:chOff x="869787" y="4264250"/>
            <a:chExt cx="1921675" cy="1586134"/>
          </a:xfrm>
        </p:grpSpPr>
        <p:sp>
          <p:nvSpPr>
            <p:cNvPr id="2" name="شكل بيضاوي 16">
              <a:extLst>
                <a:ext uri="{FF2B5EF4-FFF2-40B4-BE49-F238E27FC236}">
                  <a16:creationId xmlns:a16="http://schemas.microsoft.com/office/drawing/2014/main" id="{5A881C51-B1CB-AA29-0048-6D8A6F0A52E6}"/>
                </a:ext>
              </a:extLst>
            </p:cNvPr>
            <p:cNvSpPr/>
            <p:nvPr/>
          </p:nvSpPr>
          <p:spPr>
            <a:xfrm>
              <a:off x="869787" y="5514852"/>
              <a:ext cx="1921675" cy="335532"/>
            </a:xfrm>
            <a:prstGeom prst="ellipse">
              <a:avLst/>
            </a:prstGeom>
            <a:gradFill flip="none" rotWithShape="1">
              <a:gsLst>
                <a:gs pos="100000">
                  <a:schemeClr val="bg1">
                    <a:lumMod val="95000"/>
                    <a:alpha val="50000"/>
                  </a:schemeClr>
                </a:gs>
                <a:gs pos="0">
                  <a:schemeClr val="tx1">
                    <a:alpha val="7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23" name="مربع نص 25">
              <a:extLst>
                <a:ext uri="{FF2B5EF4-FFF2-40B4-BE49-F238E27FC236}">
                  <a16:creationId xmlns:a16="http://schemas.microsoft.com/office/drawing/2014/main" id="{450457F9-745C-991D-E63F-47DD95B0C9AB}"/>
                </a:ext>
              </a:extLst>
            </p:cNvPr>
            <p:cNvSpPr txBox="1"/>
            <p:nvPr/>
          </p:nvSpPr>
          <p:spPr>
            <a:xfrm>
              <a:off x="1168268" y="4264250"/>
              <a:ext cx="1304967" cy="9717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ar-DZ" sz="4000" b="1" dirty="0">
                  <a:solidFill>
                    <a:schemeClr val="bg1"/>
                  </a:solidFill>
                  <a:cs typeface="+mj-cs"/>
                </a:rPr>
                <a:t>04</a:t>
              </a:r>
              <a:endParaRPr lang="fr-FR" sz="4000" b="1" dirty="0">
                <a:solidFill>
                  <a:schemeClr val="bg1"/>
                </a:solidFill>
                <a:cs typeface="+mj-cs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CA09A7F7-11ED-B33E-2C8E-BC6B6E2C6014}"/>
              </a:ext>
            </a:extLst>
          </p:cNvPr>
          <p:cNvSpPr txBox="1"/>
          <p:nvPr/>
        </p:nvSpPr>
        <p:spPr>
          <a:xfrm>
            <a:off x="8924322" y="46358"/>
            <a:ext cx="900608" cy="1015663"/>
          </a:xfrm>
          <a:prstGeom prst="rect">
            <a:avLst/>
          </a:prstGeom>
          <a:solidFill>
            <a:srgbClr val="FF0000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1">
            <a:spAutoFit/>
          </a:bodyPr>
          <a:lstStyle/>
          <a:p>
            <a:pPr algn="ctr"/>
            <a:r>
              <a:rPr lang="ar-DZ" sz="6000" dirty="0">
                <a:cs typeface="+mj-cs"/>
              </a:rPr>
              <a:t>1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FC2F7AE-1680-A698-8F48-7EC881D35D4F}"/>
              </a:ext>
            </a:extLst>
          </p:cNvPr>
          <p:cNvSpPr txBox="1">
            <a:spLocks/>
          </p:cNvSpPr>
          <p:nvPr/>
        </p:nvSpPr>
        <p:spPr bwMode="auto">
          <a:xfrm>
            <a:off x="4005573" y="46358"/>
            <a:ext cx="4918748" cy="1008112"/>
          </a:xfrm>
          <a:prstGeom prst="rect">
            <a:avLst/>
          </a:prstGeom>
          <a:solidFill>
            <a:srgbClr val="002060"/>
          </a:solidFill>
          <a:ln>
            <a:solidFill>
              <a:srgbClr val="FF0000"/>
            </a:solidFill>
            <a:headEnd/>
            <a:tailEnd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6000" dirty="0">
                <a:solidFill>
                  <a:srgbClr val="FFFF00"/>
                </a:solidFill>
                <a:cs typeface="+mj-cs"/>
              </a:rPr>
              <a:t>التخطيط التربوي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7514A3C7-C831-847B-9E89-4FC547519EE2}"/>
              </a:ext>
            </a:extLst>
          </p:cNvPr>
          <p:cNvSpPr txBox="1">
            <a:spLocks/>
          </p:cNvSpPr>
          <p:nvPr/>
        </p:nvSpPr>
        <p:spPr bwMode="auto">
          <a:xfrm>
            <a:off x="4650452" y="1108424"/>
            <a:ext cx="4425314" cy="1008112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headEnd/>
            <a:tailEnd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1"/>
            <a:r>
              <a:rPr lang="ar-DZ" sz="6000" dirty="0">
                <a:solidFill>
                  <a:srgbClr val="00FF00"/>
                </a:solidFill>
                <a:cs typeface="+mj-cs"/>
              </a:rPr>
              <a:t>1 مفاهيم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9F33132-8083-F9FB-0A77-003664250B6B}"/>
              </a:ext>
            </a:extLst>
          </p:cNvPr>
          <p:cNvSpPr txBox="1">
            <a:spLocks/>
          </p:cNvSpPr>
          <p:nvPr/>
        </p:nvSpPr>
        <p:spPr bwMode="auto">
          <a:xfrm>
            <a:off x="4650452" y="2280716"/>
            <a:ext cx="4384678" cy="1008112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headEnd/>
            <a:tailEnd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1"/>
            <a:r>
              <a:rPr lang="ar-DZ" sz="6000" dirty="0">
                <a:solidFill>
                  <a:srgbClr val="00FF00"/>
                </a:solidFill>
                <a:cs typeface="+mj-cs"/>
              </a:rPr>
              <a:t>2 الخطة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553B6D8-3AA8-0F14-8393-FF7FF42C3FED}"/>
              </a:ext>
            </a:extLst>
          </p:cNvPr>
          <p:cNvSpPr txBox="1">
            <a:spLocks/>
          </p:cNvSpPr>
          <p:nvPr/>
        </p:nvSpPr>
        <p:spPr bwMode="auto">
          <a:xfrm>
            <a:off x="4539643" y="5758728"/>
            <a:ext cx="4315310" cy="1008112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headEnd/>
            <a:tailEnd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1"/>
            <a:r>
              <a:rPr lang="ar-DZ" sz="6000" dirty="0">
                <a:solidFill>
                  <a:srgbClr val="0000FF"/>
                </a:solidFill>
                <a:cs typeface="+mj-cs"/>
              </a:rPr>
              <a:t>2 أهميته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E2D30549-ABC4-5AFB-BAE8-799F7091D5AF}"/>
              </a:ext>
            </a:extLst>
          </p:cNvPr>
          <p:cNvSpPr txBox="1">
            <a:spLocks/>
          </p:cNvSpPr>
          <p:nvPr/>
        </p:nvSpPr>
        <p:spPr bwMode="auto">
          <a:xfrm>
            <a:off x="4005572" y="3555973"/>
            <a:ext cx="5125447" cy="1008112"/>
          </a:xfrm>
          <a:prstGeom prst="rect">
            <a:avLst/>
          </a:prstGeom>
          <a:solidFill>
            <a:srgbClr val="002060"/>
          </a:solidFill>
          <a:ln>
            <a:solidFill>
              <a:srgbClr val="FF0000"/>
            </a:solidFill>
            <a:headEnd/>
            <a:tailEnd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6000" dirty="0">
                <a:solidFill>
                  <a:srgbClr val="FFFF00"/>
                </a:solidFill>
                <a:cs typeface="+mj-cs"/>
              </a:rPr>
              <a:t>التخطيط للتدريس</a:t>
            </a:r>
          </a:p>
        </p:txBody>
      </p:sp>
      <p:sp>
        <p:nvSpPr>
          <p:cNvPr id="16" name="TextBox 9">
            <a:extLst>
              <a:ext uri="{FF2B5EF4-FFF2-40B4-BE49-F238E27FC236}">
                <a16:creationId xmlns:a16="http://schemas.microsoft.com/office/drawing/2014/main" id="{E3CAF998-19D4-BB8E-1EE3-06695C69442E}"/>
              </a:ext>
            </a:extLst>
          </p:cNvPr>
          <p:cNvSpPr txBox="1"/>
          <p:nvPr/>
        </p:nvSpPr>
        <p:spPr>
          <a:xfrm>
            <a:off x="9242014" y="3602505"/>
            <a:ext cx="900608" cy="1015663"/>
          </a:xfrm>
          <a:prstGeom prst="rect">
            <a:avLst/>
          </a:prstGeom>
          <a:solidFill>
            <a:srgbClr val="FF0000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1">
            <a:spAutoFit/>
          </a:bodyPr>
          <a:lstStyle/>
          <a:p>
            <a:pPr algn="ctr"/>
            <a:r>
              <a:rPr lang="ar-DZ" sz="6000" dirty="0">
                <a:cs typeface="+mj-cs"/>
              </a:rPr>
              <a:t>2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E6445895-6CAD-11C7-84E7-C4A51223EA43}"/>
              </a:ext>
            </a:extLst>
          </p:cNvPr>
          <p:cNvSpPr txBox="1">
            <a:spLocks/>
          </p:cNvSpPr>
          <p:nvPr/>
        </p:nvSpPr>
        <p:spPr bwMode="auto">
          <a:xfrm>
            <a:off x="4539643" y="4709248"/>
            <a:ext cx="4384678" cy="1008112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headEnd/>
            <a:tailEnd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1"/>
            <a:r>
              <a:rPr lang="ar-DZ" sz="6000" dirty="0">
                <a:solidFill>
                  <a:srgbClr val="0000FF"/>
                </a:solidFill>
                <a:cs typeface="+mj-cs"/>
              </a:rPr>
              <a:t>1 خصائصه</a:t>
            </a:r>
          </a:p>
        </p:txBody>
      </p:sp>
    </p:spTree>
    <p:extLst>
      <p:ext uri="{BB962C8B-B14F-4D97-AF65-F5344CB8AC3E}">
        <p14:creationId xmlns:p14="http://schemas.microsoft.com/office/powerpoint/2010/main" val="17047643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611FB638-A083-D625-4416-4D297ABBE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oup 39">
            <a:extLst>
              <a:ext uri="{FF2B5EF4-FFF2-40B4-BE49-F238E27FC236}">
                <a16:creationId xmlns:a16="http://schemas.microsoft.com/office/drawing/2014/main" id="{CAF40914-45E8-95B2-6419-73555F1BD197}"/>
              </a:ext>
            </a:extLst>
          </p:cNvPr>
          <p:cNvGrpSpPr/>
          <p:nvPr/>
        </p:nvGrpSpPr>
        <p:grpSpPr>
          <a:xfrm>
            <a:off x="9254021" y="65394"/>
            <a:ext cx="2937979" cy="2095819"/>
            <a:chOff x="8214062" y="3535985"/>
            <a:chExt cx="3707913" cy="2961758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6895D1F8-1F2F-1060-DFE5-52628D1C8F90}"/>
                </a:ext>
              </a:extLst>
            </p:cNvPr>
            <p:cNvGrpSpPr/>
            <p:nvPr/>
          </p:nvGrpSpPr>
          <p:grpSpPr>
            <a:xfrm>
              <a:off x="8214062" y="3535985"/>
              <a:ext cx="3707913" cy="2961758"/>
              <a:chOff x="8214062" y="3535985"/>
              <a:chExt cx="3707913" cy="2961758"/>
            </a:xfrm>
          </p:grpSpPr>
          <p:grpSp>
            <p:nvGrpSpPr>
              <p:cNvPr id="6" name="مجموعة 37">
                <a:extLst>
                  <a:ext uri="{FF2B5EF4-FFF2-40B4-BE49-F238E27FC236}">
                    <a16:creationId xmlns:a16="http://schemas.microsoft.com/office/drawing/2014/main" id="{3E836D9E-B257-64AC-AAC0-E66C5DC97CAA}"/>
                  </a:ext>
                </a:extLst>
              </p:cNvPr>
              <p:cNvGrpSpPr/>
              <p:nvPr/>
            </p:nvGrpSpPr>
            <p:grpSpPr>
              <a:xfrm>
                <a:off x="8998451" y="3535985"/>
                <a:ext cx="2106820" cy="1811579"/>
                <a:chOff x="476716" y="4176231"/>
                <a:chExt cx="2465848" cy="2983873"/>
              </a:xfrm>
            </p:grpSpPr>
            <p:sp>
              <p:nvSpPr>
                <p:cNvPr id="7" name="مخطط انسيابي: مستند 3">
                  <a:extLst>
                    <a:ext uri="{FF2B5EF4-FFF2-40B4-BE49-F238E27FC236}">
                      <a16:creationId xmlns:a16="http://schemas.microsoft.com/office/drawing/2014/main" id="{EBE45F55-31E0-2B69-6B35-8585F4E7A32A}"/>
                    </a:ext>
                  </a:extLst>
                </p:cNvPr>
                <p:cNvSpPr/>
                <p:nvPr/>
              </p:nvSpPr>
              <p:spPr>
                <a:xfrm flipH="1" flipV="1">
                  <a:off x="476716" y="4176231"/>
                  <a:ext cx="2465848" cy="2983873"/>
                </a:xfrm>
                <a:prstGeom prst="flowChartDocument">
                  <a:avLst/>
                </a:prstGeom>
                <a:solidFill>
                  <a:srgbClr val="FF00FF"/>
                </a:solidFill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8" name="مربع نص 7">
                  <a:extLst>
                    <a:ext uri="{FF2B5EF4-FFF2-40B4-BE49-F238E27FC236}">
                      <a16:creationId xmlns:a16="http://schemas.microsoft.com/office/drawing/2014/main" id="{DB1000CC-8C75-AEC6-B395-308E5E926DD3}"/>
                    </a:ext>
                  </a:extLst>
                </p:cNvPr>
                <p:cNvSpPr txBox="1"/>
                <p:nvPr/>
              </p:nvSpPr>
              <p:spPr>
                <a:xfrm>
                  <a:off x="611608" y="4383211"/>
                  <a:ext cx="2291025" cy="222083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ar-DZ" sz="2800" b="1" dirty="0">
                      <a:solidFill>
                        <a:schemeClr val="bg1"/>
                      </a:solidFill>
                      <a:latin typeface="Calibri" panose="020F0502020204030204" pitchFamily="34" charset="0"/>
                      <a:cs typeface="Sultan Medium" pitchFamily="2" charset="-78"/>
                    </a:rPr>
                    <a:t>الجانب النظري</a:t>
                  </a:r>
                  <a:endParaRPr lang="fr-FR" sz="2800" b="1" dirty="0">
                    <a:solidFill>
                      <a:schemeClr val="bg1"/>
                    </a:solidFill>
                    <a:latin typeface="Calibri" panose="020F0502020204030204" pitchFamily="34" charset="0"/>
                    <a:cs typeface="Sultan Medium" pitchFamily="2" charset="-78"/>
                  </a:endParaRPr>
                </a:p>
              </p:txBody>
            </p:sp>
          </p:grpSp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4A95A58D-F8FA-0276-BE81-CF7E2D0D8013}"/>
                  </a:ext>
                </a:extLst>
              </p:cNvPr>
              <p:cNvGrpSpPr/>
              <p:nvPr/>
            </p:nvGrpSpPr>
            <p:grpSpPr>
              <a:xfrm>
                <a:off x="8214062" y="5047223"/>
                <a:ext cx="3707913" cy="1450520"/>
                <a:chOff x="8214062" y="5047223"/>
                <a:chExt cx="3707913" cy="1450520"/>
              </a:xfrm>
            </p:grpSpPr>
            <p:sp>
              <p:nvSpPr>
                <p:cNvPr id="3" name="مثلث متساوي الساقين 4">
                  <a:extLst>
                    <a:ext uri="{FF2B5EF4-FFF2-40B4-BE49-F238E27FC236}">
                      <a16:creationId xmlns:a16="http://schemas.microsoft.com/office/drawing/2014/main" id="{045F4EC4-16FA-231D-485E-49203C9DE828}"/>
                    </a:ext>
                  </a:extLst>
                </p:cNvPr>
                <p:cNvSpPr/>
                <p:nvPr/>
              </p:nvSpPr>
              <p:spPr>
                <a:xfrm flipV="1">
                  <a:off x="8214063" y="5407264"/>
                  <a:ext cx="3654760" cy="1090479"/>
                </a:xfrm>
                <a:prstGeom prst="triangle">
                  <a:avLst/>
                </a:prstGeom>
                <a:gradFill flip="none" rotWithShape="1">
                  <a:gsLst>
                    <a:gs pos="100000">
                      <a:srgbClr val="6666FF"/>
                    </a:gs>
                    <a:gs pos="0">
                      <a:srgbClr val="3333CC"/>
                    </a:gs>
                  </a:gsLst>
                  <a:lin ang="162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dirty="0"/>
                </a:p>
              </p:txBody>
            </p:sp>
            <p:sp>
              <p:nvSpPr>
                <p:cNvPr id="4" name="مثلث قائم الزاوية 5">
                  <a:extLst>
                    <a:ext uri="{FF2B5EF4-FFF2-40B4-BE49-F238E27FC236}">
                      <a16:creationId xmlns:a16="http://schemas.microsoft.com/office/drawing/2014/main" id="{4188CE44-6C3D-AE7A-D7D2-1FC54B7BA16B}"/>
                    </a:ext>
                  </a:extLst>
                </p:cNvPr>
                <p:cNvSpPr/>
                <p:nvPr/>
              </p:nvSpPr>
              <p:spPr>
                <a:xfrm>
                  <a:off x="11148005" y="5047224"/>
                  <a:ext cx="773970" cy="335531"/>
                </a:xfrm>
                <a:prstGeom prst="rtTriangle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dirty="0"/>
                </a:p>
              </p:txBody>
            </p:sp>
            <p:sp>
              <p:nvSpPr>
                <p:cNvPr id="5" name="مثلث قائم الزاوية 6">
                  <a:extLst>
                    <a:ext uri="{FF2B5EF4-FFF2-40B4-BE49-F238E27FC236}">
                      <a16:creationId xmlns:a16="http://schemas.microsoft.com/office/drawing/2014/main" id="{0D466CFE-BBCA-E8CB-9EE4-2F4DB760727C}"/>
                    </a:ext>
                  </a:extLst>
                </p:cNvPr>
                <p:cNvSpPr/>
                <p:nvPr/>
              </p:nvSpPr>
              <p:spPr>
                <a:xfrm flipH="1">
                  <a:off x="8214062" y="5047223"/>
                  <a:ext cx="773970" cy="335531"/>
                </a:xfrm>
                <a:prstGeom prst="rtTriangle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dirty="0"/>
                </a:p>
              </p:txBody>
            </p:sp>
            <p:sp>
              <p:nvSpPr>
                <p:cNvPr id="87" name="مربع نص 15">
                  <a:extLst>
                    <a:ext uri="{FF2B5EF4-FFF2-40B4-BE49-F238E27FC236}">
                      <a16:creationId xmlns:a16="http://schemas.microsoft.com/office/drawing/2014/main" id="{FAC6C778-5E93-1CB9-593A-53483266308E}"/>
                    </a:ext>
                  </a:extLst>
                </p:cNvPr>
                <p:cNvSpPr txBox="1"/>
                <p:nvPr/>
              </p:nvSpPr>
              <p:spPr>
                <a:xfrm>
                  <a:off x="9285167" y="5405804"/>
                  <a:ext cx="1304967" cy="10873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ar-DZ" sz="4400" b="1" dirty="0">
                      <a:solidFill>
                        <a:schemeClr val="bg1"/>
                      </a:solidFill>
                      <a:cs typeface="+mj-cs"/>
                    </a:rPr>
                    <a:t>02</a:t>
                  </a:r>
                  <a:endParaRPr lang="fr-FR" sz="6000" b="1" dirty="0">
                    <a:solidFill>
                      <a:schemeClr val="bg1"/>
                    </a:solidFill>
                    <a:cs typeface="+mj-cs"/>
                  </a:endParaRPr>
                </a:p>
              </p:txBody>
            </p:sp>
          </p:grpSp>
        </p:grpSp>
        <p:sp>
          <p:nvSpPr>
            <p:cNvPr id="11" name="شكل بيضاوي 17">
              <a:extLst>
                <a:ext uri="{FF2B5EF4-FFF2-40B4-BE49-F238E27FC236}">
                  <a16:creationId xmlns:a16="http://schemas.microsoft.com/office/drawing/2014/main" id="{B621EA63-9181-F121-4D98-DE47CF38AF8E}"/>
                </a:ext>
              </a:extLst>
            </p:cNvPr>
            <p:cNvSpPr/>
            <p:nvPr/>
          </p:nvSpPr>
          <p:spPr>
            <a:xfrm>
              <a:off x="9617360" y="5034387"/>
              <a:ext cx="1921675" cy="335532"/>
            </a:xfrm>
            <a:prstGeom prst="ellipse">
              <a:avLst/>
            </a:prstGeom>
            <a:gradFill flip="none" rotWithShape="1">
              <a:gsLst>
                <a:gs pos="100000">
                  <a:schemeClr val="bg1">
                    <a:lumMod val="95000"/>
                    <a:alpha val="50000"/>
                  </a:schemeClr>
                </a:gs>
                <a:gs pos="0">
                  <a:schemeClr val="tx1">
                    <a:alpha val="7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BE58F0D7-96DB-4617-C9C7-7AA34203E7F2}"/>
              </a:ext>
            </a:extLst>
          </p:cNvPr>
          <p:cNvGrpSpPr/>
          <p:nvPr/>
        </p:nvGrpSpPr>
        <p:grpSpPr>
          <a:xfrm>
            <a:off x="5219369" y="6001019"/>
            <a:ext cx="1436591" cy="1155398"/>
            <a:chOff x="869787" y="4264250"/>
            <a:chExt cx="1921675" cy="1586134"/>
          </a:xfrm>
        </p:grpSpPr>
        <p:sp>
          <p:nvSpPr>
            <p:cNvPr id="2" name="شكل بيضاوي 16">
              <a:extLst>
                <a:ext uri="{FF2B5EF4-FFF2-40B4-BE49-F238E27FC236}">
                  <a16:creationId xmlns:a16="http://schemas.microsoft.com/office/drawing/2014/main" id="{85F7D949-E4D7-2842-0D09-12B858256DF7}"/>
                </a:ext>
              </a:extLst>
            </p:cNvPr>
            <p:cNvSpPr/>
            <p:nvPr/>
          </p:nvSpPr>
          <p:spPr>
            <a:xfrm>
              <a:off x="869787" y="5514852"/>
              <a:ext cx="1921675" cy="335532"/>
            </a:xfrm>
            <a:prstGeom prst="ellipse">
              <a:avLst/>
            </a:prstGeom>
            <a:gradFill flip="none" rotWithShape="1">
              <a:gsLst>
                <a:gs pos="100000">
                  <a:schemeClr val="bg1">
                    <a:lumMod val="95000"/>
                    <a:alpha val="50000"/>
                  </a:schemeClr>
                </a:gs>
                <a:gs pos="0">
                  <a:schemeClr val="tx1">
                    <a:alpha val="7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23" name="مربع نص 25">
              <a:extLst>
                <a:ext uri="{FF2B5EF4-FFF2-40B4-BE49-F238E27FC236}">
                  <a16:creationId xmlns:a16="http://schemas.microsoft.com/office/drawing/2014/main" id="{332F6E03-B322-1493-9F4B-B6ACF3AF4073}"/>
                </a:ext>
              </a:extLst>
            </p:cNvPr>
            <p:cNvSpPr txBox="1"/>
            <p:nvPr/>
          </p:nvSpPr>
          <p:spPr>
            <a:xfrm>
              <a:off x="1168268" y="4264250"/>
              <a:ext cx="1304967" cy="9717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ar-DZ" sz="4000" b="1" dirty="0">
                  <a:solidFill>
                    <a:schemeClr val="bg1"/>
                  </a:solidFill>
                  <a:cs typeface="+mj-cs"/>
                </a:rPr>
                <a:t>04</a:t>
              </a:r>
              <a:endParaRPr lang="fr-FR" sz="4000" b="1" dirty="0">
                <a:solidFill>
                  <a:schemeClr val="bg1"/>
                </a:solidFill>
                <a:cs typeface="+mj-cs"/>
              </a:endParaRPr>
            </a:p>
          </p:txBody>
        </p:sp>
      </p:grpSp>
      <p:grpSp>
        <p:nvGrpSpPr>
          <p:cNvPr id="9" name="Groupe 8">
            <a:extLst>
              <a:ext uri="{FF2B5EF4-FFF2-40B4-BE49-F238E27FC236}">
                <a16:creationId xmlns:a16="http://schemas.microsoft.com/office/drawing/2014/main" id="{70D745E6-1EE0-DED5-DC57-AC17AEDF58AD}"/>
              </a:ext>
            </a:extLst>
          </p:cNvPr>
          <p:cNvGrpSpPr/>
          <p:nvPr/>
        </p:nvGrpSpPr>
        <p:grpSpPr>
          <a:xfrm>
            <a:off x="3823878" y="-27179"/>
            <a:ext cx="5935646" cy="1015663"/>
            <a:chOff x="41884" y="397033"/>
            <a:chExt cx="6619126" cy="1015663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8EF5C1F-CFC1-2DBC-30A7-C1AAD1C4026A}"/>
                </a:ext>
              </a:extLst>
            </p:cNvPr>
            <p:cNvSpPr txBox="1"/>
            <p:nvPr/>
          </p:nvSpPr>
          <p:spPr>
            <a:xfrm>
              <a:off x="5760402" y="397033"/>
              <a:ext cx="900608" cy="1015663"/>
            </a:xfrm>
            <a:prstGeom prst="rect">
              <a:avLst/>
            </a:prstGeom>
            <a:solidFill>
              <a:srgbClr val="FF0000"/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wrap="square" rtlCol="1">
              <a:spAutoFit/>
            </a:bodyPr>
            <a:lstStyle/>
            <a:p>
              <a:pPr algn="ctr"/>
              <a:r>
                <a:rPr lang="ar-DZ" sz="6000" dirty="0">
                  <a:cs typeface="+mj-cs"/>
                </a:rPr>
                <a:t>1</a:t>
              </a:r>
            </a:p>
          </p:txBody>
        </p:sp>
        <p:sp>
          <p:nvSpPr>
            <p:cNvPr id="12" name="Title 1">
              <a:extLst>
                <a:ext uri="{FF2B5EF4-FFF2-40B4-BE49-F238E27FC236}">
                  <a16:creationId xmlns:a16="http://schemas.microsoft.com/office/drawing/2014/main" id="{CD45A8D9-49BE-BA45-44B8-0EF430104214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41884" y="397033"/>
              <a:ext cx="5718518" cy="100811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  <a:headEnd/>
              <a:tailEnd/>
            </a:ln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noAutofit/>
            </a:bodyPr>
            <a:lstStyle>
              <a:lvl1pPr algn="ctr" rtl="0" eaLnBrk="1" fontAlgn="base" hangingPunct="1">
                <a:spcBef>
                  <a:spcPct val="0"/>
                </a:spcBef>
                <a:spcAft>
                  <a:spcPct val="0"/>
                </a:spcAft>
                <a:defRPr sz="4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algn="ctr" rtl="0" eaLnBrk="1" fontAlgn="base" hangingPunct="1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algn="ctr" rtl="0" eaLnBrk="1" fontAlgn="base" hangingPunct="1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algn="ctr" rtl="0" eaLnBrk="1" fontAlgn="base" hangingPunct="1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algn="ctr" rtl="0" eaLnBrk="1" fontAlgn="base" hangingPunct="1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457200" algn="ctr" rtl="0" eaLnBrk="1" fontAlgn="base" hangingPunct="1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914400" algn="ctr" rtl="0" eaLnBrk="1" fontAlgn="base" hangingPunct="1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1371600" algn="ctr" rtl="0" eaLnBrk="1" fontAlgn="base" hangingPunct="1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1828800" algn="ctr" rtl="0" eaLnBrk="1" fontAlgn="base" hangingPunct="1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rtl="1"/>
              <a:r>
                <a:rPr lang="ar-DZ" sz="6000" dirty="0">
                  <a:solidFill>
                    <a:srgbClr val="FFFF00"/>
                  </a:solidFill>
                  <a:cs typeface="+mj-cs"/>
                </a:rPr>
                <a:t>التخطيط التربوي</a:t>
              </a:r>
            </a:p>
          </p:txBody>
        </p:sp>
      </p:grpSp>
      <p:sp>
        <p:nvSpPr>
          <p:cNvPr id="14" name="ZoneTexte 13">
            <a:extLst>
              <a:ext uri="{FF2B5EF4-FFF2-40B4-BE49-F238E27FC236}">
                <a16:creationId xmlns:a16="http://schemas.microsoft.com/office/drawing/2014/main" id="{D62DF36A-8F92-0231-E312-22E3C0E33E9A}"/>
              </a:ext>
            </a:extLst>
          </p:cNvPr>
          <p:cNvSpPr txBox="1"/>
          <p:nvPr/>
        </p:nvSpPr>
        <p:spPr>
          <a:xfrm>
            <a:off x="9497703" y="2252172"/>
            <a:ext cx="2489298" cy="3970318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 wrap="square">
            <a:spAutoFit/>
          </a:bodyPr>
          <a:lstStyle/>
          <a:p>
            <a:pPr algn="r" rtl="1"/>
            <a:r>
              <a:rPr lang="ar-DZ" sz="3200" b="1" dirty="0">
                <a:solidFill>
                  <a:srgbClr val="00FF00"/>
                </a:solidFill>
              </a:rPr>
              <a:t>التخطيط  التربوي</a:t>
            </a:r>
            <a:r>
              <a:rPr lang="ar-DZ" sz="4000" b="1" dirty="0"/>
              <a:t>: </a:t>
            </a:r>
            <a:endParaRPr lang="fr-FR" sz="4000" b="1" dirty="0"/>
          </a:p>
          <a:p>
            <a:pPr algn="r" rtl="1"/>
            <a:r>
              <a:rPr lang="ar-DZ" sz="3600" b="1" dirty="0"/>
              <a:t>عملية تسبق التنفيذ أو التدبير</a:t>
            </a:r>
          </a:p>
          <a:p>
            <a:pPr algn="r" rtl="1"/>
            <a:r>
              <a:rPr lang="ar-DZ" sz="3600" b="1" dirty="0"/>
              <a:t>’’إعداد </a:t>
            </a:r>
            <a:r>
              <a:rPr lang="ar-DZ" sz="3600" b="1" dirty="0">
                <a:solidFill>
                  <a:srgbClr val="FF0000"/>
                </a:solidFill>
              </a:rPr>
              <a:t>خطة</a:t>
            </a:r>
            <a:r>
              <a:rPr lang="fr-FR" sz="3600" b="1" dirty="0"/>
              <a:t> </a:t>
            </a:r>
            <a:r>
              <a:rPr lang="ar-DZ" sz="3600" b="1" dirty="0"/>
              <a:t>عمل’’ </a:t>
            </a:r>
            <a:endParaRPr lang="ar-DZ" sz="4000" b="1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CAC8D9AD-9D94-010C-7F26-D329EB95E51C}"/>
              </a:ext>
            </a:extLst>
          </p:cNvPr>
          <p:cNvSpPr txBox="1">
            <a:spLocks/>
          </p:cNvSpPr>
          <p:nvPr/>
        </p:nvSpPr>
        <p:spPr bwMode="auto">
          <a:xfrm>
            <a:off x="7860623" y="1391616"/>
            <a:ext cx="2014912" cy="78694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headEnd/>
            <a:tailEnd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1"/>
            <a:r>
              <a:rPr lang="ar-DZ" sz="4800" dirty="0">
                <a:solidFill>
                  <a:srgbClr val="FFFF00"/>
                </a:solidFill>
                <a:cs typeface="+mj-cs"/>
              </a:rPr>
              <a:t> مفاهيم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E1E80A82-2999-0940-1A81-5E254BF62EFE}"/>
              </a:ext>
            </a:extLst>
          </p:cNvPr>
          <p:cNvSpPr txBox="1"/>
          <p:nvPr/>
        </p:nvSpPr>
        <p:spPr>
          <a:xfrm>
            <a:off x="6096000" y="2342742"/>
            <a:ext cx="3079580" cy="4031873"/>
          </a:xfrm>
          <a:prstGeom prst="rect">
            <a:avLst/>
          </a:prstGeom>
          <a:solidFill>
            <a:schemeClr val="bg1"/>
          </a:solidFill>
          <a:ln>
            <a:solidFill>
              <a:srgbClr val="FFFF00"/>
            </a:solidFill>
          </a:ln>
        </p:spPr>
        <p:txBody>
          <a:bodyPr wrap="square">
            <a:spAutoFit/>
          </a:bodyPr>
          <a:lstStyle/>
          <a:p>
            <a:pPr algn="r" rtl="1"/>
            <a:r>
              <a:rPr lang="ar-DZ" sz="3200" b="1" dirty="0">
                <a:solidFill>
                  <a:srgbClr val="00FF00"/>
                </a:solidFill>
              </a:rPr>
              <a:t>التخطيط لعملية التدريس</a:t>
            </a:r>
            <a:r>
              <a:rPr lang="ar-DZ" sz="3200" dirty="0"/>
              <a:t>: وضع تصورات ‘</a:t>
            </a:r>
            <a:r>
              <a:rPr lang="ar-DZ" sz="3200" dirty="0">
                <a:solidFill>
                  <a:srgbClr val="FF0000"/>
                </a:solidFill>
              </a:rPr>
              <a:t>’خطة</a:t>
            </a:r>
            <a:r>
              <a:rPr lang="ar-DZ" sz="3200" dirty="0"/>
              <a:t>’’ لما سيقوم به المعلم من أنشطة أثناء درسه لتحقيق الأهداف التعليمية في زمن محدد وبآليات مدروسة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75A2AB01-3BAB-0365-1D78-E2DC0A4A28A5}"/>
              </a:ext>
            </a:extLst>
          </p:cNvPr>
          <p:cNvSpPr txBox="1"/>
          <p:nvPr/>
        </p:nvSpPr>
        <p:spPr>
          <a:xfrm>
            <a:off x="66837" y="1105707"/>
            <a:ext cx="5760635" cy="3170099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 wrap="square">
            <a:spAutoFit/>
          </a:bodyPr>
          <a:lstStyle/>
          <a:p>
            <a:pPr algn="r" rtl="1"/>
            <a:r>
              <a:rPr lang="ar-DZ" sz="3200" b="1" dirty="0">
                <a:solidFill>
                  <a:srgbClr val="00FF00"/>
                </a:solidFill>
              </a:rPr>
              <a:t>عناصر الخطة</a:t>
            </a:r>
            <a:r>
              <a:rPr lang="ar-DZ" sz="3200" dirty="0"/>
              <a:t>: </a:t>
            </a:r>
            <a:r>
              <a:rPr lang="ar-DZ" sz="2800" dirty="0">
                <a:solidFill>
                  <a:srgbClr val="00FF00"/>
                </a:solidFill>
              </a:rPr>
              <a:t>1</a:t>
            </a:r>
            <a:r>
              <a:rPr lang="ar-DZ" sz="2800" dirty="0"/>
              <a:t>ـ الموارد ‘’المحتوى’’</a:t>
            </a:r>
          </a:p>
          <a:p>
            <a:pPr algn="r" rtl="1"/>
            <a:r>
              <a:rPr lang="ar-DZ" sz="2800" dirty="0">
                <a:solidFill>
                  <a:srgbClr val="00FF00"/>
                </a:solidFill>
              </a:rPr>
              <a:t>2</a:t>
            </a:r>
            <a:r>
              <a:rPr lang="ar-DZ" sz="2800" dirty="0"/>
              <a:t>ـ الأهداف المنشودة المراد بلوغها لتحقيق الكفاءة</a:t>
            </a:r>
          </a:p>
          <a:p>
            <a:pPr algn="r" rtl="1"/>
            <a:r>
              <a:rPr lang="ar-DZ" sz="2800" dirty="0">
                <a:solidFill>
                  <a:srgbClr val="00FF00"/>
                </a:solidFill>
              </a:rPr>
              <a:t>3</a:t>
            </a:r>
            <a:r>
              <a:rPr lang="ar-DZ" sz="2800" dirty="0"/>
              <a:t>ـ الأنشطة والإجراءات التي ستتبع لتحقيق الأهداف</a:t>
            </a:r>
          </a:p>
          <a:p>
            <a:pPr algn="r" rtl="1"/>
            <a:r>
              <a:rPr lang="ar-DZ" sz="2800" dirty="0">
                <a:solidFill>
                  <a:srgbClr val="00FF00"/>
                </a:solidFill>
              </a:rPr>
              <a:t>4</a:t>
            </a:r>
            <a:r>
              <a:rPr lang="ar-DZ" sz="2800" dirty="0"/>
              <a:t>ـ الإمكانيات والموارد اللازمة لتطبيق الخطة </a:t>
            </a:r>
          </a:p>
          <a:p>
            <a:pPr algn="r" rtl="1"/>
            <a:r>
              <a:rPr lang="ar-DZ" sz="2800" dirty="0">
                <a:solidFill>
                  <a:srgbClr val="00FF00"/>
                </a:solidFill>
              </a:rPr>
              <a:t>5</a:t>
            </a:r>
            <a:r>
              <a:rPr lang="ar-DZ" sz="2800" dirty="0"/>
              <a:t>ـ المنفذون     </a:t>
            </a:r>
            <a:r>
              <a:rPr lang="ar-DZ" sz="2800" dirty="0">
                <a:solidFill>
                  <a:srgbClr val="00FF00"/>
                </a:solidFill>
              </a:rPr>
              <a:t>6</a:t>
            </a:r>
            <a:r>
              <a:rPr lang="ar-DZ" sz="2800" dirty="0"/>
              <a:t>- الزمن (توقيت التنفيذ)</a:t>
            </a:r>
          </a:p>
          <a:p>
            <a:pPr algn="r" rtl="1"/>
            <a:r>
              <a:rPr lang="ar-DZ" sz="2800" dirty="0">
                <a:solidFill>
                  <a:srgbClr val="00FF00"/>
                </a:solidFill>
              </a:rPr>
              <a:t>7</a:t>
            </a:r>
            <a:r>
              <a:rPr lang="ar-DZ" sz="2800" dirty="0"/>
              <a:t>ـ أساليب التقويم والمتابعة      </a:t>
            </a:r>
            <a:r>
              <a:rPr lang="ar-DZ" sz="2800" dirty="0">
                <a:solidFill>
                  <a:srgbClr val="00FF00"/>
                </a:solidFill>
              </a:rPr>
              <a:t>8</a:t>
            </a:r>
            <a:r>
              <a:rPr lang="ar-DZ" sz="2800" dirty="0"/>
              <a:t>ـ الملاحظات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C12559ED-57BE-C129-6E0D-1E605C00EF97}"/>
              </a:ext>
            </a:extLst>
          </p:cNvPr>
          <p:cNvSpPr txBox="1"/>
          <p:nvPr/>
        </p:nvSpPr>
        <p:spPr>
          <a:xfrm>
            <a:off x="66837" y="4400580"/>
            <a:ext cx="5760636" cy="2308324"/>
          </a:xfrm>
          <a:prstGeom prst="rect">
            <a:avLst/>
          </a:prstGeom>
          <a:solidFill>
            <a:schemeClr val="bg1"/>
          </a:solidFill>
          <a:ln>
            <a:solidFill>
              <a:srgbClr val="FFFF00"/>
            </a:solidFill>
          </a:ln>
        </p:spPr>
        <p:txBody>
          <a:bodyPr wrap="square">
            <a:spAutoFit/>
          </a:bodyPr>
          <a:lstStyle/>
          <a:p>
            <a:pPr algn="r" rtl="1"/>
            <a:r>
              <a:rPr kumimoji="0" lang="ar-DZ" sz="3200" b="1" i="0" u="none" strike="noStrike" kern="1200" cap="none" spc="0" normalizeH="0" baseline="0" noProof="0" dirty="0">
                <a:ln>
                  <a:noFill/>
                </a:ln>
                <a:solidFill>
                  <a:srgbClr val="00FF00"/>
                </a:solidFill>
                <a:effectLst/>
                <a:uLnTx/>
                <a:uFillTx/>
                <a:latin typeface="Calisto MT" panose="02040603050505030304"/>
                <a:ea typeface="+mn-ea"/>
                <a:cs typeface="Arial" panose="020B0604020202020204" pitchFamily="34" charset="0"/>
              </a:rPr>
              <a:t>أنواع الخطط</a:t>
            </a:r>
            <a:endParaRPr lang="ar-DZ" sz="2800" dirty="0"/>
          </a:p>
          <a:p>
            <a:pPr algn="r" rtl="1"/>
            <a:r>
              <a:rPr lang="ar-DZ" sz="2800" dirty="0"/>
              <a:t>ـ خطة طويلة المدى ( عشرة أو خمس سنوات)</a:t>
            </a:r>
          </a:p>
          <a:p>
            <a:pPr algn="r" rtl="1"/>
            <a:r>
              <a:rPr lang="ar-DZ" sz="2800" dirty="0"/>
              <a:t>ـ </a:t>
            </a:r>
            <a:r>
              <a:rPr lang="ar-DZ" sz="2800" u="sng" dirty="0"/>
              <a:t>خطة متوسطة المدى </a:t>
            </a:r>
            <a:r>
              <a:rPr lang="ar-DZ" sz="2800" dirty="0"/>
              <a:t>( سنوية أو نصف سنوية)</a:t>
            </a:r>
          </a:p>
          <a:p>
            <a:pPr algn="r" rtl="1"/>
            <a:r>
              <a:rPr lang="ar-DZ" sz="2800" dirty="0"/>
              <a:t>ـ </a:t>
            </a:r>
            <a:r>
              <a:rPr lang="ar-DZ" sz="2800" u="sng" dirty="0"/>
              <a:t>خطة قصيرة المدى  </a:t>
            </a:r>
            <a:r>
              <a:rPr lang="ar-DZ" sz="2800" dirty="0"/>
              <a:t>( شهرية أو أسبوعية)</a:t>
            </a:r>
          </a:p>
          <a:p>
            <a:pPr algn="r" rtl="1"/>
            <a:r>
              <a:rPr lang="ar-DZ" sz="2800" dirty="0"/>
              <a:t>ـ </a:t>
            </a:r>
            <a:r>
              <a:rPr lang="ar-DZ" sz="2800" u="sng" dirty="0"/>
              <a:t>إجرائية</a:t>
            </a:r>
            <a:r>
              <a:rPr lang="ar-DZ" sz="2800" dirty="0"/>
              <a:t>              (يومية أو موقفيه)</a:t>
            </a:r>
          </a:p>
        </p:txBody>
      </p:sp>
    </p:spTree>
    <p:extLst>
      <p:ext uri="{BB962C8B-B14F-4D97-AF65-F5344CB8AC3E}">
        <p14:creationId xmlns:p14="http://schemas.microsoft.com/office/powerpoint/2010/main" val="16078631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9DC755-2353-1861-5EA3-CBA9555C9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oup 39">
            <a:extLst>
              <a:ext uri="{FF2B5EF4-FFF2-40B4-BE49-F238E27FC236}">
                <a16:creationId xmlns:a16="http://schemas.microsoft.com/office/drawing/2014/main" id="{07320F8E-5227-DC14-2E01-3033E5BBAF22}"/>
              </a:ext>
            </a:extLst>
          </p:cNvPr>
          <p:cNvGrpSpPr/>
          <p:nvPr/>
        </p:nvGrpSpPr>
        <p:grpSpPr>
          <a:xfrm>
            <a:off x="9254021" y="65394"/>
            <a:ext cx="2937979" cy="2095819"/>
            <a:chOff x="8214062" y="3535985"/>
            <a:chExt cx="3707913" cy="2961758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B1C30094-8422-9644-3DC0-678A62E116F2}"/>
                </a:ext>
              </a:extLst>
            </p:cNvPr>
            <p:cNvGrpSpPr/>
            <p:nvPr/>
          </p:nvGrpSpPr>
          <p:grpSpPr>
            <a:xfrm>
              <a:off x="8214062" y="3535985"/>
              <a:ext cx="3707913" cy="2961758"/>
              <a:chOff x="8214062" y="3535985"/>
              <a:chExt cx="3707913" cy="2961758"/>
            </a:xfrm>
          </p:grpSpPr>
          <p:grpSp>
            <p:nvGrpSpPr>
              <p:cNvPr id="6" name="مجموعة 37">
                <a:extLst>
                  <a:ext uri="{FF2B5EF4-FFF2-40B4-BE49-F238E27FC236}">
                    <a16:creationId xmlns:a16="http://schemas.microsoft.com/office/drawing/2014/main" id="{D06128D8-523F-90A3-A56D-8F88CFF1464C}"/>
                  </a:ext>
                </a:extLst>
              </p:cNvPr>
              <p:cNvGrpSpPr/>
              <p:nvPr/>
            </p:nvGrpSpPr>
            <p:grpSpPr>
              <a:xfrm>
                <a:off x="8998451" y="3535985"/>
                <a:ext cx="2106820" cy="1811579"/>
                <a:chOff x="476716" y="4176231"/>
                <a:chExt cx="2465848" cy="2983873"/>
              </a:xfrm>
            </p:grpSpPr>
            <p:sp>
              <p:nvSpPr>
                <p:cNvPr id="7" name="مخطط انسيابي: مستند 3">
                  <a:extLst>
                    <a:ext uri="{FF2B5EF4-FFF2-40B4-BE49-F238E27FC236}">
                      <a16:creationId xmlns:a16="http://schemas.microsoft.com/office/drawing/2014/main" id="{4D0092BB-A9A7-5720-D1AC-25302045DC78}"/>
                    </a:ext>
                  </a:extLst>
                </p:cNvPr>
                <p:cNvSpPr/>
                <p:nvPr/>
              </p:nvSpPr>
              <p:spPr>
                <a:xfrm flipH="1" flipV="1">
                  <a:off x="476716" y="4176231"/>
                  <a:ext cx="2465848" cy="2983873"/>
                </a:xfrm>
                <a:prstGeom prst="flowChartDocument">
                  <a:avLst/>
                </a:prstGeom>
                <a:solidFill>
                  <a:srgbClr val="FF00FF"/>
                </a:solidFill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8" name="مربع نص 7">
                  <a:extLst>
                    <a:ext uri="{FF2B5EF4-FFF2-40B4-BE49-F238E27FC236}">
                      <a16:creationId xmlns:a16="http://schemas.microsoft.com/office/drawing/2014/main" id="{29B5112A-8B03-71B6-2463-F3DD5DD98690}"/>
                    </a:ext>
                  </a:extLst>
                </p:cNvPr>
                <p:cNvSpPr txBox="1"/>
                <p:nvPr/>
              </p:nvSpPr>
              <p:spPr>
                <a:xfrm>
                  <a:off x="611608" y="4383211"/>
                  <a:ext cx="2291025" cy="222083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ar-DZ" sz="2800" b="1" dirty="0">
                      <a:solidFill>
                        <a:schemeClr val="bg1"/>
                      </a:solidFill>
                      <a:latin typeface="Calibri" panose="020F0502020204030204" pitchFamily="34" charset="0"/>
                      <a:cs typeface="Sultan Medium" pitchFamily="2" charset="-78"/>
                    </a:rPr>
                    <a:t>الجانب النظري</a:t>
                  </a:r>
                  <a:endParaRPr lang="fr-FR" sz="2800" b="1" dirty="0">
                    <a:solidFill>
                      <a:schemeClr val="bg1"/>
                    </a:solidFill>
                    <a:latin typeface="Calibri" panose="020F0502020204030204" pitchFamily="34" charset="0"/>
                    <a:cs typeface="Sultan Medium" pitchFamily="2" charset="-78"/>
                  </a:endParaRPr>
                </a:p>
              </p:txBody>
            </p:sp>
          </p:grpSp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2F15BB34-0BCB-1E00-0996-39CB62FA4408}"/>
                  </a:ext>
                </a:extLst>
              </p:cNvPr>
              <p:cNvGrpSpPr/>
              <p:nvPr/>
            </p:nvGrpSpPr>
            <p:grpSpPr>
              <a:xfrm>
                <a:off x="8214062" y="5047223"/>
                <a:ext cx="3707913" cy="1450520"/>
                <a:chOff x="8214062" y="5047223"/>
                <a:chExt cx="3707913" cy="1450520"/>
              </a:xfrm>
            </p:grpSpPr>
            <p:sp>
              <p:nvSpPr>
                <p:cNvPr id="3" name="مثلث متساوي الساقين 4">
                  <a:extLst>
                    <a:ext uri="{FF2B5EF4-FFF2-40B4-BE49-F238E27FC236}">
                      <a16:creationId xmlns:a16="http://schemas.microsoft.com/office/drawing/2014/main" id="{E1F4D01E-69B6-7BEF-26D1-B48FCE9F197A}"/>
                    </a:ext>
                  </a:extLst>
                </p:cNvPr>
                <p:cNvSpPr/>
                <p:nvPr/>
              </p:nvSpPr>
              <p:spPr>
                <a:xfrm flipV="1">
                  <a:off x="8214063" y="5407264"/>
                  <a:ext cx="3654760" cy="1090479"/>
                </a:xfrm>
                <a:prstGeom prst="triangle">
                  <a:avLst/>
                </a:prstGeom>
                <a:gradFill flip="none" rotWithShape="1">
                  <a:gsLst>
                    <a:gs pos="100000">
                      <a:srgbClr val="6666FF"/>
                    </a:gs>
                    <a:gs pos="0">
                      <a:srgbClr val="3333CC"/>
                    </a:gs>
                  </a:gsLst>
                  <a:lin ang="162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dirty="0"/>
                </a:p>
              </p:txBody>
            </p:sp>
            <p:sp>
              <p:nvSpPr>
                <p:cNvPr id="4" name="مثلث قائم الزاوية 5">
                  <a:extLst>
                    <a:ext uri="{FF2B5EF4-FFF2-40B4-BE49-F238E27FC236}">
                      <a16:creationId xmlns:a16="http://schemas.microsoft.com/office/drawing/2014/main" id="{00A5C54E-BD79-A0CA-952C-8257571F3750}"/>
                    </a:ext>
                  </a:extLst>
                </p:cNvPr>
                <p:cNvSpPr/>
                <p:nvPr/>
              </p:nvSpPr>
              <p:spPr>
                <a:xfrm>
                  <a:off x="11148005" y="5047224"/>
                  <a:ext cx="773970" cy="335531"/>
                </a:xfrm>
                <a:prstGeom prst="rtTriangle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dirty="0"/>
                </a:p>
              </p:txBody>
            </p:sp>
            <p:sp>
              <p:nvSpPr>
                <p:cNvPr id="5" name="مثلث قائم الزاوية 6">
                  <a:extLst>
                    <a:ext uri="{FF2B5EF4-FFF2-40B4-BE49-F238E27FC236}">
                      <a16:creationId xmlns:a16="http://schemas.microsoft.com/office/drawing/2014/main" id="{B43AB0E1-B1CC-72C6-108F-624867D5AB74}"/>
                    </a:ext>
                  </a:extLst>
                </p:cNvPr>
                <p:cNvSpPr/>
                <p:nvPr/>
              </p:nvSpPr>
              <p:spPr>
                <a:xfrm flipH="1">
                  <a:off x="8214062" y="5047223"/>
                  <a:ext cx="773970" cy="335531"/>
                </a:xfrm>
                <a:prstGeom prst="rtTriangle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dirty="0"/>
                </a:p>
              </p:txBody>
            </p:sp>
            <p:sp>
              <p:nvSpPr>
                <p:cNvPr id="87" name="مربع نص 15">
                  <a:extLst>
                    <a:ext uri="{FF2B5EF4-FFF2-40B4-BE49-F238E27FC236}">
                      <a16:creationId xmlns:a16="http://schemas.microsoft.com/office/drawing/2014/main" id="{FF7799FA-18AB-F491-C486-C45174EC134B}"/>
                    </a:ext>
                  </a:extLst>
                </p:cNvPr>
                <p:cNvSpPr txBox="1"/>
                <p:nvPr/>
              </p:nvSpPr>
              <p:spPr>
                <a:xfrm>
                  <a:off x="9285167" y="5405804"/>
                  <a:ext cx="1304967" cy="10873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ar-DZ" sz="4400" b="1" dirty="0">
                      <a:solidFill>
                        <a:schemeClr val="bg1"/>
                      </a:solidFill>
                      <a:cs typeface="+mj-cs"/>
                    </a:rPr>
                    <a:t>02</a:t>
                  </a:r>
                  <a:endParaRPr lang="fr-FR" sz="6000" b="1" dirty="0">
                    <a:solidFill>
                      <a:schemeClr val="bg1"/>
                    </a:solidFill>
                    <a:cs typeface="+mj-cs"/>
                  </a:endParaRPr>
                </a:p>
              </p:txBody>
            </p:sp>
          </p:grpSp>
        </p:grpSp>
        <p:sp>
          <p:nvSpPr>
            <p:cNvPr id="11" name="شكل بيضاوي 17">
              <a:extLst>
                <a:ext uri="{FF2B5EF4-FFF2-40B4-BE49-F238E27FC236}">
                  <a16:creationId xmlns:a16="http://schemas.microsoft.com/office/drawing/2014/main" id="{6FF9C8C0-ABA7-9541-8640-DD00F662260E}"/>
                </a:ext>
              </a:extLst>
            </p:cNvPr>
            <p:cNvSpPr/>
            <p:nvPr/>
          </p:nvSpPr>
          <p:spPr>
            <a:xfrm>
              <a:off x="9617360" y="5034387"/>
              <a:ext cx="1921675" cy="335532"/>
            </a:xfrm>
            <a:prstGeom prst="ellipse">
              <a:avLst/>
            </a:prstGeom>
            <a:gradFill flip="none" rotWithShape="1">
              <a:gsLst>
                <a:gs pos="100000">
                  <a:schemeClr val="bg1">
                    <a:lumMod val="95000"/>
                    <a:alpha val="50000"/>
                  </a:schemeClr>
                </a:gs>
                <a:gs pos="0">
                  <a:schemeClr val="tx1">
                    <a:alpha val="7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9E036E28-A367-54D5-B92F-2471A9D46DD9}"/>
              </a:ext>
            </a:extLst>
          </p:cNvPr>
          <p:cNvSpPr txBox="1"/>
          <p:nvPr/>
        </p:nvSpPr>
        <p:spPr>
          <a:xfrm>
            <a:off x="8951911" y="-43615"/>
            <a:ext cx="807613" cy="1015663"/>
          </a:xfrm>
          <a:prstGeom prst="rect">
            <a:avLst/>
          </a:prstGeom>
          <a:solidFill>
            <a:srgbClr val="FF0000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1">
            <a:spAutoFit/>
          </a:bodyPr>
          <a:lstStyle/>
          <a:p>
            <a:pPr algn="ctr"/>
            <a:r>
              <a:rPr lang="ar-DZ" sz="6000" dirty="0">
                <a:cs typeface="+mj-cs"/>
              </a:rPr>
              <a:t>2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01969254-9765-EAE0-1E1B-B94887ABE022}"/>
              </a:ext>
            </a:extLst>
          </p:cNvPr>
          <p:cNvSpPr txBox="1">
            <a:spLocks/>
          </p:cNvSpPr>
          <p:nvPr/>
        </p:nvSpPr>
        <p:spPr bwMode="auto">
          <a:xfrm>
            <a:off x="5786883" y="-43615"/>
            <a:ext cx="3223522" cy="954107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headEnd/>
            <a:tailEnd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1"/>
            <a:r>
              <a:rPr lang="ar-DZ" dirty="0">
                <a:solidFill>
                  <a:srgbClr val="FFFF00"/>
                </a:solidFill>
                <a:cs typeface="+mj-cs"/>
              </a:rPr>
              <a:t>التخطيط للتدريس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3D5DDF26-A880-1266-DBFD-9C7E3834FF6B}"/>
              </a:ext>
            </a:extLst>
          </p:cNvPr>
          <p:cNvSpPr txBox="1">
            <a:spLocks/>
          </p:cNvSpPr>
          <p:nvPr/>
        </p:nvSpPr>
        <p:spPr bwMode="auto">
          <a:xfrm>
            <a:off x="944806" y="986643"/>
            <a:ext cx="3756463" cy="561529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headEnd/>
            <a:tailEnd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1"/>
            <a:r>
              <a:rPr lang="ar-DZ" sz="5400" dirty="0">
                <a:solidFill>
                  <a:srgbClr val="00FF00"/>
                </a:solidFill>
                <a:cs typeface="+mj-cs"/>
              </a:rPr>
              <a:t> أهمية التخطيط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FF157BA8-162A-DE83-D32B-8D20774DC0F9}"/>
              </a:ext>
            </a:extLst>
          </p:cNvPr>
          <p:cNvSpPr txBox="1"/>
          <p:nvPr/>
        </p:nvSpPr>
        <p:spPr>
          <a:xfrm>
            <a:off x="93910" y="1624323"/>
            <a:ext cx="6289211" cy="4524315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 wrap="square">
            <a:spAutoFit/>
          </a:bodyPr>
          <a:lstStyle/>
          <a:p>
            <a:pPr algn="r">
              <a:buNone/>
            </a:pPr>
            <a:r>
              <a:rPr lang="ar-DZ" sz="3200" dirty="0"/>
              <a:t>1</a:t>
            </a:r>
            <a:r>
              <a:rPr lang="ar-SA" sz="3200" dirty="0"/>
              <a:t>ـ </a:t>
            </a:r>
            <a:r>
              <a:rPr lang="ar-DZ" sz="3200" dirty="0"/>
              <a:t>يجعل عملية التدريس ذات معنى</a:t>
            </a:r>
            <a:endParaRPr lang="fr-FR" sz="3200" dirty="0"/>
          </a:p>
          <a:p>
            <a:pPr algn="r">
              <a:buNone/>
            </a:pPr>
            <a:r>
              <a:rPr lang="ar-DZ" sz="3200" dirty="0"/>
              <a:t>2</a:t>
            </a:r>
            <a:r>
              <a:rPr lang="ar-SA" sz="3200" dirty="0"/>
              <a:t>ـ </a:t>
            </a:r>
            <a:r>
              <a:rPr lang="ar-DZ" sz="3200" dirty="0"/>
              <a:t>يحدد وبوضوح الأهداف المرتبطة بالكفاءات</a:t>
            </a:r>
            <a:endParaRPr lang="fr-FR" sz="3200" dirty="0"/>
          </a:p>
          <a:p>
            <a:pPr algn="r">
              <a:buNone/>
            </a:pPr>
            <a:r>
              <a:rPr lang="ar-DZ" sz="3200" dirty="0"/>
              <a:t>3</a:t>
            </a:r>
            <a:r>
              <a:rPr lang="ar-SA" sz="3200" dirty="0"/>
              <a:t>ـ </a:t>
            </a:r>
            <a:r>
              <a:rPr lang="ar-DZ" sz="3200" dirty="0"/>
              <a:t>يضمن الاستخدام الأمثل للموارد والاستراتيجيات</a:t>
            </a:r>
            <a:endParaRPr lang="fr-FR" sz="3200" dirty="0"/>
          </a:p>
          <a:p>
            <a:pPr algn="r">
              <a:buNone/>
            </a:pPr>
            <a:r>
              <a:rPr lang="ar-DZ" sz="3200" dirty="0"/>
              <a:t>4</a:t>
            </a:r>
            <a:r>
              <a:rPr lang="ar-SA" sz="3200" dirty="0"/>
              <a:t>ـ </a:t>
            </a:r>
            <a:r>
              <a:rPr lang="ar-DZ" sz="3200" dirty="0"/>
              <a:t>يجنب اتخاذ القرارات الاعتباطية</a:t>
            </a:r>
            <a:endParaRPr lang="fr-FR" sz="3200" dirty="0"/>
          </a:p>
          <a:p>
            <a:pPr algn="r" rtl="1">
              <a:buNone/>
            </a:pPr>
            <a:r>
              <a:rPr lang="en-US" sz="3200" dirty="0"/>
              <a:t>5</a:t>
            </a:r>
            <a:r>
              <a:rPr lang="ar-SA" sz="3200" dirty="0"/>
              <a:t>ـ </a:t>
            </a:r>
            <a:r>
              <a:rPr lang="ar-DZ" sz="3200" dirty="0"/>
              <a:t>يساعد على تدبير الوقت والاقتصاد في الجهد.</a:t>
            </a:r>
          </a:p>
          <a:p>
            <a:pPr algn="r" rtl="1">
              <a:buNone/>
            </a:pPr>
            <a:r>
              <a:rPr lang="ar-DZ" sz="3200" dirty="0"/>
              <a:t>6- يوفر الأمن النفسي للأستاذ والمتعلمين</a:t>
            </a:r>
          </a:p>
          <a:p>
            <a:pPr algn="r" rtl="1">
              <a:buNone/>
            </a:pPr>
            <a:r>
              <a:rPr lang="ar-DZ" sz="3200" dirty="0"/>
              <a:t>7- يسهل عملية التقويم</a:t>
            </a: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52ECA137-C4EA-2831-E6C8-E1BD61FD1033}"/>
              </a:ext>
            </a:extLst>
          </p:cNvPr>
          <p:cNvSpPr txBox="1">
            <a:spLocks/>
          </p:cNvSpPr>
          <p:nvPr/>
        </p:nvSpPr>
        <p:spPr bwMode="auto">
          <a:xfrm>
            <a:off x="8497304" y="1899844"/>
            <a:ext cx="3652581" cy="668757"/>
          </a:xfrm>
          <a:prstGeom prst="rect">
            <a:avLst/>
          </a:prstGeom>
          <a:solidFill>
            <a:schemeClr val="bg1"/>
          </a:solidFill>
          <a:ln>
            <a:solidFill>
              <a:srgbClr val="0000FF"/>
            </a:solidFill>
            <a:headEnd/>
            <a:tailEnd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1"/>
            <a:r>
              <a:rPr lang="ar-DZ" dirty="0">
                <a:solidFill>
                  <a:srgbClr val="FFFF00"/>
                </a:solidFill>
                <a:cs typeface="+mj-cs"/>
              </a:rPr>
              <a:t>خصائص التخطيط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B7EDD30C-69D8-0314-7C3A-E85CB6229F9E}"/>
              </a:ext>
            </a:extLst>
          </p:cNvPr>
          <p:cNvSpPr txBox="1"/>
          <p:nvPr/>
        </p:nvSpPr>
        <p:spPr>
          <a:xfrm>
            <a:off x="6608190" y="2685596"/>
            <a:ext cx="5489900" cy="2554545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 wrap="square">
            <a:spAutoFit/>
          </a:bodyPr>
          <a:lstStyle/>
          <a:p>
            <a:pPr algn="r" rtl="1">
              <a:buNone/>
            </a:pPr>
            <a:r>
              <a:rPr lang="en-US" sz="32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</a:t>
            </a:r>
            <a:r>
              <a:rPr lang="ar-SA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ـ </a:t>
            </a:r>
            <a:r>
              <a:rPr lang="ar-SA" sz="3200" dirty="0">
                <a:solidFill>
                  <a:srgbClr val="FFFF00"/>
                </a:solidFill>
              </a:rPr>
              <a:t>الاستمرارية</a:t>
            </a:r>
            <a:r>
              <a:rPr lang="ar-SA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ar-DZ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</a:t>
            </a:r>
            <a:r>
              <a:rPr lang="en-US" sz="3200" dirty="0">
                <a:solidFill>
                  <a:srgbClr val="FF0000"/>
                </a:solidFill>
              </a:rPr>
              <a:t>2</a:t>
            </a:r>
            <a:r>
              <a:rPr lang="ar-SA" sz="3200" dirty="0">
                <a:solidFill>
                  <a:srgbClr val="FFFF00"/>
                </a:solidFill>
              </a:rPr>
              <a:t>ـ</a:t>
            </a:r>
            <a:r>
              <a:rPr lang="ar-DZ" sz="3200" dirty="0">
                <a:solidFill>
                  <a:srgbClr val="FFFF00"/>
                </a:solidFill>
              </a:rPr>
              <a:t>الأهداف</a:t>
            </a:r>
          </a:p>
          <a:p>
            <a:pPr algn="r" rtl="1">
              <a:buNone/>
            </a:pPr>
            <a:r>
              <a:rPr lang="en-US" sz="3200" dirty="0">
                <a:solidFill>
                  <a:srgbClr val="FF0000"/>
                </a:solidFill>
              </a:rPr>
              <a:t>3</a:t>
            </a:r>
            <a:r>
              <a:rPr lang="ar-SA" sz="3200" dirty="0">
                <a:solidFill>
                  <a:srgbClr val="FFFF00"/>
                </a:solidFill>
              </a:rPr>
              <a:t>ـ الأولوية</a:t>
            </a:r>
            <a:r>
              <a:rPr lang="ar-DZ" sz="3200" dirty="0">
                <a:solidFill>
                  <a:srgbClr val="FFFF00"/>
                </a:solidFill>
              </a:rPr>
              <a:t>      </a:t>
            </a:r>
            <a:r>
              <a:rPr lang="en-US" sz="3200" dirty="0">
                <a:solidFill>
                  <a:srgbClr val="FF0000"/>
                </a:solidFill>
              </a:rPr>
              <a:t>4</a:t>
            </a:r>
            <a:r>
              <a:rPr lang="ar-SA" sz="3200" dirty="0">
                <a:solidFill>
                  <a:srgbClr val="FFFF00"/>
                </a:solidFill>
              </a:rPr>
              <a:t>ـ الاختيار بين البدائل </a:t>
            </a:r>
            <a:endParaRPr lang="ar-DZ" sz="3200" dirty="0">
              <a:solidFill>
                <a:srgbClr val="FFFF00"/>
              </a:solidFill>
            </a:endParaRPr>
          </a:p>
          <a:p>
            <a:pPr algn="r" rtl="1">
              <a:buNone/>
            </a:pPr>
            <a:r>
              <a:rPr lang="en-US" sz="3200" dirty="0">
                <a:solidFill>
                  <a:srgbClr val="FF0000"/>
                </a:solidFill>
              </a:rPr>
              <a:t>5</a:t>
            </a:r>
            <a:r>
              <a:rPr lang="ar-SA" sz="3200" dirty="0">
                <a:solidFill>
                  <a:srgbClr val="FFFF00"/>
                </a:solidFill>
              </a:rPr>
              <a:t>ـ الشمول</a:t>
            </a:r>
            <a:r>
              <a:rPr lang="ar-DZ" sz="3200" dirty="0">
                <a:solidFill>
                  <a:srgbClr val="FFFF00"/>
                </a:solidFill>
              </a:rPr>
              <a:t>   </a:t>
            </a:r>
            <a:r>
              <a:rPr lang="ar-DZ" sz="3200" dirty="0">
                <a:solidFill>
                  <a:srgbClr val="FF0000"/>
                </a:solidFill>
              </a:rPr>
              <a:t>6</a:t>
            </a:r>
            <a:r>
              <a:rPr lang="ar-SA" sz="3200" dirty="0">
                <a:solidFill>
                  <a:srgbClr val="FFFF00"/>
                </a:solidFill>
              </a:rPr>
              <a:t>ـ المرونة</a:t>
            </a:r>
            <a:r>
              <a:rPr lang="ar-DZ" sz="3200" dirty="0">
                <a:solidFill>
                  <a:srgbClr val="FFFF00"/>
                </a:solidFill>
              </a:rPr>
              <a:t>’’ </a:t>
            </a:r>
            <a:r>
              <a:rPr lang="ar-DZ" sz="3200" dirty="0">
                <a:solidFill>
                  <a:srgbClr val="00FF00"/>
                </a:solidFill>
              </a:rPr>
              <a:t>قابلة للتعديل</a:t>
            </a:r>
            <a:r>
              <a:rPr lang="en-US" sz="3200" dirty="0">
                <a:solidFill>
                  <a:srgbClr val="FFFF00"/>
                </a:solidFill>
              </a:rPr>
              <a:t>.</a:t>
            </a:r>
            <a:r>
              <a:rPr lang="ar-DZ" sz="3200" dirty="0">
                <a:solidFill>
                  <a:srgbClr val="FFFF00"/>
                </a:solidFill>
              </a:rPr>
              <a:t>’’</a:t>
            </a:r>
            <a:endParaRPr lang="fr-FR" sz="3200" dirty="0">
              <a:solidFill>
                <a:srgbClr val="FFFF00"/>
              </a:solidFill>
            </a:endParaRPr>
          </a:p>
          <a:p>
            <a:pPr algn="r" rtl="1">
              <a:buNone/>
            </a:pPr>
            <a:r>
              <a:rPr lang="en-US" sz="3200" dirty="0">
                <a:solidFill>
                  <a:srgbClr val="FF0000"/>
                </a:solidFill>
              </a:rPr>
              <a:t>7</a:t>
            </a:r>
            <a:r>
              <a:rPr lang="ar-SA" sz="3200" dirty="0">
                <a:solidFill>
                  <a:srgbClr val="FFFF00"/>
                </a:solidFill>
              </a:rPr>
              <a:t>ـ الوضوح والدقة</a:t>
            </a:r>
            <a:r>
              <a:rPr lang="ar-DZ" sz="3200" dirty="0">
                <a:solidFill>
                  <a:srgbClr val="FFFF00"/>
                </a:solidFill>
              </a:rPr>
              <a:t>    </a:t>
            </a:r>
            <a:r>
              <a:rPr lang="en-US" sz="3200" dirty="0">
                <a:solidFill>
                  <a:srgbClr val="FF0000"/>
                </a:solidFill>
              </a:rPr>
              <a:t>8</a:t>
            </a:r>
            <a:r>
              <a:rPr lang="ar-SA" sz="3200" dirty="0">
                <a:solidFill>
                  <a:srgbClr val="FFFF00"/>
                </a:solidFill>
              </a:rPr>
              <a:t>ـ الواقعية</a:t>
            </a:r>
            <a:endParaRPr lang="ar-DZ" sz="3200" dirty="0">
              <a:solidFill>
                <a:srgbClr val="FFFF00"/>
              </a:solidFill>
            </a:endParaRPr>
          </a:p>
          <a:p>
            <a:pPr algn="r" rtl="1">
              <a:buNone/>
            </a:pPr>
            <a:r>
              <a:rPr lang="en-US" sz="3200" dirty="0">
                <a:solidFill>
                  <a:srgbClr val="FF0000"/>
                </a:solidFill>
              </a:rPr>
              <a:t>9</a:t>
            </a:r>
            <a:r>
              <a:rPr lang="ar-SA" sz="3200" dirty="0">
                <a:solidFill>
                  <a:srgbClr val="FFFF00"/>
                </a:solidFill>
              </a:rPr>
              <a:t>ـ التوقع</a:t>
            </a:r>
            <a:r>
              <a:rPr lang="ar-DZ" sz="3200" dirty="0">
                <a:solidFill>
                  <a:srgbClr val="FFFF00"/>
                </a:solidFill>
              </a:rPr>
              <a:t>’’</a:t>
            </a:r>
            <a:r>
              <a:rPr lang="ar-SA" sz="3200" dirty="0">
                <a:solidFill>
                  <a:srgbClr val="FFFF00"/>
                </a:solidFill>
              </a:rPr>
              <a:t> </a:t>
            </a:r>
            <a:r>
              <a:rPr lang="ar-SA" sz="3200" dirty="0">
                <a:solidFill>
                  <a:srgbClr val="00FF00"/>
                </a:solidFill>
              </a:rPr>
              <a:t>نظرة مستقبلية</a:t>
            </a:r>
            <a:r>
              <a:rPr lang="ar-DZ" sz="3200" dirty="0">
                <a:solidFill>
                  <a:srgbClr val="FFFF00"/>
                </a:solidFill>
              </a:rPr>
              <a:t>’’ </a:t>
            </a:r>
            <a:endParaRPr lang="fr-FR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16480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EC928-283F-BEFE-896D-FF8DB9BA5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EC7A892-5C89-7466-03D7-2FBC2A754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B1A08-6A26-43A0-B48E-2ABDF235525A}" type="slidenum">
              <a:rPr lang="fr-FR" smtClean="0"/>
              <a:pPr/>
              <a:t>14</a:t>
            </a:fld>
            <a:endParaRPr lang="fr-FR"/>
          </a:p>
        </p:txBody>
      </p:sp>
      <p:grpSp>
        <p:nvGrpSpPr>
          <p:cNvPr id="13" name="Group 37">
            <a:extLst>
              <a:ext uri="{FF2B5EF4-FFF2-40B4-BE49-F238E27FC236}">
                <a16:creationId xmlns:a16="http://schemas.microsoft.com/office/drawing/2014/main" id="{56598109-8189-5FAF-205B-4934F3805600}"/>
              </a:ext>
            </a:extLst>
          </p:cNvPr>
          <p:cNvGrpSpPr/>
          <p:nvPr/>
        </p:nvGrpSpPr>
        <p:grpSpPr>
          <a:xfrm>
            <a:off x="9239348" y="147399"/>
            <a:ext cx="5598441" cy="2105401"/>
            <a:chOff x="128349" y="5007168"/>
            <a:chExt cx="7350775" cy="2850215"/>
          </a:xfrm>
        </p:grpSpPr>
        <p:sp>
          <p:nvSpPr>
            <p:cNvPr id="14" name="شكل بيضاوي 26">
              <a:extLst>
                <a:ext uri="{FF2B5EF4-FFF2-40B4-BE49-F238E27FC236}">
                  <a16:creationId xmlns:a16="http://schemas.microsoft.com/office/drawing/2014/main" id="{CEA605D5-16F2-AE36-8915-3C45242F4566}"/>
                </a:ext>
              </a:extLst>
            </p:cNvPr>
            <p:cNvSpPr/>
            <p:nvPr/>
          </p:nvSpPr>
          <p:spPr>
            <a:xfrm>
              <a:off x="5557449" y="6154329"/>
              <a:ext cx="1921675" cy="335532"/>
            </a:xfrm>
            <a:prstGeom prst="ellipse">
              <a:avLst/>
            </a:prstGeom>
            <a:gradFill flip="none" rotWithShape="1">
              <a:gsLst>
                <a:gs pos="100000">
                  <a:schemeClr val="bg1">
                    <a:lumMod val="95000"/>
                    <a:alpha val="50000"/>
                  </a:schemeClr>
                </a:gs>
                <a:gs pos="0">
                  <a:schemeClr val="tx1">
                    <a:alpha val="7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grpSp>
          <p:nvGrpSpPr>
            <p:cNvPr id="15" name="Group 36">
              <a:extLst>
                <a:ext uri="{FF2B5EF4-FFF2-40B4-BE49-F238E27FC236}">
                  <a16:creationId xmlns:a16="http://schemas.microsoft.com/office/drawing/2014/main" id="{09D69BB2-6E77-AB03-DE26-3B0C17432486}"/>
                </a:ext>
              </a:extLst>
            </p:cNvPr>
            <p:cNvGrpSpPr/>
            <p:nvPr/>
          </p:nvGrpSpPr>
          <p:grpSpPr>
            <a:xfrm>
              <a:off x="128349" y="5007168"/>
              <a:ext cx="3706860" cy="2850215"/>
              <a:chOff x="128349" y="5007168"/>
              <a:chExt cx="3706860" cy="2850215"/>
            </a:xfrm>
          </p:grpSpPr>
          <p:grpSp>
            <p:nvGrpSpPr>
              <p:cNvPr id="16" name="Group 35">
                <a:extLst>
                  <a:ext uri="{FF2B5EF4-FFF2-40B4-BE49-F238E27FC236}">
                    <a16:creationId xmlns:a16="http://schemas.microsoft.com/office/drawing/2014/main" id="{BBBFDD3E-DD8E-A3BB-F489-A4EFE1183B8B}"/>
                  </a:ext>
                </a:extLst>
              </p:cNvPr>
              <p:cNvGrpSpPr/>
              <p:nvPr/>
            </p:nvGrpSpPr>
            <p:grpSpPr>
              <a:xfrm>
                <a:off x="128349" y="5007168"/>
                <a:ext cx="3706860" cy="2850215"/>
                <a:chOff x="128349" y="5007168"/>
                <a:chExt cx="3706860" cy="2850215"/>
              </a:xfrm>
            </p:grpSpPr>
            <p:grpSp>
              <p:nvGrpSpPr>
                <p:cNvPr id="18" name="Group 34">
                  <a:extLst>
                    <a:ext uri="{FF2B5EF4-FFF2-40B4-BE49-F238E27FC236}">
                      <a16:creationId xmlns:a16="http://schemas.microsoft.com/office/drawing/2014/main" id="{023EA7F9-FF22-66F5-4EC6-7E45F7ACECCC}"/>
                    </a:ext>
                  </a:extLst>
                </p:cNvPr>
                <p:cNvGrpSpPr/>
                <p:nvPr/>
              </p:nvGrpSpPr>
              <p:grpSpPr>
                <a:xfrm>
                  <a:off x="128349" y="5007168"/>
                  <a:ext cx="3654760" cy="2850215"/>
                  <a:chOff x="128349" y="5007168"/>
                  <a:chExt cx="3654760" cy="2850215"/>
                </a:xfrm>
              </p:grpSpPr>
              <p:grpSp>
                <p:nvGrpSpPr>
                  <p:cNvPr id="21" name="مجموعة 35">
                    <a:extLst>
                      <a:ext uri="{FF2B5EF4-FFF2-40B4-BE49-F238E27FC236}">
                        <a16:creationId xmlns:a16="http://schemas.microsoft.com/office/drawing/2014/main" id="{A93D4BAC-06E8-BC58-8BD6-8673642CD238}"/>
                      </a:ext>
                    </a:extLst>
                  </p:cNvPr>
                  <p:cNvGrpSpPr/>
                  <p:nvPr/>
                </p:nvGrpSpPr>
                <p:grpSpPr>
                  <a:xfrm>
                    <a:off x="914441" y="5007168"/>
                    <a:ext cx="2106820" cy="1811577"/>
                    <a:chOff x="1188381" y="4465908"/>
                    <a:chExt cx="2465848" cy="2983872"/>
                  </a:xfrm>
                </p:grpSpPr>
                <p:sp>
                  <p:nvSpPr>
                    <p:cNvPr id="23" name="مخطط انسيابي: مستند 27">
                      <a:extLst>
                        <a:ext uri="{FF2B5EF4-FFF2-40B4-BE49-F238E27FC236}">
                          <a16:creationId xmlns:a16="http://schemas.microsoft.com/office/drawing/2014/main" id="{17A19985-2367-034C-47E9-1218CC156F0C}"/>
                        </a:ext>
                      </a:extLst>
                    </p:cNvPr>
                    <p:cNvSpPr/>
                    <p:nvPr/>
                  </p:nvSpPr>
                  <p:spPr>
                    <a:xfrm flipH="1" flipV="1">
                      <a:off x="1188381" y="4465908"/>
                      <a:ext cx="2465848" cy="2983872"/>
                    </a:xfrm>
                    <a:prstGeom prst="flowChartDocument">
                      <a:avLst/>
                    </a:prstGeom>
                    <a:solidFill>
                      <a:srgbClr val="FF00FF"/>
                    </a:solidFill>
                    <a:ln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 dirty="0"/>
                    </a:p>
                  </p:txBody>
                </p:sp>
                <p:sp>
                  <p:nvSpPr>
                    <p:cNvPr id="24" name="مربع نص 31">
                      <a:extLst>
                        <a:ext uri="{FF2B5EF4-FFF2-40B4-BE49-F238E27FC236}">
                          <a16:creationId xmlns:a16="http://schemas.microsoft.com/office/drawing/2014/main" id="{F500D11D-3F18-ADDB-A90E-DD2B2C1C923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277213" y="4864378"/>
                      <a:ext cx="2291025" cy="212747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ar-DZ" sz="2800" b="1" dirty="0">
                          <a:solidFill>
                            <a:schemeClr val="bg1"/>
                          </a:solidFill>
                        </a:rPr>
                        <a:t>الجانب التطبيقي</a:t>
                      </a:r>
                      <a:endParaRPr lang="fr-FR" sz="2800" b="1" dirty="0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sp>
                <p:nvSpPr>
                  <p:cNvPr id="22" name="مثلث متساوي الساقين 28">
                    <a:extLst>
                      <a:ext uri="{FF2B5EF4-FFF2-40B4-BE49-F238E27FC236}">
                        <a16:creationId xmlns:a16="http://schemas.microsoft.com/office/drawing/2014/main" id="{F8DD5232-9681-8110-C46D-723936718892}"/>
                      </a:ext>
                    </a:extLst>
                  </p:cNvPr>
                  <p:cNvSpPr/>
                  <p:nvPr/>
                </p:nvSpPr>
                <p:spPr>
                  <a:xfrm flipV="1">
                    <a:off x="128349" y="6766904"/>
                    <a:ext cx="3654760" cy="1090479"/>
                  </a:xfrm>
                  <a:prstGeom prst="triangle">
                    <a:avLst/>
                  </a:prstGeom>
                  <a:solidFill>
                    <a:srgbClr val="FF0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dirty="0"/>
                  </a:p>
                </p:txBody>
              </p:sp>
            </p:grpSp>
            <p:sp>
              <p:nvSpPr>
                <p:cNvPr id="19" name="مثلث قائم الزاوية 29">
                  <a:extLst>
                    <a:ext uri="{FF2B5EF4-FFF2-40B4-BE49-F238E27FC236}">
                      <a16:creationId xmlns:a16="http://schemas.microsoft.com/office/drawing/2014/main" id="{4ABB6266-4219-7B2A-08B8-08BBAFD0CB97}"/>
                    </a:ext>
                  </a:extLst>
                </p:cNvPr>
                <p:cNvSpPr/>
                <p:nvPr/>
              </p:nvSpPr>
              <p:spPr>
                <a:xfrm>
                  <a:off x="3061239" y="6398128"/>
                  <a:ext cx="773970" cy="335531"/>
                </a:xfrm>
                <a:prstGeom prst="rtTriangl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dirty="0"/>
                </a:p>
              </p:txBody>
            </p:sp>
            <p:sp>
              <p:nvSpPr>
                <p:cNvPr id="20" name="مثلث قائم الزاوية 30">
                  <a:extLst>
                    <a:ext uri="{FF2B5EF4-FFF2-40B4-BE49-F238E27FC236}">
                      <a16:creationId xmlns:a16="http://schemas.microsoft.com/office/drawing/2014/main" id="{17CC3AD9-1D2D-DF69-53CF-FF0B30BB1331}"/>
                    </a:ext>
                  </a:extLst>
                </p:cNvPr>
                <p:cNvSpPr/>
                <p:nvPr/>
              </p:nvSpPr>
              <p:spPr>
                <a:xfrm flipH="1">
                  <a:off x="194363" y="6447329"/>
                  <a:ext cx="773970" cy="335532"/>
                </a:xfrm>
                <a:prstGeom prst="rtTriangl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dirty="0"/>
                </a:p>
              </p:txBody>
            </p:sp>
          </p:grpSp>
          <p:sp>
            <p:nvSpPr>
              <p:cNvPr id="17" name="مربع نص 34">
                <a:extLst>
                  <a:ext uri="{FF2B5EF4-FFF2-40B4-BE49-F238E27FC236}">
                    <a16:creationId xmlns:a16="http://schemas.microsoft.com/office/drawing/2014/main" id="{E9CE185D-3B15-618D-54BA-7C415EEA4D4A}"/>
                  </a:ext>
                </a:extLst>
              </p:cNvPr>
              <p:cNvSpPr txBox="1"/>
              <p:nvPr/>
            </p:nvSpPr>
            <p:spPr>
              <a:xfrm>
                <a:off x="1280477" y="6694898"/>
                <a:ext cx="1304967" cy="11249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ar-DZ" sz="4800" b="1" dirty="0">
                    <a:solidFill>
                      <a:schemeClr val="bg1"/>
                    </a:solidFill>
                    <a:cs typeface="+mj-cs"/>
                  </a:rPr>
                  <a:t>03</a:t>
                </a:r>
                <a:endParaRPr lang="fr-FR" sz="6000" b="1" dirty="0">
                  <a:solidFill>
                    <a:schemeClr val="bg1"/>
                  </a:solidFill>
                  <a:cs typeface="+mj-cs"/>
                </a:endParaRPr>
              </a:p>
            </p:txBody>
          </p:sp>
        </p:grpSp>
      </p:grpSp>
      <p:sp>
        <p:nvSpPr>
          <p:cNvPr id="9" name="Espace réservé du contenu 2">
            <a:extLst>
              <a:ext uri="{FF2B5EF4-FFF2-40B4-BE49-F238E27FC236}">
                <a16:creationId xmlns:a16="http://schemas.microsoft.com/office/drawing/2014/main" id="{76C53CD9-39CC-A73C-D518-85451337F65D}"/>
              </a:ext>
            </a:extLst>
          </p:cNvPr>
          <p:cNvSpPr txBox="1">
            <a:spLocks/>
          </p:cNvSpPr>
          <p:nvPr/>
        </p:nvSpPr>
        <p:spPr>
          <a:xfrm>
            <a:off x="2917269" y="63533"/>
            <a:ext cx="6264936" cy="1055178"/>
          </a:xfrm>
          <a:prstGeom prst="rect">
            <a:avLst/>
          </a:prstGeom>
          <a:solidFill>
            <a:srgbClr val="0000FF"/>
          </a:solidFill>
          <a:ln>
            <a:solidFill>
              <a:srgbClr val="FF0000"/>
            </a:solidFill>
          </a:ln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Autofit/>
          </a:bodyPr>
          <a:lstStyle>
            <a:lvl1pPr marL="3429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 algn="ctr" rtl="1">
              <a:buFont typeface="Wingdings 2" charset="2"/>
              <a:buNone/>
            </a:pPr>
            <a:r>
              <a:rPr lang="ar-DZ" sz="5400" dirty="0">
                <a:solidFill>
                  <a:srgbClr val="FFFF00"/>
                </a:solidFill>
              </a:rPr>
              <a:t> 2- دراسة أهم الأسباب</a:t>
            </a:r>
            <a:endParaRPr lang="fr-FR" sz="5400" dirty="0">
              <a:solidFill>
                <a:srgbClr val="FFFF00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233A100-5B47-9B54-ECA1-DA99393703DD}"/>
              </a:ext>
            </a:extLst>
          </p:cNvPr>
          <p:cNvSpPr txBox="1">
            <a:spLocks/>
          </p:cNvSpPr>
          <p:nvPr/>
        </p:nvSpPr>
        <p:spPr bwMode="auto">
          <a:xfrm>
            <a:off x="170869" y="2936120"/>
            <a:ext cx="11580756" cy="181306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headEnd/>
            <a:tailEnd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>
              <a:spcAft>
                <a:spcPts val="800"/>
              </a:spcAft>
              <a:buNone/>
              <a:tabLst>
                <a:tab pos="141605" algn="r"/>
                <a:tab pos="351155" algn="l"/>
                <a:tab pos="571500" algn="l"/>
              </a:tabLst>
            </a:pPr>
            <a:endParaRPr lang="ar-DZ" sz="4000" kern="0" dirty="0"/>
          </a:p>
          <a:p>
            <a:pPr algn="r" rtl="1">
              <a:spcAft>
                <a:spcPts val="800"/>
              </a:spcAft>
              <a:buNone/>
              <a:tabLst>
                <a:tab pos="141605" algn="r"/>
                <a:tab pos="351155" algn="l"/>
                <a:tab pos="571500" algn="l"/>
              </a:tabLst>
            </a:pPr>
            <a:endParaRPr lang="ar-DZ" sz="4000" kern="0" dirty="0">
              <a:effectLst/>
            </a:endParaRPr>
          </a:p>
          <a:p>
            <a:pPr algn="r" rtl="1">
              <a:spcAft>
                <a:spcPts val="800"/>
              </a:spcAft>
              <a:buNone/>
              <a:tabLst>
                <a:tab pos="141605" algn="r"/>
                <a:tab pos="351155" algn="l"/>
                <a:tab pos="571500" algn="l"/>
              </a:tabLst>
            </a:pPr>
            <a:r>
              <a:rPr lang="ar-DZ" sz="4000" kern="0" dirty="0">
                <a:effectLst/>
              </a:rPr>
              <a:t>1- حدد</a:t>
            </a:r>
            <a:r>
              <a:rPr lang="ar-SA" sz="4000" kern="0" dirty="0">
                <a:effectLst/>
              </a:rPr>
              <a:t>العقبات التي تحول دول تنفيذ المنهاج</a:t>
            </a:r>
            <a:r>
              <a:rPr lang="ar-DZ" sz="4000" kern="0" dirty="0">
                <a:effectLst/>
              </a:rPr>
              <a:t>:</a:t>
            </a:r>
            <a:endParaRPr lang="fr-FR" sz="3600" kern="100" dirty="0">
              <a:effectLst/>
            </a:endParaRPr>
          </a:p>
          <a:p>
            <a:pPr algn="r" rtl="1">
              <a:spcAft>
                <a:spcPts val="800"/>
              </a:spcAft>
              <a:buNone/>
              <a:tabLst>
                <a:tab pos="141605" algn="r"/>
                <a:tab pos="351155" algn="l"/>
                <a:tab pos="571500" algn="l"/>
              </a:tabLst>
            </a:pPr>
            <a:r>
              <a:rPr lang="ar-SA" sz="4000" kern="0" dirty="0">
                <a:effectLst/>
              </a:rPr>
              <a:t>'' الوضعيات التعلمية التي تجدون صعوبة في </a:t>
            </a:r>
            <a:r>
              <a:rPr lang="ar-SA" sz="3600" kern="0" dirty="0">
                <a:effectLst/>
              </a:rPr>
              <a:t>تسييرها مع تحديد  الصعوبة’</a:t>
            </a:r>
            <a:endParaRPr lang="ar-DZ" sz="3600" kern="0" dirty="0">
              <a:effectLst/>
            </a:endParaRPr>
          </a:p>
          <a:p>
            <a:pPr algn="r" rtl="1">
              <a:lnSpc>
                <a:spcPct val="115000"/>
              </a:lnSpc>
              <a:spcAft>
                <a:spcPts val="800"/>
              </a:spcAft>
              <a:buNone/>
              <a:tabLst>
                <a:tab pos="141605" algn="r"/>
                <a:tab pos="351155" algn="l"/>
                <a:tab pos="571500" algn="l"/>
              </a:tabLst>
            </a:pPr>
            <a:endParaRPr lang="fr-FR" sz="3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 rtl="1">
              <a:lnSpc>
                <a:spcPct val="115000"/>
              </a:lnSpc>
              <a:spcAft>
                <a:spcPts val="800"/>
              </a:spcAft>
              <a:buNone/>
              <a:tabLst>
                <a:tab pos="141605" algn="r"/>
                <a:tab pos="351155" algn="l"/>
                <a:tab pos="571500" algn="l"/>
              </a:tabLst>
            </a:pPr>
            <a:r>
              <a:rPr lang="ar-DZ" sz="4000" dirty="0">
                <a:solidFill>
                  <a:srgbClr val="FFFF00"/>
                </a:solidFill>
                <a:cs typeface="+mj-cs"/>
              </a:rPr>
              <a:t> </a:t>
            </a:r>
            <a:endParaRPr lang="ar-DZ" sz="2000" dirty="0">
              <a:solidFill>
                <a:srgbClr val="FFFF00"/>
              </a:solidFill>
              <a:cs typeface="+mj-cs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08D91AE-72F3-AB12-0B4C-8DE92776604A}"/>
              </a:ext>
            </a:extLst>
          </p:cNvPr>
          <p:cNvSpPr txBox="1">
            <a:spLocks/>
          </p:cNvSpPr>
          <p:nvPr/>
        </p:nvSpPr>
        <p:spPr bwMode="auto">
          <a:xfrm>
            <a:off x="259359" y="1310576"/>
            <a:ext cx="9548238" cy="1338177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headEnd/>
            <a:tailEnd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1"/>
            <a:r>
              <a:rPr lang="ar-DZ" dirty="0">
                <a:solidFill>
                  <a:srgbClr val="FFFF00"/>
                </a:solidFill>
                <a:cs typeface="+mj-cs"/>
              </a:rPr>
              <a:t>باستخدام المنهاج 2016 </a:t>
            </a:r>
          </a:p>
          <a:p>
            <a:pPr rtl="1"/>
            <a:r>
              <a:rPr lang="ar-DZ" dirty="0">
                <a:solidFill>
                  <a:srgbClr val="FFFF00"/>
                </a:solidFill>
                <a:cs typeface="+mj-cs"/>
              </a:rPr>
              <a:t>والمخططات 2022-2023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D108727-837C-7033-28D7-B67AA00AE0B4}"/>
              </a:ext>
            </a:extLst>
          </p:cNvPr>
          <p:cNvSpPr txBox="1">
            <a:spLocks/>
          </p:cNvSpPr>
          <p:nvPr/>
        </p:nvSpPr>
        <p:spPr bwMode="auto">
          <a:xfrm>
            <a:off x="259359" y="4897535"/>
            <a:ext cx="11580756" cy="181306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headEnd/>
            <a:tailEnd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>
              <a:spcAft>
                <a:spcPts val="800"/>
              </a:spcAft>
              <a:buNone/>
              <a:tabLst>
                <a:tab pos="141605" algn="r"/>
                <a:tab pos="351155" algn="l"/>
                <a:tab pos="571500" algn="l"/>
              </a:tabLst>
            </a:pPr>
            <a:endParaRPr lang="ar-DZ" sz="4000" kern="0" dirty="0"/>
          </a:p>
          <a:p>
            <a:pPr algn="r" rtl="1">
              <a:spcAft>
                <a:spcPts val="800"/>
              </a:spcAft>
              <a:buNone/>
              <a:tabLst>
                <a:tab pos="141605" algn="r"/>
                <a:tab pos="351155" algn="l"/>
                <a:tab pos="571500" algn="l"/>
              </a:tabLst>
            </a:pPr>
            <a:endParaRPr lang="ar-DZ" sz="4000" kern="0" dirty="0">
              <a:effectLst/>
            </a:endParaRPr>
          </a:p>
          <a:p>
            <a:pPr algn="r" rtl="1">
              <a:spcAft>
                <a:spcPts val="800"/>
              </a:spcAft>
              <a:tabLst>
                <a:tab pos="141605" algn="r"/>
                <a:tab pos="351155" algn="l"/>
                <a:tab pos="571500" algn="l"/>
              </a:tabLst>
            </a:pPr>
            <a:r>
              <a:rPr lang="ar-DZ" sz="4000" kern="0" dirty="0">
                <a:effectLst/>
              </a:rPr>
              <a:t>2-قدم اقتراحات’’ </a:t>
            </a:r>
            <a:r>
              <a:rPr lang="ar-DZ" sz="4000" kern="0" dirty="0">
                <a:solidFill>
                  <a:srgbClr val="00FF00"/>
                </a:solidFill>
                <a:effectLst/>
              </a:rPr>
              <a:t>بالتركيز </a:t>
            </a:r>
            <a:r>
              <a:rPr lang="ar-DZ" sz="4000" kern="0" dirty="0">
                <a:solidFill>
                  <a:srgbClr val="00FF00"/>
                </a:solidFill>
              </a:rPr>
              <a:t>ع</a:t>
            </a:r>
            <a:r>
              <a:rPr lang="ar-DZ" sz="4000" kern="0" dirty="0">
                <a:solidFill>
                  <a:srgbClr val="00FF00"/>
                </a:solidFill>
                <a:effectLst/>
              </a:rPr>
              <a:t>لى</a:t>
            </a:r>
            <a:r>
              <a:rPr lang="ar-DZ" sz="4000" dirty="0">
                <a:solidFill>
                  <a:srgbClr val="00FF00"/>
                </a:solidFill>
                <a:latin typeface="Arial" panose="020B0604020202020204" pitchFamily="34" charset="0"/>
              </a:rPr>
              <a:t> الموارد المعرفية الأساسية </a:t>
            </a:r>
            <a:r>
              <a:rPr lang="ar-DZ" sz="4000" dirty="0">
                <a:solidFill>
                  <a:srgbClr val="0000FF"/>
                </a:solidFill>
                <a:latin typeface="Arial" panose="020B0604020202020204" pitchFamily="34" charset="0"/>
              </a:rPr>
              <a:t>و المكتسبات القبلية ‘’  ل</a:t>
            </a:r>
            <a:r>
              <a:rPr lang="ar-DZ" sz="4000" kern="0" dirty="0">
                <a:effectLst/>
              </a:rPr>
              <a:t>تخطي الصعوبات وبالتالي تنفيذ المنهاج.  </a:t>
            </a:r>
            <a:endParaRPr lang="ar-DZ" sz="3600" kern="0" dirty="0">
              <a:effectLst/>
            </a:endParaRPr>
          </a:p>
          <a:p>
            <a:pPr algn="r" rtl="1">
              <a:lnSpc>
                <a:spcPct val="115000"/>
              </a:lnSpc>
              <a:spcAft>
                <a:spcPts val="800"/>
              </a:spcAft>
              <a:buNone/>
              <a:tabLst>
                <a:tab pos="141605" algn="r"/>
                <a:tab pos="351155" algn="l"/>
                <a:tab pos="571500" algn="l"/>
              </a:tabLst>
            </a:pPr>
            <a:endParaRPr lang="fr-FR" sz="3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 rtl="1">
              <a:lnSpc>
                <a:spcPct val="115000"/>
              </a:lnSpc>
              <a:spcAft>
                <a:spcPts val="800"/>
              </a:spcAft>
              <a:buNone/>
              <a:tabLst>
                <a:tab pos="141605" algn="r"/>
                <a:tab pos="351155" algn="l"/>
                <a:tab pos="571500" algn="l"/>
              </a:tabLst>
            </a:pPr>
            <a:r>
              <a:rPr lang="ar-DZ" sz="4000" dirty="0">
                <a:solidFill>
                  <a:srgbClr val="FFFF00"/>
                </a:solidFill>
                <a:cs typeface="+mj-cs"/>
              </a:rPr>
              <a:t> </a:t>
            </a:r>
            <a:endParaRPr lang="ar-DZ" sz="2000" dirty="0">
              <a:solidFill>
                <a:srgbClr val="FFFF0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6742091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D0D623-B60E-445B-7A01-1A9F6D8EC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02B7DE1-E14B-59EE-54D8-E3F76CEFC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B1A08-6A26-43A0-B48E-2ABDF235525A}" type="slidenum">
              <a:rPr lang="fr-FR" smtClean="0"/>
              <a:pPr/>
              <a:t>15</a:t>
            </a:fld>
            <a:endParaRPr lang="fr-FR"/>
          </a:p>
        </p:txBody>
      </p:sp>
      <p:grpSp>
        <p:nvGrpSpPr>
          <p:cNvPr id="13" name="Group 37">
            <a:extLst>
              <a:ext uri="{FF2B5EF4-FFF2-40B4-BE49-F238E27FC236}">
                <a16:creationId xmlns:a16="http://schemas.microsoft.com/office/drawing/2014/main" id="{8544614B-9A9B-9FF3-903E-7CCDA348FA6C}"/>
              </a:ext>
            </a:extLst>
          </p:cNvPr>
          <p:cNvGrpSpPr/>
          <p:nvPr/>
        </p:nvGrpSpPr>
        <p:grpSpPr>
          <a:xfrm>
            <a:off x="9239348" y="147399"/>
            <a:ext cx="5598441" cy="2105401"/>
            <a:chOff x="128349" y="5007168"/>
            <a:chExt cx="7350775" cy="2850215"/>
          </a:xfrm>
        </p:grpSpPr>
        <p:sp>
          <p:nvSpPr>
            <p:cNvPr id="14" name="شكل بيضاوي 26">
              <a:extLst>
                <a:ext uri="{FF2B5EF4-FFF2-40B4-BE49-F238E27FC236}">
                  <a16:creationId xmlns:a16="http://schemas.microsoft.com/office/drawing/2014/main" id="{561ABE7E-7DD2-6D94-0DE6-A83440D119CD}"/>
                </a:ext>
              </a:extLst>
            </p:cNvPr>
            <p:cNvSpPr/>
            <p:nvPr/>
          </p:nvSpPr>
          <p:spPr>
            <a:xfrm>
              <a:off x="5557449" y="6154329"/>
              <a:ext cx="1921675" cy="335532"/>
            </a:xfrm>
            <a:prstGeom prst="ellipse">
              <a:avLst/>
            </a:prstGeom>
            <a:gradFill flip="none" rotWithShape="1">
              <a:gsLst>
                <a:gs pos="100000">
                  <a:schemeClr val="bg1">
                    <a:lumMod val="95000"/>
                    <a:alpha val="50000"/>
                  </a:schemeClr>
                </a:gs>
                <a:gs pos="0">
                  <a:schemeClr val="tx1">
                    <a:alpha val="7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grpSp>
          <p:nvGrpSpPr>
            <p:cNvPr id="15" name="Group 36">
              <a:extLst>
                <a:ext uri="{FF2B5EF4-FFF2-40B4-BE49-F238E27FC236}">
                  <a16:creationId xmlns:a16="http://schemas.microsoft.com/office/drawing/2014/main" id="{81BE3E7B-ED41-D448-F16B-CAD7AE80079D}"/>
                </a:ext>
              </a:extLst>
            </p:cNvPr>
            <p:cNvGrpSpPr/>
            <p:nvPr/>
          </p:nvGrpSpPr>
          <p:grpSpPr>
            <a:xfrm>
              <a:off x="128349" y="5007168"/>
              <a:ext cx="3706860" cy="2850215"/>
              <a:chOff x="128349" y="5007168"/>
              <a:chExt cx="3706860" cy="2850215"/>
            </a:xfrm>
          </p:grpSpPr>
          <p:grpSp>
            <p:nvGrpSpPr>
              <p:cNvPr id="16" name="Group 35">
                <a:extLst>
                  <a:ext uri="{FF2B5EF4-FFF2-40B4-BE49-F238E27FC236}">
                    <a16:creationId xmlns:a16="http://schemas.microsoft.com/office/drawing/2014/main" id="{4190866C-6CF2-3315-1874-48270C052BAA}"/>
                  </a:ext>
                </a:extLst>
              </p:cNvPr>
              <p:cNvGrpSpPr/>
              <p:nvPr/>
            </p:nvGrpSpPr>
            <p:grpSpPr>
              <a:xfrm>
                <a:off x="128349" y="5007168"/>
                <a:ext cx="3706860" cy="2850215"/>
                <a:chOff x="128349" y="5007168"/>
                <a:chExt cx="3706860" cy="2850215"/>
              </a:xfrm>
            </p:grpSpPr>
            <p:grpSp>
              <p:nvGrpSpPr>
                <p:cNvPr id="18" name="Group 34">
                  <a:extLst>
                    <a:ext uri="{FF2B5EF4-FFF2-40B4-BE49-F238E27FC236}">
                      <a16:creationId xmlns:a16="http://schemas.microsoft.com/office/drawing/2014/main" id="{F1B616F4-EC42-3E3A-60CD-B541553D5EF9}"/>
                    </a:ext>
                  </a:extLst>
                </p:cNvPr>
                <p:cNvGrpSpPr/>
                <p:nvPr/>
              </p:nvGrpSpPr>
              <p:grpSpPr>
                <a:xfrm>
                  <a:off x="128349" y="5007168"/>
                  <a:ext cx="3654760" cy="2850215"/>
                  <a:chOff x="128349" y="5007168"/>
                  <a:chExt cx="3654760" cy="2850215"/>
                </a:xfrm>
              </p:grpSpPr>
              <p:grpSp>
                <p:nvGrpSpPr>
                  <p:cNvPr id="21" name="مجموعة 35">
                    <a:extLst>
                      <a:ext uri="{FF2B5EF4-FFF2-40B4-BE49-F238E27FC236}">
                        <a16:creationId xmlns:a16="http://schemas.microsoft.com/office/drawing/2014/main" id="{3BBE67D4-3940-454F-08AD-F35FD9CBC162}"/>
                      </a:ext>
                    </a:extLst>
                  </p:cNvPr>
                  <p:cNvGrpSpPr/>
                  <p:nvPr/>
                </p:nvGrpSpPr>
                <p:grpSpPr>
                  <a:xfrm>
                    <a:off x="914441" y="5007168"/>
                    <a:ext cx="2106820" cy="1811577"/>
                    <a:chOff x="1188381" y="4465908"/>
                    <a:chExt cx="2465848" cy="2983872"/>
                  </a:xfrm>
                </p:grpSpPr>
                <p:sp>
                  <p:nvSpPr>
                    <p:cNvPr id="23" name="مخطط انسيابي: مستند 27">
                      <a:extLst>
                        <a:ext uri="{FF2B5EF4-FFF2-40B4-BE49-F238E27FC236}">
                          <a16:creationId xmlns:a16="http://schemas.microsoft.com/office/drawing/2014/main" id="{0D417554-1195-BC61-469B-883F9A6E4835}"/>
                        </a:ext>
                      </a:extLst>
                    </p:cNvPr>
                    <p:cNvSpPr/>
                    <p:nvPr/>
                  </p:nvSpPr>
                  <p:spPr>
                    <a:xfrm flipH="1" flipV="1">
                      <a:off x="1188381" y="4465908"/>
                      <a:ext cx="2465848" cy="2983872"/>
                    </a:xfrm>
                    <a:prstGeom prst="flowChartDocument">
                      <a:avLst/>
                    </a:prstGeom>
                    <a:solidFill>
                      <a:srgbClr val="FF00FF"/>
                    </a:solidFill>
                    <a:ln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 dirty="0"/>
                    </a:p>
                  </p:txBody>
                </p:sp>
                <p:sp>
                  <p:nvSpPr>
                    <p:cNvPr id="24" name="مربع نص 31">
                      <a:extLst>
                        <a:ext uri="{FF2B5EF4-FFF2-40B4-BE49-F238E27FC236}">
                          <a16:creationId xmlns:a16="http://schemas.microsoft.com/office/drawing/2014/main" id="{5262FF33-61D2-A943-8B0F-E4E3F839AC5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277213" y="4864378"/>
                      <a:ext cx="2291025" cy="212747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ar-DZ" sz="2800" b="1" dirty="0">
                          <a:solidFill>
                            <a:schemeClr val="bg1"/>
                          </a:solidFill>
                        </a:rPr>
                        <a:t>الجانب التطبيقي</a:t>
                      </a:r>
                      <a:endParaRPr lang="fr-FR" sz="2800" b="1" dirty="0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sp>
                <p:nvSpPr>
                  <p:cNvPr id="22" name="مثلث متساوي الساقين 28">
                    <a:extLst>
                      <a:ext uri="{FF2B5EF4-FFF2-40B4-BE49-F238E27FC236}">
                        <a16:creationId xmlns:a16="http://schemas.microsoft.com/office/drawing/2014/main" id="{892860D5-E207-72EB-0536-7AF86A4CFC34}"/>
                      </a:ext>
                    </a:extLst>
                  </p:cNvPr>
                  <p:cNvSpPr/>
                  <p:nvPr/>
                </p:nvSpPr>
                <p:spPr>
                  <a:xfrm flipV="1">
                    <a:off x="128349" y="6766904"/>
                    <a:ext cx="3654760" cy="1090479"/>
                  </a:xfrm>
                  <a:prstGeom prst="triangle">
                    <a:avLst/>
                  </a:prstGeom>
                  <a:solidFill>
                    <a:srgbClr val="FF0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dirty="0"/>
                  </a:p>
                </p:txBody>
              </p:sp>
            </p:grpSp>
            <p:sp>
              <p:nvSpPr>
                <p:cNvPr id="19" name="مثلث قائم الزاوية 29">
                  <a:extLst>
                    <a:ext uri="{FF2B5EF4-FFF2-40B4-BE49-F238E27FC236}">
                      <a16:creationId xmlns:a16="http://schemas.microsoft.com/office/drawing/2014/main" id="{E2CDDA6D-84E1-DEEE-09DE-E604D2CF0B6E}"/>
                    </a:ext>
                  </a:extLst>
                </p:cNvPr>
                <p:cNvSpPr/>
                <p:nvPr/>
              </p:nvSpPr>
              <p:spPr>
                <a:xfrm>
                  <a:off x="3061239" y="6398128"/>
                  <a:ext cx="773970" cy="335531"/>
                </a:xfrm>
                <a:prstGeom prst="rtTriangl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dirty="0"/>
                </a:p>
              </p:txBody>
            </p:sp>
            <p:sp>
              <p:nvSpPr>
                <p:cNvPr id="20" name="مثلث قائم الزاوية 30">
                  <a:extLst>
                    <a:ext uri="{FF2B5EF4-FFF2-40B4-BE49-F238E27FC236}">
                      <a16:creationId xmlns:a16="http://schemas.microsoft.com/office/drawing/2014/main" id="{99F9AE7B-A913-BCFB-503C-C35069BE77FF}"/>
                    </a:ext>
                  </a:extLst>
                </p:cNvPr>
                <p:cNvSpPr/>
                <p:nvPr/>
              </p:nvSpPr>
              <p:spPr>
                <a:xfrm flipH="1">
                  <a:off x="194363" y="6447329"/>
                  <a:ext cx="773970" cy="335532"/>
                </a:xfrm>
                <a:prstGeom prst="rtTriangl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dirty="0"/>
                </a:p>
              </p:txBody>
            </p:sp>
          </p:grpSp>
          <p:sp>
            <p:nvSpPr>
              <p:cNvPr id="17" name="مربع نص 34">
                <a:extLst>
                  <a:ext uri="{FF2B5EF4-FFF2-40B4-BE49-F238E27FC236}">
                    <a16:creationId xmlns:a16="http://schemas.microsoft.com/office/drawing/2014/main" id="{CD537FE4-648B-37E3-442F-DB0986AA5C98}"/>
                  </a:ext>
                </a:extLst>
              </p:cNvPr>
              <p:cNvSpPr txBox="1"/>
              <p:nvPr/>
            </p:nvSpPr>
            <p:spPr>
              <a:xfrm>
                <a:off x="1280477" y="6694898"/>
                <a:ext cx="1304967" cy="11249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ar-DZ" sz="4800" b="1" dirty="0">
                    <a:solidFill>
                      <a:schemeClr val="bg1"/>
                    </a:solidFill>
                    <a:cs typeface="+mj-cs"/>
                  </a:rPr>
                  <a:t>03</a:t>
                </a:r>
                <a:endParaRPr lang="fr-FR" sz="6000" b="1" dirty="0">
                  <a:solidFill>
                    <a:schemeClr val="bg1"/>
                  </a:solidFill>
                  <a:cs typeface="+mj-cs"/>
                </a:endParaRPr>
              </a:p>
            </p:txBody>
          </p:sp>
        </p:grpSp>
      </p:grpSp>
      <p:sp>
        <p:nvSpPr>
          <p:cNvPr id="9" name="Espace réservé du contenu 2">
            <a:extLst>
              <a:ext uri="{FF2B5EF4-FFF2-40B4-BE49-F238E27FC236}">
                <a16:creationId xmlns:a16="http://schemas.microsoft.com/office/drawing/2014/main" id="{38254205-4FC9-D7C6-D97E-F054612AA8B8}"/>
              </a:ext>
            </a:extLst>
          </p:cNvPr>
          <p:cNvSpPr txBox="1">
            <a:spLocks/>
          </p:cNvSpPr>
          <p:nvPr/>
        </p:nvSpPr>
        <p:spPr>
          <a:xfrm>
            <a:off x="2750121" y="63533"/>
            <a:ext cx="6264936" cy="1055178"/>
          </a:xfrm>
          <a:prstGeom prst="rect">
            <a:avLst/>
          </a:prstGeom>
          <a:solidFill>
            <a:srgbClr val="0000FF"/>
          </a:solidFill>
          <a:ln>
            <a:solidFill>
              <a:srgbClr val="FF0000"/>
            </a:solidFill>
          </a:ln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Autofit/>
          </a:bodyPr>
          <a:lstStyle>
            <a:lvl1pPr marL="3429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 algn="ctr" rtl="1">
              <a:buFont typeface="Wingdings 2" charset="2"/>
              <a:buNone/>
            </a:pPr>
            <a:r>
              <a:rPr lang="ar-DZ" sz="5400" dirty="0">
                <a:solidFill>
                  <a:srgbClr val="FFFF00"/>
                </a:solidFill>
              </a:rPr>
              <a:t> 2- دراسة أهم الأسباب</a:t>
            </a:r>
            <a:endParaRPr lang="fr-FR" sz="5400" dirty="0">
              <a:solidFill>
                <a:srgbClr val="FFFF00"/>
              </a:solidFill>
            </a:endParaRPr>
          </a:p>
        </p:txBody>
      </p:sp>
      <p:sp>
        <p:nvSpPr>
          <p:cNvPr id="28" name="Espace réservé du texte 4">
            <a:extLst>
              <a:ext uri="{FF2B5EF4-FFF2-40B4-BE49-F238E27FC236}">
                <a16:creationId xmlns:a16="http://schemas.microsoft.com/office/drawing/2014/main" id="{6499589F-DEB4-64F4-2752-6F1DC8673D1B}"/>
              </a:ext>
            </a:extLst>
          </p:cNvPr>
          <p:cNvSpPr txBox="1">
            <a:spLocks/>
          </p:cNvSpPr>
          <p:nvPr/>
        </p:nvSpPr>
        <p:spPr>
          <a:xfrm>
            <a:off x="650920" y="2169508"/>
            <a:ext cx="10616848" cy="426078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/>
          <a:lstStyle>
            <a:lvl1pPr marL="3429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algn="ctr" rtl="1"/>
            <a:r>
              <a:rPr lang="ar-DZ" sz="5400" dirty="0"/>
              <a:t> المنهاج:</a:t>
            </a:r>
          </a:p>
          <a:p>
            <a:pPr algn="ctr" rtl="1"/>
            <a:r>
              <a:rPr lang="ar-DZ" sz="5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القراءة الصحيحة للمنهاج والمخططات</a:t>
            </a:r>
          </a:p>
          <a:p>
            <a:pPr algn="ctr" rtl="1"/>
            <a:r>
              <a:rPr lang="ar-DZ" sz="5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الحجم الزمني</a:t>
            </a:r>
            <a:endParaRPr lang="fr-FR" sz="54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2770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EBFAFB-FDA2-CE54-2A65-13AA4240F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7BC0A4A-9AE0-BC67-ECC8-AADAF17D9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B1A08-6A26-43A0-B48E-2ABDF235525A}" type="slidenum">
              <a:rPr lang="fr-FR" smtClean="0"/>
              <a:pPr/>
              <a:t>16</a:t>
            </a:fld>
            <a:endParaRPr lang="fr-FR"/>
          </a:p>
        </p:txBody>
      </p:sp>
      <p:grpSp>
        <p:nvGrpSpPr>
          <p:cNvPr id="13" name="Group 37">
            <a:extLst>
              <a:ext uri="{FF2B5EF4-FFF2-40B4-BE49-F238E27FC236}">
                <a16:creationId xmlns:a16="http://schemas.microsoft.com/office/drawing/2014/main" id="{7827785E-C822-FBF5-61B4-B5F80352B616}"/>
              </a:ext>
            </a:extLst>
          </p:cNvPr>
          <p:cNvGrpSpPr/>
          <p:nvPr/>
        </p:nvGrpSpPr>
        <p:grpSpPr>
          <a:xfrm>
            <a:off x="9239348" y="147399"/>
            <a:ext cx="5598441" cy="2105401"/>
            <a:chOff x="128349" y="5007168"/>
            <a:chExt cx="7350775" cy="2850215"/>
          </a:xfrm>
        </p:grpSpPr>
        <p:sp>
          <p:nvSpPr>
            <p:cNvPr id="14" name="شكل بيضاوي 26">
              <a:extLst>
                <a:ext uri="{FF2B5EF4-FFF2-40B4-BE49-F238E27FC236}">
                  <a16:creationId xmlns:a16="http://schemas.microsoft.com/office/drawing/2014/main" id="{B3F15DC1-9896-2683-1B01-038C7770D08F}"/>
                </a:ext>
              </a:extLst>
            </p:cNvPr>
            <p:cNvSpPr/>
            <p:nvPr/>
          </p:nvSpPr>
          <p:spPr>
            <a:xfrm>
              <a:off x="5557449" y="6154329"/>
              <a:ext cx="1921675" cy="335532"/>
            </a:xfrm>
            <a:prstGeom prst="ellipse">
              <a:avLst/>
            </a:prstGeom>
            <a:gradFill flip="none" rotWithShape="1">
              <a:gsLst>
                <a:gs pos="100000">
                  <a:schemeClr val="bg1">
                    <a:lumMod val="95000"/>
                    <a:alpha val="50000"/>
                  </a:schemeClr>
                </a:gs>
                <a:gs pos="0">
                  <a:schemeClr val="tx1">
                    <a:alpha val="7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grpSp>
          <p:nvGrpSpPr>
            <p:cNvPr id="15" name="Group 36">
              <a:extLst>
                <a:ext uri="{FF2B5EF4-FFF2-40B4-BE49-F238E27FC236}">
                  <a16:creationId xmlns:a16="http://schemas.microsoft.com/office/drawing/2014/main" id="{689DF8B6-ADC0-8185-0057-AC2DD00E1EAB}"/>
                </a:ext>
              </a:extLst>
            </p:cNvPr>
            <p:cNvGrpSpPr/>
            <p:nvPr/>
          </p:nvGrpSpPr>
          <p:grpSpPr>
            <a:xfrm>
              <a:off x="128349" y="5007168"/>
              <a:ext cx="3706860" cy="2850215"/>
              <a:chOff x="128349" y="5007168"/>
              <a:chExt cx="3706860" cy="2850215"/>
            </a:xfrm>
          </p:grpSpPr>
          <p:grpSp>
            <p:nvGrpSpPr>
              <p:cNvPr id="16" name="Group 35">
                <a:extLst>
                  <a:ext uri="{FF2B5EF4-FFF2-40B4-BE49-F238E27FC236}">
                    <a16:creationId xmlns:a16="http://schemas.microsoft.com/office/drawing/2014/main" id="{4B404DD1-5F44-9D2D-4245-729E51730A9C}"/>
                  </a:ext>
                </a:extLst>
              </p:cNvPr>
              <p:cNvGrpSpPr/>
              <p:nvPr/>
            </p:nvGrpSpPr>
            <p:grpSpPr>
              <a:xfrm>
                <a:off x="128349" y="5007168"/>
                <a:ext cx="3706860" cy="2850215"/>
                <a:chOff x="128349" y="5007168"/>
                <a:chExt cx="3706860" cy="2850215"/>
              </a:xfrm>
            </p:grpSpPr>
            <p:grpSp>
              <p:nvGrpSpPr>
                <p:cNvPr id="18" name="Group 34">
                  <a:extLst>
                    <a:ext uri="{FF2B5EF4-FFF2-40B4-BE49-F238E27FC236}">
                      <a16:creationId xmlns:a16="http://schemas.microsoft.com/office/drawing/2014/main" id="{5E4EEE0C-B248-9C2E-EC7D-ECB4C8AEEFF4}"/>
                    </a:ext>
                  </a:extLst>
                </p:cNvPr>
                <p:cNvGrpSpPr/>
                <p:nvPr/>
              </p:nvGrpSpPr>
              <p:grpSpPr>
                <a:xfrm>
                  <a:off x="128349" y="5007168"/>
                  <a:ext cx="3654760" cy="2850215"/>
                  <a:chOff x="128349" y="5007168"/>
                  <a:chExt cx="3654760" cy="2850215"/>
                </a:xfrm>
              </p:grpSpPr>
              <p:grpSp>
                <p:nvGrpSpPr>
                  <p:cNvPr id="21" name="مجموعة 35">
                    <a:extLst>
                      <a:ext uri="{FF2B5EF4-FFF2-40B4-BE49-F238E27FC236}">
                        <a16:creationId xmlns:a16="http://schemas.microsoft.com/office/drawing/2014/main" id="{6782B819-53E5-07D7-E593-8DFB92731E7F}"/>
                      </a:ext>
                    </a:extLst>
                  </p:cNvPr>
                  <p:cNvGrpSpPr/>
                  <p:nvPr/>
                </p:nvGrpSpPr>
                <p:grpSpPr>
                  <a:xfrm>
                    <a:off x="914441" y="5007168"/>
                    <a:ext cx="2106820" cy="1811577"/>
                    <a:chOff x="1188381" y="4465908"/>
                    <a:chExt cx="2465848" cy="2983872"/>
                  </a:xfrm>
                </p:grpSpPr>
                <p:sp>
                  <p:nvSpPr>
                    <p:cNvPr id="23" name="مخطط انسيابي: مستند 27">
                      <a:extLst>
                        <a:ext uri="{FF2B5EF4-FFF2-40B4-BE49-F238E27FC236}">
                          <a16:creationId xmlns:a16="http://schemas.microsoft.com/office/drawing/2014/main" id="{6A07D377-A575-E170-89BE-DD549A53AD90}"/>
                        </a:ext>
                      </a:extLst>
                    </p:cNvPr>
                    <p:cNvSpPr/>
                    <p:nvPr/>
                  </p:nvSpPr>
                  <p:spPr>
                    <a:xfrm flipH="1" flipV="1">
                      <a:off x="1188381" y="4465908"/>
                      <a:ext cx="2465848" cy="2983872"/>
                    </a:xfrm>
                    <a:prstGeom prst="flowChartDocument">
                      <a:avLst/>
                    </a:prstGeom>
                    <a:solidFill>
                      <a:srgbClr val="FF00FF"/>
                    </a:solidFill>
                    <a:ln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 dirty="0"/>
                    </a:p>
                  </p:txBody>
                </p:sp>
                <p:sp>
                  <p:nvSpPr>
                    <p:cNvPr id="24" name="مربع نص 31">
                      <a:extLst>
                        <a:ext uri="{FF2B5EF4-FFF2-40B4-BE49-F238E27FC236}">
                          <a16:creationId xmlns:a16="http://schemas.microsoft.com/office/drawing/2014/main" id="{0940AC00-A667-2A3F-EB68-E65E79AA7C3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277213" y="4864378"/>
                      <a:ext cx="2291025" cy="212747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ar-DZ" sz="2800" b="1" dirty="0">
                          <a:solidFill>
                            <a:schemeClr val="bg1"/>
                          </a:solidFill>
                        </a:rPr>
                        <a:t>الجانب التطبيقي</a:t>
                      </a:r>
                      <a:endParaRPr lang="fr-FR" sz="2800" b="1" dirty="0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sp>
                <p:nvSpPr>
                  <p:cNvPr id="22" name="مثلث متساوي الساقين 28">
                    <a:extLst>
                      <a:ext uri="{FF2B5EF4-FFF2-40B4-BE49-F238E27FC236}">
                        <a16:creationId xmlns:a16="http://schemas.microsoft.com/office/drawing/2014/main" id="{247765A3-4177-1BBB-7FE4-28BD275D0EEE}"/>
                      </a:ext>
                    </a:extLst>
                  </p:cNvPr>
                  <p:cNvSpPr/>
                  <p:nvPr/>
                </p:nvSpPr>
                <p:spPr>
                  <a:xfrm flipV="1">
                    <a:off x="128349" y="6766904"/>
                    <a:ext cx="3654760" cy="1090479"/>
                  </a:xfrm>
                  <a:prstGeom prst="triangle">
                    <a:avLst/>
                  </a:prstGeom>
                  <a:solidFill>
                    <a:srgbClr val="FF0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dirty="0"/>
                  </a:p>
                </p:txBody>
              </p:sp>
            </p:grpSp>
            <p:sp>
              <p:nvSpPr>
                <p:cNvPr id="19" name="مثلث قائم الزاوية 29">
                  <a:extLst>
                    <a:ext uri="{FF2B5EF4-FFF2-40B4-BE49-F238E27FC236}">
                      <a16:creationId xmlns:a16="http://schemas.microsoft.com/office/drawing/2014/main" id="{FB01FE20-C0A6-DDA2-38A2-DF8ECDF9A804}"/>
                    </a:ext>
                  </a:extLst>
                </p:cNvPr>
                <p:cNvSpPr/>
                <p:nvPr/>
              </p:nvSpPr>
              <p:spPr>
                <a:xfrm>
                  <a:off x="3061239" y="6398128"/>
                  <a:ext cx="773970" cy="335531"/>
                </a:xfrm>
                <a:prstGeom prst="rtTriangl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dirty="0"/>
                </a:p>
              </p:txBody>
            </p:sp>
            <p:sp>
              <p:nvSpPr>
                <p:cNvPr id="20" name="مثلث قائم الزاوية 30">
                  <a:extLst>
                    <a:ext uri="{FF2B5EF4-FFF2-40B4-BE49-F238E27FC236}">
                      <a16:creationId xmlns:a16="http://schemas.microsoft.com/office/drawing/2014/main" id="{85EC9C05-520F-6671-7301-E9C9A10636A8}"/>
                    </a:ext>
                  </a:extLst>
                </p:cNvPr>
                <p:cNvSpPr/>
                <p:nvPr/>
              </p:nvSpPr>
              <p:spPr>
                <a:xfrm flipH="1">
                  <a:off x="194363" y="6447329"/>
                  <a:ext cx="773970" cy="335532"/>
                </a:xfrm>
                <a:prstGeom prst="rtTriangl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dirty="0"/>
                </a:p>
              </p:txBody>
            </p:sp>
          </p:grpSp>
          <p:sp>
            <p:nvSpPr>
              <p:cNvPr id="17" name="مربع نص 34">
                <a:extLst>
                  <a:ext uri="{FF2B5EF4-FFF2-40B4-BE49-F238E27FC236}">
                    <a16:creationId xmlns:a16="http://schemas.microsoft.com/office/drawing/2014/main" id="{0D4E8A98-0A23-A184-5DAF-D87DEAB7CE43}"/>
                  </a:ext>
                </a:extLst>
              </p:cNvPr>
              <p:cNvSpPr txBox="1"/>
              <p:nvPr/>
            </p:nvSpPr>
            <p:spPr>
              <a:xfrm>
                <a:off x="1280477" y="6694898"/>
                <a:ext cx="1304967" cy="11249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ar-DZ" sz="4800" b="1" dirty="0">
                    <a:solidFill>
                      <a:schemeClr val="bg1"/>
                    </a:solidFill>
                    <a:cs typeface="+mj-cs"/>
                  </a:rPr>
                  <a:t>03</a:t>
                </a:r>
                <a:endParaRPr lang="fr-FR" sz="6000" b="1" dirty="0">
                  <a:solidFill>
                    <a:schemeClr val="bg1"/>
                  </a:solidFill>
                  <a:cs typeface="+mj-cs"/>
                </a:endParaRPr>
              </a:p>
            </p:txBody>
          </p:sp>
        </p:grpSp>
      </p:grpSp>
      <p:sp>
        <p:nvSpPr>
          <p:cNvPr id="9" name="Espace réservé du contenu 2">
            <a:extLst>
              <a:ext uri="{FF2B5EF4-FFF2-40B4-BE49-F238E27FC236}">
                <a16:creationId xmlns:a16="http://schemas.microsoft.com/office/drawing/2014/main" id="{B3CB9F27-00C4-C271-B7F3-CBEB5DB49E86}"/>
              </a:ext>
            </a:extLst>
          </p:cNvPr>
          <p:cNvSpPr txBox="1">
            <a:spLocks/>
          </p:cNvSpPr>
          <p:nvPr/>
        </p:nvSpPr>
        <p:spPr>
          <a:xfrm>
            <a:off x="2700202" y="957988"/>
            <a:ext cx="6264936" cy="1055178"/>
          </a:xfrm>
          <a:prstGeom prst="rect">
            <a:avLst/>
          </a:prstGeom>
          <a:solidFill>
            <a:srgbClr val="0000FF"/>
          </a:solidFill>
          <a:ln>
            <a:solidFill>
              <a:srgbClr val="FF0000"/>
            </a:solidFill>
          </a:ln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Autofit/>
          </a:bodyPr>
          <a:lstStyle>
            <a:lvl1pPr marL="3429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 algn="ctr" rtl="1">
              <a:buFont typeface="Wingdings 2" charset="2"/>
              <a:buNone/>
            </a:pPr>
            <a:r>
              <a:rPr lang="ar-DZ" sz="5400" dirty="0">
                <a:solidFill>
                  <a:srgbClr val="FFFF00"/>
                </a:solidFill>
              </a:rPr>
              <a:t> 2- دراسة أهم الأسباب</a:t>
            </a:r>
            <a:endParaRPr lang="fr-FR" sz="5400" dirty="0">
              <a:solidFill>
                <a:srgbClr val="FFFF00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C61EB71-BFF8-8D0E-3F1F-E92A630B06A4}"/>
              </a:ext>
            </a:extLst>
          </p:cNvPr>
          <p:cNvSpPr txBox="1">
            <a:spLocks/>
          </p:cNvSpPr>
          <p:nvPr/>
        </p:nvSpPr>
        <p:spPr bwMode="auto">
          <a:xfrm>
            <a:off x="1562464" y="2580092"/>
            <a:ext cx="9548238" cy="1338177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headEnd/>
            <a:tailEnd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1"/>
            <a:r>
              <a:rPr lang="ar-DZ" sz="6000" dirty="0">
                <a:solidFill>
                  <a:srgbClr val="FFFF00"/>
                </a:solidFill>
                <a:cs typeface="+mj-cs"/>
              </a:rPr>
              <a:t>وثائق العمل</a:t>
            </a:r>
          </a:p>
        </p:txBody>
      </p:sp>
    </p:spTree>
    <p:extLst>
      <p:ext uri="{BB962C8B-B14F-4D97-AF65-F5344CB8AC3E}">
        <p14:creationId xmlns:p14="http://schemas.microsoft.com/office/powerpoint/2010/main" val="10994037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5E2795-1E7C-B78E-9102-D20253F80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309F5A7-91B3-B13D-455D-E153D1BC7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B1A08-6A26-43A0-B48E-2ABDF235525A}" type="slidenum">
              <a:rPr lang="fr-FR" smtClean="0"/>
              <a:pPr/>
              <a:t>17</a:t>
            </a:fld>
            <a:endParaRPr lang="fr-FR"/>
          </a:p>
        </p:txBody>
      </p:sp>
      <p:sp>
        <p:nvSpPr>
          <p:cNvPr id="9" name="Espace réservé du contenu 2">
            <a:extLst>
              <a:ext uri="{FF2B5EF4-FFF2-40B4-BE49-F238E27FC236}">
                <a16:creationId xmlns:a16="http://schemas.microsoft.com/office/drawing/2014/main" id="{7EEAA91E-B6A4-1E3B-FDDA-B4FD1AAD3E79}"/>
              </a:ext>
            </a:extLst>
          </p:cNvPr>
          <p:cNvSpPr txBox="1">
            <a:spLocks/>
          </p:cNvSpPr>
          <p:nvPr/>
        </p:nvSpPr>
        <p:spPr>
          <a:xfrm>
            <a:off x="2917269" y="63533"/>
            <a:ext cx="6264936" cy="803733"/>
          </a:xfrm>
          <a:prstGeom prst="rect">
            <a:avLst/>
          </a:prstGeom>
          <a:solidFill>
            <a:srgbClr val="0000FF"/>
          </a:solidFill>
          <a:ln>
            <a:solidFill>
              <a:srgbClr val="FF0000"/>
            </a:solidFill>
          </a:ln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Autofit/>
          </a:bodyPr>
          <a:lstStyle>
            <a:lvl1pPr marL="3429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 algn="ctr" rtl="1">
              <a:buFont typeface="Wingdings 2" charset="2"/>
              <a:buNone/>
            </a:pPr>
            <a:r>
              <a:rPr lang="ar-DZ" sz="5400" dirty="0">
                <a:solidFill>
                  <a:srgbClr val="FFFF00"/>
                </a:solidFill>
              </a:rPr>
              <a:t>وثيقة عمل أولية</a:t>
            </a:r>
            <a:endParaRPr lang="fr-FR" sz="5400" dirty="0">
              <a:solidFill>
                <a:srgbClr val="FFFF00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CF0D961-6EBA-C03A-4230-35C6C5A3B11F}"/>
              </a:ext>
            </a:extLst>
          </p:cNvPr>
          <p:cNvSpPr txBox="1">
            <a:spLocks/>
          </p:cNvSpPr>
          <p:nvPr/>
        </p:nvSpPr>
        <p:spPr bwMode="auto">
          <a:xfrm>
            <a:off x="259359" y="1310576"/>
            <a:ext cx="9548238" cy="1338177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headEnd/>
            <a:tailEnd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1"/>
            <a:r>
              <a:rPr lang="ar-DZ" sz="6000" dirty="0">
                <a:solidFill>
                  <a:srgbClr val="FFFF00"/>
                </a:solidFill>
                <a:cs typeface="+mj-cs"/>
              </a:rPr>
              <a:t>وثيقة العمل الأولية 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888D4995-A032-08D9-9D01-9CF1DD80FF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2" y="1029530"/>
            <a:ext cx="12141196" cy="5828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460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8E3FB0-ECBE-5672-D1E9-808354D5B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E832B54-5C28-7DE7-4B4A-6B279E622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B1A08-6A26-43A0-B48E-2ABDF235525A}" type="slidenum">
              <a:rPr lang="fr-FR" smtClean="0"/>
              <a:pPr/>
              <a:t>18</a:t>
            </a:fld>
            <a:endParaRPr lang="fr-FR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26C46FD-5147-46E1-D4E5-538E5A6459B1}"/>
              </a:ext>
            </a:extLst>
          </p:cNvPr>
          <p:cNvSpPr txBox="1">
            <a:spLocks/>
          </p:cNvSpPr>
          <p:nvPr/>
        </p:nvSpPr>
        <p:spPr bwMode="auto">
          <a:xfrm>
            <a:off x="259359" y="1310576"/>
            <a:ext cx="9548238" cy="1338177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headEnd/>
            <a:tailEnd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1"/>
            <a:r>
              <a:rPr lang="ar-DZ" dirty="0">
                <a:solidFill>
                  <a:srgbClr val="FFFF00"/>
                </a:solidFill>
                <a:cs typeface="+mj-cs"/>
              </a:rPr>
              <a:t>وثيقة العمل النهائية ‘</a:t>
            </a:r>
            <a:r>
              <a:rPr lang="ar-DZ" dirty="0">
                <a:solidFill>
                  <a:srgbClr val="00FF00"/>
                </a:solidFill>
                <a:cs typeface="+mj-cs"/>
              </a:rPr>
              <a:t>’المقطع الأول</a:t>
            </a:r>
            <a:r>
              <a:rPr lang="ar-DZ" dirty="0">
                <a:solidFill>
                  <a:srgbClr val="FFFF00"/>
                </a:solidFill>
                <a:cs typeface="+mj-cs"/>
              </a:rPr>
              <a:t>’’</a:t>
            </a:r>
          </a:p>
        </p:txBody>
      </p:sp>
      <p:graphicFrame>
        <p:nvGraphicFramePr>
          <p:cNvPr id="2" name="Objet 1">
            <a:extLst>
              <a:ext uri="{FF2B5EF4-FFF2-40B4-BE49-F238E27FC236}">
                <a16:creationId xmlns:a16="http://schemas.microsoft.com/office/drawing/2014/main" id="{4E822789-5D18-F3D9-D18C-1B7280748FF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8945996"/>
              </p:ext>
            </p:extLst>
          </p:nvPr>
        </p:nvGraphicFramePr>
        <p:xfrm>
          <a:off x="64731" y="867266"/>
          <a:ext cx="12062537" cy="60903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9809611" imgH="5921348" progId="Word.Document.12">
                  <p:embed/>
                </p:oleObj>
              </mc:Choice>
              <mc:Fallback>
                <p:oleObj name="Document" r:id="rId2" imgW="9809611" imgH="5921348" progId="Word.Document.12">
                  <p:embed/>
                  <p:pic>
                    <p:nvPicPr>
                      <p:cNvPr id="2" name="Objet 1">
                        <a:extLst>
                          <a:ext uri="{FF2B5EF4-FFF2-40B4-BE49-F238E27FC236}">
                            <a16:creationId xmlns:a16="http://schemas.microsoft.com/office/drawing/2014/main" id="{EECDF49E-BEDC-2A16-9C7C-A9968B09066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4731" y="867266"/>
                        <a:ext cx="12062537" cy="6090391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26BF942-2133-F8E5-B7A6-A46870327011}"/>
              </a:ext>
            </a:extLst>
          </p:cNvPr>
          <p:cNvSpPr txBox="1">
            <a:spLocks/>
          </p:cNvSpPr>
          <p:nvPr/>
        </p:nvSpPr>
        <p:spPr>
          <a:xfrm>
            <a:off x="2917269" y="63533"/>
            <a:ext cx="6264936" cy="803733"/>
          </a:xfrm>
          <a:prstGeom prst="rect">
            <a:avLst/>
          </a:prstGeom>
          <a:solidFill>
            <a:srgbClr val="0000FF"/>
          </a:solidFill>
          <a:ln>
            <a:solidFill>
              <a:srgbClr val="FF0000"/>
            </a:solidFill>
          </a:ln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Autofit/>
          </a:bodyPr>
          <a:lstStyle>
            <a:lvl1pPr marL="3429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 algn="ctr" rtl="1">
              <a:buFont typeface="Wingdings 2" charset="2"/>
              <a:buNone/>
            </a:pPr>
            <a:r>
              <a:rPr lang="ar-DZ" sz="5400" dirty="0">
                <a:solidFill>
                  <a:srgbClr val="FFFF00"/>
                </a:solidFill>
              </a:rPr>
              <a:t>وثيقة عمل نهائية</a:t>
            </a:r>
            <a:endParaRPr lang="fr-FR" sz="54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2683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4A33E-1F96-4E2A-62CB-1E69D6AAE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E383485-666F-5BA9-3826-D13F455B6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B1A08-6A26-43A0-B48E-2ABDF235525A}" type="slidenum">
              <a:rPr lang="fr-FR" smtClean="0"/>
              <a:pPr/>
              <a:t>19</a:t>
            </a:fld>
            <a:endParaRPr lang="fr-FR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8658468-1F66-298E-1A49-357E72CA7C19}"/>
              </a:ext>
            </a:extLst>
          </p:cNvPr>
          <p:cNvSpPr txBox="1">
            <a:spLocks/>
          </p:cNvSpPr>
          <p:nvPr/>
        </p:nvSpPr>
        <p:spPr bwMode="auto">
          <a:xfrm>
            <a:off x="259359" y="1310576"/>
            <a:ext cx="9548238" cy="1338177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headEnd/>
            <a:tailEnd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1"/>
            <a:r>
              <a:rPr lang="ar-DZ" dirty="0">
                <a:solidFill>
                  <a:srgbClr val="FFFF00"/>
                </a:solidFill>
                <a:cs typeface="+mj-cs"/>
              </a:rPr>
              <a:t>وثيقة العمل النهائية ‘</a:t>
            </a:r>
            <a:r>
              <a:rPr lang="ar-DZ" dirty="0">
                <a:solidFill>
                  <a:srgbClr val="00FF00"/>
                </a:solidFill>
                <a:cs typeface="+mj-cs"/>
              </a:rPr>
              <a:t>’للاتصال العصبي</a:t>
            </a:r>
            <a:r>
              <a:rPr lang="ar-DZ" dirty="0">
                <a:solidFill>
                  <a:srgbClr val="FFFF00"/>
                </a:solidFill>
                <a:cs typeface="+mj-cs"/>
              </a:rPr>
              <a:t>’’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329B0D9-ACFB-15E2-B9F3-41FDF33BF6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86119"/>
            <a:ext cx="12104016" cy="5986549"/>
          </a:xfrm>
          <a:prstGeom prst="rect">
            <a:avLst/>
          </a:prstGeom>
        </p:spPr>
      </p:pic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D551589-9751-4A87-99BD-3AD289EE671C}"/>
              </a:ext>
            </a:extLst>
          </p:cNvPr>
          <p:cNvSpPr txBox="1">
            <a:spLocks/>
          </p:cNvSpPr>
          <p:nvPr/>
        </p:nvSpPr>
        <p:spPr>
          <a:xfrm>
            <a:off x="2917269" y="63533"/>
            <a:ext cx="6264936" cy="803733"/>
          </a:xfrm>
          <a:prstGeom prst="rect">
            <a:avLst/>
          </a:prstGeom>
          <a:solidFill>
            <a:srgbClr val="0000FF"/>
          </a:solidFill>
          <a:ln>
            <a:solidFill>
              <a:srgbClr val="FF0000"/>
            </a:solidFill>
          </a:ln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Autofit/>
          </a:bodyPr>
          <a:lstStyle>
            <a:lvl1pPr marL="3429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 algn="ctr" rtl="1">
              <a:buFont typeface="Wingdings 2" charset="2"/>
              <a:buNone/>
            </a:pPr>
            <a:r>
              <a:rPr lang="ar-DZ" sz="5400" dirty="0">
                <a:solidFill>
                  <a:srgbClr val="FFFF00"/>
                </a:solidFill>
              </a:rPr>
              <a:t>وثيقة عمل نهائية</a:t>
            </a:r>
            <a:endParaRPr lang="fr-FR" sz="54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36559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012806-4E0D-BBD2-E34B-072728184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BC45561-DE03-B1ED-8697-A31B923A4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B1A08-6A26-43A0-B48E-2ABDF235525A}" type="slidenum">
              <a:rPr lang="fr-FR" smtClean="0"/>
              <a:pPr/>
              <a:t>20</a:t>
            </a:fld>
            <a:endParaRPr lang="fr-FR"/>
          </a:p>
        </p:txBody>
      </p:sp>
      <p:grpSp>
        <p:nvGrpSpPr>
          <p:cNvPr id="13" name="Group 37">
            <a:extLst>
              <a:ext uri="{FF2B5EF4-FFF2-40B4-BE49-F238E27FC236}">
                <a16:creationId xmlns:a16="http://schemas.microsoft.com/office/drawing/2014/main" id="{02E023D4-172E-EC32-CA6C-597964E79B97}"/>
              </a:ext>
            </a:extLst>
          </p:cNvPr>
          <p:cNvGrpSpPr/>
          <p:nvPr/>
        </p:nvGrpSpPr>
        <p:grpSpPr>
          <a:xfrm>
            <a:off x="9239348" y="147399"/>
            <a:ext cx="5598441" cy="2105401"/>
            <a:chOff x="128349" y="5007168"/>
            <a:chExt cx="7350775" cy="2850215"/>
          </a:xfrm>
        </p:grpSpPr>
        <p:sp>
          <p:nvSpPr>
            <p:cNvPr id="14" name="شكل بيضاوي 26">
              <a:extLst>
                <a:ext uri="{FF2B5EF4-FFF2-40B4-BE49-F238E27FC236}">
                  <a16:creationId xmlns:a16="http://schemas.microsoft.com/office/drawing/2014/main" id="{052D0DAD-993F-AC14-CFAC-0A18F1C57836}"/>
                </a:ext>
              </a:extLst>
            </p:cNvPr>
            <p:cNvSpPr/>
            <p:nvPr/>
          </p:nvSpPr>
          <p:spPr>
            <a:xfrm>
              <a:off x="5557449" y="6154329"/>
              <a:ext cx="1921675" cy="335532"/>
            </a:xfrm>
            <a:prstGeom prst="ellipse">
              <a:avLst/>
            </a:prstGeom>
            <a:gradFill flip="none" rotWithShape="1">
              <a:gsLst>
                <a:gs pos="100000">
                  <a:schemeClr val="bg1">
                    <a:lumMod val="95000"/>
                    <a:alpha val="50000"/>
                  </a:schemeClr>
                </a:gs>
                <a:gs pos="0">
                  <a:schemeClr val="tx1">
                    <a:alpha val="7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grpSp>
          <p:nvGrpSpPr>
            <p:cNvPr id="15" name="Group 36">
              <a:extLst>
                <a:ext uri="{FF2B5EF4-FFF2-40B4-BE49-F238E27FC236}">
                  <a16:creationId xmlns:a16="http://schemas.microsoft.com/office/drawing/2014/main" id="{66C1C3F8-8C77-D592-5C2B-50712D44BCB9}"/>
                </a:ext>
              </a:extLst>
            </p:cNvPr>
            <p:cNvGrpSpPr/>
            <p:nvPr/>
          </p:nvGrpSpPr>
          <p:grpSpPr>
            <a:xfrm>
              <a:off x="128349" y="5007168"/>
              <a:ext cx="3706860" cy="2850215"/>
              <a:chOff x="128349" y="5007168"/>
              <a:chExt cx="3706860" cy="2850215"/>
            </a:xfrm>
          </p:grpSpPr>
          <p:grpSp>
            <p:nvGrpSpPr>
              <p:cNvPr id="16" name="Group 35">
                <a:extLst>
                  <a:ext uri="{FF2B5EF4-FFF2-40B4-BE49-F238E27FC236}">
                    <a16:creationId xmlns:a16="http://schemas.microsoft.com/office/drawing/2014/main" id="{F34B83E1-C212-79BA-AB96-0EFFD6E6A4B0}"/>
                  </a:ext>
                </a:extLst>
              </p:cNvPr>
              <p:cNvGrpSpPr/>
              <p:nvPr/>
            </p:nvGrpSpPr>
            <p:grpSpPr>
              <a:xfrm>
                <a:off x="128349" y="5007168"/>
                <a:ext cx="3706860" cy="2850215"/>
                <a:chOff x="128349" y="5007168"/>
                <a:chExt cx="3706860" cy="2850215"/>
              </a:xfrm>
            </p:grpSpPr>
            <p:grpSp>
              <p:nvGrpSpPr>
                <p:cNvPr id="18" name="Group 34">
                  <a:extLst>
                    <a:ext uri="{FF2B5EF4-FFF2-40B4-BE49-F238E27FC236}">
                      <a16:creationId xmlns:a16="http://schemas.microsoft.com/office/drawing/2014/main" id="{813056D5-0DC4-2445-31A3-03C35C8F2626}"/>
                    </a:ext>
                  </a:extLst>
                </p:cNvPr>
                <p:cNvGrpSpPr/>
                <p:nvPr/>
              </p:nvGrpSpPr>
              <p:grpSpPr>
                <a:xfrm>
                  <a:off x="128349" y="5007168"/>
                  <a:ext cx="3654760" cy="2850215"/>
                  <a:chOff x="128349" y="5007168"/>
                  <a:chExt cx="3654760" cy="2850215"/>
                </a:xfrm>
              </p:grpSpPr>
              <p:grpSp>
                <p:nvGrpSpPr>
                  <p:cNvPr id="21" name="مجموعة 35">
                    <a:extLst>
                      <a:ext uri="{FF2B5EF4-FFF2-40B4-BE49-F238E27FC236}">
                        <a16:creationId xmlns:a16="http://schemas.microsoft.com/office/drawing/2014/main" id="{DA0DEAEA-CC67-45B3-6BF4-72E99AF87AEC}"/>
                      </a:ext>
                    </a:extLst>
                  </p:cNvPr>
                  <p:cNvGrpSpPr/>
                  <p:nvPr/>
                </p:nvGrpSpPr>
                <p:grpSpPr>
                  <a:xfrm>
                    <a:off x="914441" y="5007168"/>
                    <a:ext cx="2106820" cy="1811577"/>
                    <a:chOff x="1188381" y="4465908"/>
                    <a:chExt cx="2465848" cy="2983872"/>
                  </a:xfrm>
                </p:grpSpPr>
                <p:sp>
                  <p:nvSpPr>
                    <p:cNvPr id="23" name="مخطط انسيابي: مستند 27">
                      <a:extLst>
                        <a:ext uri="{FF2B5EF4-FFF2-40B4-BE49-F238E27FC236}">
                          <a16:creationId xmlns:a16="http://schemas.microsoft.com/office/drawing/2014/main" id="{B5D62D37-9082-7C83-D8C6-067B70AD9015}"/>
                        </a:ext>
                      </a:extLst>
                    </p:cNvPr>
                    <p:cNvSpPr/>
                    <p:nvPr/>
                  </p:nvSpPr>
                  <p:spPr>
                    <a:xfrm flipH="1" flipV="1">
                      <a:off x="1188381" y="4465908"/>
                      <a:ext cx="2465848" cy="2983872"/>
                    </a:xfrm>
                    <a:prstGeom prst="flowChartDocument">
                      <a:avLst/>
                    </a:prstGeom>
                    <a:solidFill>
                      <a:srgbClr val="FF00FF"/>
                    </a:solidFill>
                    <a:ln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 dirty="0"/>
                    </a:p>
                  </p:txBody>
                </p:sp>
                <p:sp>
                  <p:nvSpPr>
                    <p:cNvPr id="24" name="مربع نص 31">
                      <a:extLst>
                        <a:ext uri="{FF2B5EF4-FFF2-40B4-BE49-F238E27FC236}">
                          <a16:creationId xmlns:a16="http://schemas.microsoft.com/office/drawing/2014/main" id="{F6817E14-5C54-E7D8-0C4C-4EDDB219668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277213" y="4864378"/>
                      <a:ext cx="2291025" cy="212747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ar-DZ" sz="2800" b="1" dirty="0">
                          <a:solidFill>
                            <a:schemeClr val="bg1"/>
                          </a:solidFill>
                        </a:rPr>
                        <a:t>الجانب التطبيقي</a:t>
                      </a:r>
                      <a:endParaRPr lang="fr-FR" sz="2800" b="1" dirty="0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sp>
                <p:nvSpPr>
                  <p:cNvPr id="22" name="مثلث متساوي الساقين 28">
                    <a:extLst>
                      <a:ext uri="{FF2B5EF4-FFF2-40B4-BE49-F238E27FC236}">
                        <a16:creationId xmlns:a16="http://schemas.microsoft.com/office/drawing/2014/main" id="{69AA51BB-4E58-C646-9BF6-130841997474}"/>
                      </a:ext>
                    </a:extLst>
                  </p:cNvPr>
                  <p:cNvSpPr/>
                  <p:nvPr/>
                </p:nvSpPr>
                <p:spPr>
                  <a:xfrm flipV="1">
                    <a:off x="128349" y="6766904"/>
                    <a:ext cx="3654760" cy="1090479"/>
                  </a:xfrm>
                  <a:prstGeom prst="triangle">
                    <a:avLst/>
                  </a:prstGeom>
                  <a:solidFill>
                    <a:srgbClr val="FF0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dirty="0"/>
                  </a:p>
                </p:txBody>
              </p:sp>
            </p:grpSp>
            <p:sp>
              <p:nvSpPr>
                <p:cNvPr id="19" name="مثلث قائم الزاوية 29">
                  <a:extLst>
                    <a:ext uri="{FF2B5EF4-FFF2-40B4-BE49-F238E27FC236}">
                      <a16:creationId xmlns:a16="http://schemas.microsoft.com/office/drawing/2014/main" id="{9E091063-1740-88FE-4868-EC0C17ABB7EB}"/>
                    </a:ext>
                  </a:extLst>
                </p:cNvPr>
                <p:cNvSpPr/>
                <p:nvPr/>
              </p:nvSpPr>
              <p:spPr>
                <a:xfrm>
                  <a:off x="3061239" y="6398128"/>
                  <a:ext cx="773970" cy="335531"/>
                </a:xfrm>
                <a:prstGeom prst="rtTriangl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dirty="0"/>
                </a:p>
              </p:txBody>
            </p:sp>
            <p:sp>
              <p:nvSpPr>
                <p:cNvPr id="20" name="مثلث قائم الزاوية 30">
                  <a:extLst>
                    <a:ext uri="{FF2B5EF4-FFF2-40B4-BE49-F238E27FC236}">
                      <a16:creationId xmlns:a16="http://schemas.microsoft.com/office/drawing/2014/main" id="{44372ED1-7B37-52E5-4956-5AAEABFFDE0F}"/>
                    </a:ext>
                  </a:extLst>
                </p:cNvPr>
                <p:cNvSpPr/>
                <p:nvPr/>
              </p:nvSpPr>
              <p:spPr>
                <a:xfrm flipH="1">
                  <a:off x="194363" y="6447329"/>
                  <a:ext cx="773970" cy="335532"/>
                </a:xfrm>
                <a:prstGeom prst="rtTriangl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dirty="0"/>
                </a:p>
              </p:txBody>
            </p:sp>
          </p:grpSp>
          <p:sp>
            <p:nvSpPr>
              <p:cNvPr id="17" name="مربع نص 34">
                <a:extLst>
                  <a:ext uri="{FF2B5EF4-FFF2-40B4-BE49-F238E27FC236}">
                    <a16:creationId xmlns:a16="http://schemas.microsoft.com/office/drawing/2014/main" id="{6654E38D-46CC-420D-33DD-2590D5C80869}"/>
                  </a:ext>
                </a:extLst>
              </p:cNvPr>
              <p:cNvSpPr txBox="1"/>
              <p:nvPr/>
            </p:nvSpPr>
            <p:spPr>
              <a:xfrm>
                <a:off x="1280477" y="6694898"/>
                <a:ext cx="1304967" cy="11249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ar-DZ" sz="4800" b="1" dirty="0">
                    <a:solidFill>
                      <a:schemeClr val="bg1"/>
                    </a:solidFill>
                    <a:cs typeface="+mj-cs"/>
                  </a:rPr>
                  <a:t>03</a:t>
                </a:r>
                <a:endParaRPr lang="fr-FR" sz="6000" b="1" dirty="0">
                  <a:solidFill>
                    <a:schemeClr val="bg1"/>
                  </a:solidFill>
                  <a:cs typeface="+mj-cs"/>
                </a:endParaRPr>
              </a:p>
            </p:txBody>
          </p:sp>
        </p:grpSp>
      </p:grpSp>
      <p:sp>
        <p:nvSpPr>
          <p:cNvPr id="9" name="Espace réservé du contenu 2">
            <a:extLst>
              <a:ext uri="{FF2B5EF4-FFF2-40B4-BE49-F238E27FC236}">
                <a16:creationId xmlns:a16="http://schemas.microsoft.com/office/drawing/2014/main" id="{9E555BA1-6C54-87B6-91F5-43E795578A06}"/>
              </a:ext>
            </a:extLst>
          </p:cNvPr>
          <p:cNvSpPr txBox="1">
            <a:spLocks/>
          </p:cNvSpPr>
          <p:nvPr/>
        </p:nvSpPr>
        <p:spPr>
          <a:xfrm>
            <a:off x="2917269" y="63533"/>
            <a:ext cx="6264936" cy="1055178"/>
          </a:xfrm>
          <a:prstGeom prst="rect">
            <a:avLst/>
          </a:prstGeom>
          <a:solidFill>
            <a:srgbClr val="0000FF"/>
          </a:solidFill>
          <a:ln>
            <a:solidFill>
              <a:srgbClr val="FF0000"/>
            </a:solidFill>
          </a:ln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Autofit/>
          </a:bodyPr>
          <a:lstStyle>
            <a:lvl1pPr marL="3429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 algn="ctr" rtl="1">
              <a:buFont typeface="Wingdings 2" charset="2"/>
              <a:buNone/>
            </a:pPr>
            <a:r>
              <a:rPr lang="ar-DZ" sz="5400" dirty="0">
                <a:solidFill>
                  <a:srgbClr val="FFFF00"/>
                </a:solidFill>
              </a:rPr>
              <a:t> 2- دراسة أهم الأسباب</a:t>
            </a:r>
            <a:endParaRPr lang="fr-FR" sz="5400" dirty="0">
              <a:solidFill>
                <a:srgbClr val="FFFF00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281A128-F2A3-3D28-E5ED-126491300DD3}"/>
              </a:ext>
            </a:extLst>
          </p:cNvPr>
          <p:cNvSpPr txBox="1">
            <a:spLocks/>
          </p:cNvSpPr>
          <p:nvPr/>
        </p:nvSpPr>
        <p:spPr bwMode="auto">
          <a:xfrm>
            <a:off x="259359" y="1310576"/>
            <a:ext cx="9548238" cy="1338177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headEnd/>
            <a:tailEnd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1"/>
            <a:r>
              <a:rPr lang="ar-DZ" dirty="0">
                <a:solidFill>
                  <a:srgbClr val="FFFF00"/>
                </a:solidFill>
                <a:cs typeface="+mj-cs"/>
              </a:rPr>
              <a:t>التعليمات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8321E92-5B01-0E9D-C223-266EDDC85EB3}"/>
              </a:ext>
            </a:extLst>
          </p:cNvPr>
          <p:cNvSpPr txBox="1">
            <a:spLocks/>
          </p:cNvSpPr>
          <p:nvPr/>
        </p:nvSpPr>
        <p:spPr bwMode="auto">
          <a:xfrm>
            <a:off x="170869" y="2936120"/>
            <a:ext cx="11580756" cy="181306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headEnd/>
            <a:tailEnd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>
              <a:spcAft>
                <a:spcPts val="800"/>
              </a:spcAft>
              <a:buNone/>
              <a:tabLst>
                <a:tab pos="141605" algn="r"/>
                <a:tab pos="351155" algn="l"/>
                <a:tab pos="571500" algn="l"/>
              </a:tabLst>
            </a:pPr>
            <a:endParaRPr lang="ar-DZ" sz="4000" kern="0" dirty="0"/>
          </a:p>
          <a:p>
            <a:pPr algn="r" rtl="1">
              <a:spcAft>
                <a:spcPts val="800"/>
              </a:spcAft>
              <a:buNone/>
              <a:tabLst>
                <a:tab pos="141605" algn="r"/>
                <a:tab pos="351155" algn="l"/>
                <a:tab pos="571500" algn="l"/>
              </a:tabLst>
            </a:pPr>
            <a:endParaRPr lang="ar-DZ" sz="4000" kern="0" dirty="0">
              <a:effectLst/>
            </a:endParaRPr>
          </a:p>
          <a:p>
            <a:pPr algn="r" rtl="1">
              <a:spcAft>
                <a:spcPts val="800"/>
              </a:spcAft>
              <a:buNone/>
              <a:tabLst>
                <a:tab pos="141605" algn="r"/>
                <a:tab pos="351155" algn="l"/>
                <a:tab pos="571500" algn="l"/>
              </a:tabLst>
            </a:pPr>
            <a:r>
              <a:rPr lang="ar-DZ" sz="4000" kern="0" dirty="0">
                <a:effectLst/>
              </a:rPr>
              <a:t>1- حدد</a:t>
            </a:r>
            <a:r>
              <a:rPr lang="ar-SA" sz="4000" kern="0" dirty="0">
                <a:effectLst/>
              </a:rPr>
              <a:t>العقبات التي تحول دول تنفيذ المنهاج</a:t>
            </a:r>
            <a:r>
              <a:rPr lang="ar-DZ" sz="4000" kern="0" dirty="0">
                <a:effectLst/>
              </a:rPr>
              <a:t>:</a:t>
            </a:r>
            <a:endParaRPr lang="fr-FR" sz="3600" kern="100" dirty="0">
              <a:effectLst/>
            </a:endParaRPr>
          </a:p>
          <a:p>
            <a:pPr algn="r" rtl="1">
              <a:spcAft>
                <a:spcPts val="800"/>
              </a:spcAft>
              <a:buNone/>
              <a:tabLst>
                <a:tab pos="141605" algn="r"/>
                <a:tab pos="351155" algn="l"/>
                <a:tab pos="571500" algn="l"/>
              </a:tabLst>
            </a:pPr>
            <a:r>
              <a:rPr lang="ar-SA" sz="4000" kern="0" dirty="0">
                <a:effectLst/>
              </a:rPr>
              <a:t>'' الوضعيات التعلمية التي تجدون صعوبة في </a:t>
            </a:r>
            <a:r>
              <a:rPr lang="ar-SA" sz="3600" kern="0" dirty="0">
                <a:effectLst/>
              </a:rPr>
              <a:t>تسييرها مع تحديد  الصعوبة’</a:t>
            </a:r>
            <a:endParaRPr lang="ar-DZ" sz="3600" kern="0" dirty="0">
              <a:effectLst/>
            </a:endParaRPr>
          </a:p>
          <a:p>
            <a:pPr algn="r" rtl="1">
              <a:lnSpc>
                <a:spcPct val="115000"/>
              </a:lnSpc>
              <a:spcAft>
                <a:spcPts val="800"/>
              </a:spcAft>
              <a:buNone/>
              <a:tabLst>
                <a:tab pos="141605" algn="r"/>
                <a:tab pos="351155" algn="l"/>
                <a:tab pos="571500" algn="l"/>
              </a:tabLst>
            </a:pPr>
            <a:endParaRPr lang="fr-FR" sz="3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 rtl="1">
              <a:lnSpc>
                <a:spcPct val="115000"/>
              </a:lnSpc>
              <a:spcAft>
                <a:spcPts val="800"/>
              </a:spcAft>
              <a:buNone/>
              <a:tabLst>
                <a:tab pos="141605" algn="r"/>
                <a:tab pos="351155" algn="l"/>
                <a:tab pos="571500" algn="l"/>
              </a:tabLst>
            </a:pPr>
            <a:r>
              <a:rPr lang="ar-DZ" sz="4000" dirty="0">
                <a:solidFill>
                  <a:srgbClr val="FFFF00"/>
                </a:solidFill>
                <a:cs typeface="+mj-cs"/>
              </a:rPr>
              <a:t> </a:t>
            </a:r>
            <a:endParaRPr lang="ar-DZ" sz="2000" dirty="0">
              <a:solidFill>
                <a:srgbClr val="FFFF00"/>
              </a:solidFill>
              <a:cs typeface="+mj-cs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47D9E65-92AA-4BEC-3B89-57554F2B90DB}"/>
              </a:ext>
            </a:extLst>
          </p:cNvPr>
          <p:cNvSpPr txBox="1">
            <a:spLocks/>
          </p:cNvSpPr>
          <p:nvPr/>
        </p:nvSpPr>
        <p:spPr bwMode="auto">
          <a:xfrm>
            <a:off x="170869" y="4718833"/>
            <a:ext cx="11580756" cy="181306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headEnd/>
            <a:tailEnd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>
              <a:spcAft>
                <a:spcPts val="800"/>
              </a:spcAft>
              <a:buNone/>
              <a:tabLst>
                <a:tab pos="141605" algn="r"/>
                <a:tab pos="351155" algn="l"/>
                <a:tab pos="571500" algn="l"/>
              </a:tabLst>
            </a:pPr>
            <a:endParaRPr lang="ar-DZ" sz="4000" kern="0" dirty="0"/>
          </a:p>
          <a:p>
            <a:pPr algn="r" rtl="1">
              <a:spcAft>
                <a:spcPts val="800"/>
              </a:spcAft>
              <a:buNone/>
              <a:tabLst>
                <a:tab pos="141605" algn="r"/>
                <a:tab pos="351155" algn="l"/>
                <a:tab pos="571500" algn="l"/>
              </a:tabLst>
            </a:pPr>
            <a:endParaRPr lang="ar-DZ" sz="4000" kern="0" dirty="0">
              <a:effectLst/>
            </a:endParaRPr>
          </a:p>
          <a:p>
            <a:pPr algn="r" rtl="1">
              <a:spcAft>
                <a:spcPts val="800"/>
              </a:spcAft>
              <a:buNone/>
              <a:tabLst>
                <a:tab pos="141605" algn="r"/>
                <a:tab pos="351155" algn="l"/>
                <a:tab pos="571500" algn="l"/>
              </a:tabLst>
            </a:pPr>
            <a:r>
              <a:rPr lang="ar-DZ" sz="4000" kern="0" dirty="0">
                <a:effectLst/>
              </a:rPr>
              <a:t>2-قدم اقتراحات تساعد في تخطي الصعوبات وبالتالي تنفيذ المنهاج.  </a:t>
            </a:r>
            <a:endParaRPr lang="ar-DZ" sz="3600" kern="0" dirty="0">
              <a:effectLst/>
            </a:endParaRPr>
          </a:p>
          <a:p>
            <a:pPr algn="r" rtl="1">
              <a:lnSpc>
                <a:spcPct val="115000"/>
              </a:lnSpc>
              <a:spcAft>
                <a:spcPts val="800"/>
              </a:spcAft>
              <a:buNone/>
              <a:tabLst>
                <a:tab pos="141605" algn="r"/>
                <a:tab pos="351155" algn="l"/>
                <a:tab pos="571500" algn="l"/>
              </a:tabLst>
            </a:pPr>
            <a:endParaRPr lang="fr-FR" sz="3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 rtl="1">
              <a:lnSpc>
                <a:spcPct val="115000"/>
              </a:lnSpc>
              <a:spcAft>
                <a:spcPts val="800"/>
              </a:spcAft>
              <a:buNone/>
              <a:tabLst>
                <a:tab pos="141605" algn="r"/>
                <a:tab pos="351155" algn="l"/>
                <a:tab pos="571500" algn="l"/>
              </a:tabLst>
            </a:pPr>
            <a:r>
              <a:rPr lang="ar-DZ" sz="4000" dirty="0">
                <a:solidFill>
                  <a:srgbClr val="FFFF00"/>
                </a:solidFill>
                <a:cs typeface="+mj-cs"/>
              </a:rPr>
              <a:t> </a:t>
            </a:r>
            <a:endParaRPr lang="ar-DZ" sz="2000" dirty="0">
              <a:solidFill>
                <a:srgbClr val="FFFF0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5196446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0">
            <a:extLst>
              <a:ext uri="{FF2B5EF4-FFF2-40B4-BE49-F238E27FC236}">
                <a16:creationId xmlns:a16="http://schemas.microsoft.com/office/drawing/2014/main" id="{A9C1225D-ED0B-167E-0C8A-D573987253DB}"/>
              </a:ext>
            </a:extLst>
          </p:cNvPr>
          <p:cNvGrpSpPr/>
          <p:nvPr/>
        </p:nvGrpSpPr>
        <p:grpSpPr>
          <a:xfrm>
            <a:off x="8953082" y="0"/>
            <a:ext cx="3034602" cy="2994718"/>
            <a:chOff x="0" y="2464049"/>
            <a:chExt cx="3726768" cy="3386335"/>
          </a:xfrm>
        </p:grpSpPr>
        <p:sp>
          <p:nvSpPr>
            <p:cNvPr id="3" name="شكل بيضاوي 16">
              <a:extLst>
                <a:ext uri="{FF2B5EF4-FFF2-40B4-BE49-F238E27FC236}">
                  <a16:creationId xmlns:a16="http://schemas.microsoft.com/office/drawing/2014/main" id="{0588C9C9-25CD-A106-8961-42C1654A7186}"/>
                </a:ext>
              </a:extLst>
            </p:cNvPr>
            <p:cNvSpPr/>
            <p:nvPr/>
          </p:nvSpPr>
          <p:spPr>
            <a:xfrm>
              <a:off x="869787" y="5514852"/>
              <a:ext cx="1921675" cy="335532"/>
            </a:xfrm>
            <a:prstGeom prst="ellipse">
              <a:avLst/>
            </a:prstGeom>
            <a:gradFill flip="none" rotWithShape="1">
              <a:gsLst>
                <a:gs pos="100000">
                  <a:schemeClr val="bg1">
                    <a:lumMod val="95000"/>
                    <a:alpha val="50000"/>
                  </a:schemeClr>
                </a:gs>
                <a:gs pos="0">
                  <a:schemeClr val="tx1">
                    <a:alpha val="7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grpSp>
          <p:nvGrpSpPr>
            <p:cNvPr id="4" name="Group 38">
              <a:extLst>
                <a:ext uri="{FF2B5EF4-FFF2-40B4-BE49-F238E27FC236}">
                  <a16:creationId xmlns:a16="http://schemas.microsoft.com/office/drawing/2014/main" id="{444A1F6E-8172-BFA3-1214-B123944C38A5}"/>
                </a:ext>
              </a:extLst>
            </p:cNvPr>
            <p:cNvGrpSpPr/>
            <p:nvPr/>
          </p:nvGrpSpPr>
          <p:grpSpPr>
            <a:xfrm>
              <a:off x="0" y="2464049"/>
              <a:ext cx="3726768" cy="2952327"/>
              <a:chOff x="120978" y="2337440"/>
              <a:chExt cx="3726768" cy="2952327"/>
            </a:xfrm>
          </p:grpSpPr>
          <p:sp>
            <p:nvSpPr>
              <p:cNvPr id="5" name="مثلث متساوي الساقين 19">
                <a:extLst>
                  <a:ext uri="{FF2B5EF4-FFF2-40B4-BE49-F238E27FC236}">
                    <a16:creationId xmlns:a16="http://schemas.microsoft.com/office/drawing/2014/main" id="{22997165-F72C-08D0-BAF5-C1CAF038461A}"/>
                  </a:ext>
                </a:extLst>
              </p:cNvPr>
              <p:cNvSpPr/>
              <p:nvPr/>
            </p:nvSpPr>
            <p:spPr>
              <a:xfrm flipV="1">
                <a:off x="192986" y="4199288"/>
                <a:ext cx="3654760" cy="1090479"/>
              </a:xfrm>
              <a:prstGeom prst="triangle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6" name="مثلث قائم الزاوية 20">
                <a:extLst>
                  <a:ext uri="{FF2B5EF4-FFF2-40B4-BE49-F238E27FC236}">
                    <a16:creationId xmlns:a16="http://schemas.microsoft.com/office/drawing/2014/main" id="{61A33AF8-D036-6360-B2CF-71B7CD4D32D3}"/>
                  </a:ext>
                </a:extLst>
              </p:cNvPr>
              <p:cNvSpPr/>
              <p:nvPr/>
            </p:nvSpPr>
            <p:spPr>
              <a:xfrm>
                <a:off x="3073306" y="3849608"/>
                <a:ext cx="773970" cy="335531"/>
              </a:xfrm>
              <a:prstGeom prst="rtTriangle">
                <a:avLst/>
              </a:prstGeom>
              <a:solidFill>
                <a:srgbClr val="CC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7" name="مثلث قائم الزاوية 21">
                <a:extLst>
                  <a:ext uri="{FF2B5EF4-FFF2-40B4-BE49-F238E27FC236}">
                    <a16:creationId xmlns:a16="http://schemas.microsoft.com/office/drawing/2014/main" id="{10781126-A45B-028B-C45B-560C8524BF0B}"/>
                  </a:ext>
                </a:extLst>
              </p:cNvPr>
              <p:cNvSpPr/>
              <p:nvPr/>
            </p:nvSpPr>
            <p:spPr>
              <a:xfrm flipH="1">
                <a:off x="120978" y="3849608"/>
                <a:ext cx="773970" cy="335531"/>
              </a:xfrm>
              <a:prstGeom prst="rtTriangle">
                <a:avLst/>
              </a:prstGeom>
              <a:solidFill>
                <a:srgbClr val="CC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grpSp>
            <p:nvGrpSpPr>
              <p:cNvPr id="8" name="مجموعة 36">
                <a:extLst>
                  <a:ext uri="{FF2B5EF4-FFF2-40B4-BE49-F238E27FC236}">
                    <a16:creationId xmlns:a16="http://schemas.microsoft.com/office/drawing/2014/main" id="{846A0077-F981-05B6-BE0B-A78781CC9057}"/>
                  </a:ext>
                </a:extLst>
              </p:cNvPr>
              <p:cNvGrpSpPr/>
              <p:nvPr/>
            </p:nvGrpSpPr>
            <p:grpSpPr>
              <a:xfrm>
                <a:off x="913066" y="2337440"/>
                <a:ext cx="2106820" cy="1811577"/>
                <a:chOff x="8777895" y="1425639"/>
                <a:chExt cx="2465848" cy="2983873"/>
              </a:xfrm>
            </p:grpSpPr>
            <p:sp>
              <p:nvSpPr>
                <p:cNvPr id="10" name="مخطط انسيابي: مستند 18">
                  <a:extLst>
                    <a:ext uri="{FF2B5EF4-FFF2-40B4-BE49-F238E27FC236}">
                      <a16:creationId xmlns:a16="http://schemas.microsoft.com/office/drawing/2014/main" id="{B552C405-8E06-5CBE-35BD-E82B8657CDFF}"/>
                    </a:ext>
                  </a:extLst>
                </p:cNvPr>
                <p:cNvSpPr/>
                <p:nvPr/>
              </p:nvSpPr>
              <p:spPr>
                <a:xfrm flipH="1" flipV="1">
                  <a:off x="8777895" y="1425639"/>
                  <a:ext cx="2465848" cy="2983873"/>
                </a:xfrm>
                <a:prstGeom prst="flowChartDocumen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dirty="0"/>
                </a:p>
              </p:txBody>
            </p:sp>
            <p:sp>
              <p:nvSpPr>
                <p:cNvPr id="11" name="مربع نص 22">
                  <a:extLst>
                    <a:ext uri="{FF2B5EF4-FFF2-40B4-BE49-F238E27FC236}">
                      <a16:creationId xmlns:a16="http://schemas.microsoft.com/office/drawing/2014/main" id="{A2CD3A5C-AD48-E571-BB0A-17F19B84926F}"/>
                    </a:ext>
                  </a:extLst>
                </p:cNvPr>
                <p:cNvSpPr txBox="1"/>
                <p:nvPr/>
              </p:nvSpPr>
              <p:spPr>
                <a:xfrm>
                  <a:off x="8865305" y="2495065"/>
                  <a:ext cx="2291025" cy="177430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 algn="ctr">
                    <a:defRPr sz="3200" b="1">
                      <a:solidFill>
                        <a:srgbClr val="FF0000"/>
                      </a:solidFill>
                      <a:latin typeface="Calibri" panose="020F0502020204030204" pitchFamily="34" charset="0"/>
                      <a:cs typeface="Sultan Medium" pitchFamily="2" charset="-78"/>
                    </a:defRPr>
                  </a:lvl1pPr>
                </a:lstStyle>
                <a:p>
                  <a:r>
                    <a:rPr lang="ar-DZ" dirty="0">
                      <a:solidFill>
                        <a:srgbClr val="FFFF00"/>
                      </a:solidFill>
                    </a:rPr>
                    <a:t>شؤون مختلفة</a:t>
                  </a:r>
                  <a:endParaRPr lang="fr-FR" dirty="0">
                    <a:solidFill>
                      <a:srgbClr val="FFFF00"/>
                    </a:solidFill>
                  </a:endParaRPr>
                </a:p>
              </p:txBody>
            </p:sp>
          </p:grpSp>
          <p:sp>
            <p:nvSpPr>
              <p:cNvPr id="9" name="مربع نص 25">
                <a:extLst>
                  <a:ext uri="{FF2B5EF4-FFF2-40B4-BE49-F238E27FC236}">
                    <a16:creationId xmlns:a16="http://schemas.microsoft.com/office/drawing/2014/main" id="{D22E68D1-CDA3-4E20-882D-BE8F3C151143}"/>
                  </a:ext>
                </a:extLst>
              </p:cNvPr>
              <p:cNvSpPr txBox="1"/>
              <p:nvPr/>
            </p:nvSpPr>
            <p:spPr>
              <a:xfrm>
                <a:off x="1289246" y="4137640"/>
                <a:ext cx="1304967" cy="11484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endParaRPr lang="fr-FR" sz="6000" b="1" dirty="0">
                  <a:solidFill>
                    <a:schemeClr val="bg1"/>
                  </a:solidFill>
                  <a:cs typeface="+mj-cs"/>
                </a:endParaRPr>
              </a:p>
            </p:txBody>
          </p:sp>
        </p:grp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7DF56B92-AAA9-4763-92EB-6E223057E691}"/>
              </a:ext>
            </a:extLst>
          </p:cNvPr>
          <p:cNvGrpSpPr/>
          <p:nvPr/>
        </p:nvGrpSpPr>
        <p:grpSpPr>
          <a:xfrm>
            <a:off x="60120" y="3554569"/>
            <a:ext cx="11754280" cy="3166228"/>
            <a:chOff x="255983" y="2048432"/>
            <a:chExt cx="11556188" cy="3381698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E7813D7-BB05-44E1-A0E4-3AB57E051B15}"/>
                </a:ext>
              </a:extLst>
            </p:cNvPr>
            <p:cNvGrpSpPr/>
            <p:nvPr/>
          </p:nvGrpSpPr>
          <p:grpSpPr>
            <a:xfrm>
              <a:off x="1012873" y="2048432"/>
              <a:ext cx="9931791" cy="1384085"/>
              <a:chOff x="492369" y="683865"/>
              <a:chExt cx="9931791" cy="1384085"/>
            </a:xfrm>
          </p:grpSpPr>
          <p:grpSp>
            <p:nvGrpSpPr>
              <p:cNvPr id="13" name="Group 3">
                <a:extLst>
                  <a:ext uri="{FF2B5EF4-FFF2-40B4-BE49-F238E27FC236}">
                    <a16:creationId xmlns:a16="http://schemas.microsoft.com/office/drawing/2014/main" id="{D4AF5359-266E-4259-B1D1-84977EC2AC1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219915" y="683865"/>
                <a:ext cx="4433043" cy="696885"/>
                <a:chOff x="3293" y="240"/>
                <a:chExt cx="1928" cy="629"/>
              </a:xfrm>
            </p:grpSpPr>
            <p:sp>
              <p:nvSpPr>
                <p:cNvPr id="20" name="AutoShape 4">
                  <a:extLst>
                    <a:ext uri="{FF2B5EF4-FFF2-40B4-BE49-F238E27FC236}">
                      <a16:creationId xmlns:a16="http://schemas.microsoft.com/office/drawing/2014/main" id="{DEDC5DF5-BF06-40D5-998F-5BC7E0B6275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93" y="268"/>
                  <a:ext cx="1928" cy="601"/>
                </a:xfrm>
                <a:prstGeom prst="roundRect">
                  <a:avLst>
                    <a:gd name="adj" fmla="val 16667"/>
                  </a:avLst>
                </a:prstGeom>
                <a:noFill/>
                <a:ln w="9525">
                  <a:solidFill>
                    <a:srgbClr val="FF0066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algn="r" rtl="1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algn="r" rtl="1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algn="r" rtl="1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algn="r" rtl="1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 eaLnBrk="1" hangingPunct="1"/>
                  <a:r>
                    <a:rPr lang="ar-DZ" sz="3200" b="1" kern="0" dirty="0">
                      <a:ln w="900" cmpd="sng">
                        <a:solidFill>
                          <a:srgbClr val="E03754">
                            <a:satMod val="190000"/>
                            <a:alpha val="55000"/>
                          </a:srgbClr>
                        </a:solidFill>
                        <a:prstDash val="solid"/>
                      </a:ln>
                      <a:solidFill>
                        <a:srgbClr val="E03754">
                          <a:satMod val="200000"/>
                          <a:tint val="3000"/>
                        </a:srgbClr>
                      </a:solidFill>
                      <a:effectLst>
                        <a:innerShdw blurRad="101600" dist="76200" dir="5400000">
                          <a:srgbClr val="E03754">
                            <a:satMod val="190000"/>
                            <a:tint val="100000"/>
                            <a:alpha val="74000"/>
                          </a:srgbClr>
                        </a:innerShdw>
                      </a:effectLst>
                      <a:latin typeface="Constantia" pitchFamily="18" charset="0"/>
                      <a:cs typeface="Sultan Medium" pitchFamily="2" charset="-78"/>
                    </a:rPr>
                    <a:t>2 –ملاحظات حول الزيارات</a:t>
                  </a:r>
                  <a:endParaRPr lang="fr-FR" altLang="ar-DZ" sz="3200" dirty="0">
                    <a:cs typeface="Sultan Medium" pitchFamily="2" charset="-78"/>
                  </a:endParaRPr>
                </a:p>
              </p:txBody>
            </p:sp>
            <p:sp>
              <p:nvSpPr>
                <p:cNvPr id="21" name="WordArt 5">
                  <a:extLst>
                    <a:ext uri="{FF2B5EF4-FFF2-40B4-BE49-F238E27FC236}">
                      <a16:creationId xmlns:a16="http://schemas.microsoft.com/office/drawing/2014/main" id="{E8711DD1-B14A-4F9F-8A5C-B8B980826741}"/>
                    </a:ext>
                  </a:extLst>
                </p:cNvPr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3386" y="240"/>
                  <a:ext cx="1497" cy="607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pPr algn="ctr"/>
                  <a:endParaRPr lang="ar-DZ" sz="300" kern="10" dirty="0">
                    <a:ln w="9525">
                      <a:solidFill>
                        <a:srgbClr val="00FFFF"/>
                      </a:solidFill>
                      <a:round/>
                      <a:headEnd/>
                      <a:tailEnd/>
                    </a:ln>
                    <a:solidFill>
                      <a:srgbClr val="00FFFF"/>
                    </a:solidFill>
                    <a:latin typeface="Traditional Arabic" panose="02020603050405020304" pitchFamily="18" charset="-78"/>
                    <a:cs typeface="Sultan Medium" pitchFamily="2" charset="-78"/>
                  </a:endParaRPr>
                </a:p>
              </p:txBody>
            </p:sp>
          </p:grpSp>
          <p:sp>
            <p:nvSpPr>
              <p:cNvPr id="14" name="Line 10">
                <a:extLst>
                  <a:ext uri="{FF2B5EF4-FFF2-40B4-BE49-F238E27FC236}">
                    <a16:creationId xmlns:a16="http://schemas.microsoft.com/office/drawing/2014/main" id="{B390DD3F-ECF7-44B5-B6B2-3F07FF16DE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424160" y="1505243"/>
                <a:ext cx="0" cy="534572"/>
              </a:xfrm>
              <a:prstGeom prst="line">
                <a:avLst/>
              </a:prstGeom>
              <a:noFill/>
              <a:ln w="76200">
                <a:solidFill>
                  <a:schemeClr val="accent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ar-DZ" sz="800">
                  <a:cs typeface="Sultan Medium" pitchFamily="2" charset="-78"/>
                </a:endParaRPr>
              </a:p>
            </p:txBody>
          </p:sp>
          <p:sp>
            <p:nvSpPr>
              <p:cNvPr id="15" name="Line 12">
                <a:extLst>
                  <a:ext uri="{FF2B5EF4-FFF2-40B4-BE49-F238E27FC236}">
                    <a16:creationId xmlns:a16="http://schemas.microsoft.com/office/drawing/2014/main" id="{242DD910-74D8-4A7E-99F0-6D4D017721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6437" y="1406769"/>
                <a:ext cx="9903656" cy="56272"/>
              </a:xfrm>
              <a:prstGeom prst="line">
                <a:avLst/>
              </a:prstGeom>
              <a:noFill/>
              <a:ln w="76200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ar-DZ" sz="800">
                  <a:cs typeface="Sultan Medium" pitchFamily="2" charset="-78"/>
                </a:endParaRPr>
              </a:p>
            </p:txBody>
          </p:sp>
          <p:sp>
            <p:nvSpPr>
              <p:cNvPr id="16" name="Line 10">
                <a:extLst>
                  <a:ext uri="{FF2B5EF4-FFF2-40B4-BE49-F238E27FC236}">
                    <a16:creationId xmlns:a16="http://schemas.microsoft.com/office/drawing/2014/main" id="{95BD34F1-D7D4-4A15-B433-832922DC0D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66888" y="1533378"/>
                <a:ext cx="0" cy="534572"/>
              </a:xfrm>
              <a:prstGeom prst="line">
                <a:avLst/>
              </a:prstGeom>
              <a:noFill/>
              <a:ln w="76200">
                <a:solidFill>
                  <a:schemeClr val="accent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ar-DZ" sz="800">
                  <a:cs typeface="Sultan Medium" pitchFamily="2" charset="-78"/>
                </a:endParaRPr>
              </a:p>
            </p:txBody>
          </p:sp>
          <p:sp>
            <p:nvSpPr>
              <p:cNvPr id="17" name="Line 10">
                <a:extLst>
                  <a:ext uri="{FF2B5EF4-FFF2-40B4-BE49-F238E27FC236}">
                    <a16:creationId xmlns:a16="http://schemas.microsoft.com/office/drawing/2014/main" id="{BDE655DD-D70F-45B6-926D-39E0FB417F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6406" y="1477108"/>
                <a:ext cx="0" cy="534572"/>
              </a:xfrm>
              <a:prstGeom prst="line">
                <a:avLst/>
              </a:prstGeom>
              <a:noFill/>
              <a:ln w="76200">
                <a:solidFill>
                  <a:schemeClr val="accent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ar-DZ" sz="800">
                  <a:cs typeface="Sultan Medium" pitchFamily="2" charset="-78"/>
                </a:endParaRPr>
              </a:p>
            </p:txBody>
          </p:sp>
          <p:sp>
            <p:nvSpPr>
              <p:cNvPr id="18" name="Line 10">
                <a:extLst>
                  <a:ext uri="{FF2B5EF4-FFF2-40B4-BE49-F238E27FC236}">
                    <a16:creationId xmlns:a16="http://schemas.microsoft.com/office/drawing/2014/main" id="{6E635849-FBDD-4302-A156-903AC8508C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93366" y="1505243"/>
                <a:ext cx="0" cy="534572"/>
              </a:xfrm>
              <a:prstGeom prst="line">
                <a:avLst/>
              </a:prstGeom>
              <a:noFill/>
              <a:ln w="76200">
                <a:solidFill>
                  <a:schemeClr val="accent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ar-DZ" sz="800">
                  <a:cs typeface="Sultan Medium" pitchFamily="2" charset="-78"/>
                </a:endParaRPr>
              </a:p>
            </p:txBody>
          </p:sp>
          <p:sp>
            <p:nvSpPr>
              <p:cNvPr id="19" name="Line 10">
                <a:extLst>
                  <a:ext uri="{FF2B5EF4-FFF2-40B4-BE49-F238E27FC236}">
                    <a16:creationId xmlns:a16="http://schemas.microsoft.com/office/drawing/2014/main" id="{3B2EF144-CEB3-486D-A106-3979133524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92369" y="1378633"/>
                <a:ext cx="14068" cy="647113"/>
              </a:xfrm>
              <a:prstGeom prst="line">
                <a:avLst/>
              </a:prstGeom>
              <a:noFill/>
              <a:ln w="76200">
                <a:solidFill>
                  <a:schemeClr val="accent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ar-DZ" sz="800">
                  <a:cs typeface="Sultan Medium" pitchFamily="2" charset="-78"/>
                </a:endParaRPr>
              </a:p>
            </p:txBody>
          </p:sp>
          <p:sp>
            <p:nvSpPr>
              <p:cNvPr id="66" name="Line 10">
                <a:extLst>
                  <a:ext uri="{FF2B5EF4-FFF2-40B4-BE49-F238E27FC236}">
                    <a16:creationId xmlns:a16="http://schemas.microsoft.com/office/drawing/2014/main" id="{6D17C683-E2C2-45AA-97A9-1590C5F303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980711" y="1415626"/>
                <a:ext cx="0" cy="534572"/>
              </a:xfrm>
              <a:prstGeom prst="line">
                <a:avLst/>
              </a:prstGeom>
              <a:noFill/>
              <a:ln w="76200">
                <a:solidFill>
                  <a:schemeClr val="accent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ar-DZ" sz="800">
                  <a:cs typeface="Sultan Medium" pitchFamily="2" charset="-78"/>
                </a:endParaRPr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EA7985A6-BADE-491D-9A42-D1A2445B439B}"/>
                </a:ext>
              </a:extLst>
            </p:cNvPr>
            <p:cNvGrpSpPr/>
            <p:nvPr/>
          </p:nvGrpSpPr>
          <p:grpSpPr>
            <a:xfrm>
              <a:off x="10550766" y="3342900"/>
              <a:ext cx="1261405" cy="1835162"/>
              <a:chOff x="9805041" y="1950198"/>
              <a:chExt cx="1464461" cy="1835162"/>
            </a:xfrm>
          </p:grpSpPr>
          <p:sp>
            <p:nvSpPr>
              <p:cNvPr id="23" name="AutoShape 14">
                <a:extLst>
                  <a:ext uri="{FF2B5EF4-FFF2-40B4-BE49-F238E27FC236}">
                    <a16:creationId xmlns:a16="http://schemas.microsoft.com/office/drawing/2014/main" id="{261885A4-E1B3-43CB-9A80-1BC5FE39BD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05043" y="1950198"/>
                <a:ext cx="1464459" cy="1777740"/>
              </a:xfrm>
              <a:prstGeom prst="roundRect">
                <a:avLst>
                  <a:gd name="adj" fmla="val 16667"/>
                </a:avLst>
              </a:prstGeom>
              <a:ln>
                <a:headEnd/>
                <a:tailEnd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r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r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r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r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ar-DZ" sz="500" dirty="0">
                  <a:solidFill>
                    <a:srgbClr val="FFFF00"/>
                  </a:solidFill>
                  <a:cs typeface="Sultan Medium" pitchFamily="2" charset="-78"/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CA204A4-E3F4-43DD-9FE2-9728CB9ED60F}"/>
                  </a:ext>
                </a:extLst>
              </p:cNvPr>
              <p:cNvSpPr txBox="1"/>
              <p:nvPr/>
            </p:nvSpPr>
            <p:spPr>
              <a:xfrm>
                <a:off x="9805041" y="1969478"/>
                <a:ext cx="1412398" cy="1815882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ctr"/>
                <a:r>
                  <a:rPr lang="ar-DZ" sz="2800" dirty="0">
                    <a:solidFill>
                      <a:schemeClr val="bg1"/>
                    </a:solidFill>
                    <a:cs typeface="Sultan Medium" pitchFamily="2" charset="-78"/>
                  </a:rPr>
                  <a:t>مراحل تسيير وضعية تعلمية</a:t>
                </a:r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A0F57DC6-2746-4CC2-AC8B-5B7EB042FF04}"/>
                </a:ext>
              </a:extLst>
            </p:cNvPr>
            <p:cNvGrpSpPr/>
            <p:nvPr/>
          </p:nvGrpSpPr>
          <p:grpSpPr>
            <a:xfrm>
              <a:off x="6617693" y="3314765"/>
              <a:ext cx="2004631" cy="2115365"/>
              <a:chOff x="6364475" y="1907995"/>
              <a:chExt cx="2004631" cy="2115365"/>
            </a:xfrm>
          </p:grpSpPr>
          <p:sp>
            <p:nvSpPr>
              <p:cNvPr id="26" name="AutoShape 14">
                <a:extLst>
                  <a:ext uri="{FF2B5EF4-FFF2-40B4-BE49-F238E27FC236}">
                    <a16:creationId xmlns:a16="http://schemas.microsoft.com/office/drawing/2014/main" id="{DB88440F-07FB-476B-BFCA-446D01D2B4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52033" y="1907995"/>
                <a:ext cx="1817073" cy="2115365"/>
              </a:xfrm>
              <a:prstGeom prst="roundRect">
                <a:avLst>
                  <a:gd name="adj" fmla="val 16667"/>
                </a:avLst>
              </a:prstGeom>
              <a:ln>
                <a:headEnd/>
                <a:tailEnd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r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r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r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r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ar-DZ" sz="300" dirty="0">
                  <a:solidFill>
                    <a:srgbClr val="FFFF00"/>
                  </a:solidFill>
                  <a:cs typeface="Sultan Medium" pitchFamily="2" charset="-78"/>
                </a:endParaRP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1428938-649F-4683-8697-E1B4292A26B6}"/>
                  </a:ext>
                </a:extLst>
              </p:cNvPr>
              <p:cNvSpPr txBox="1"/>
              <p:nvPr/>
            </p:nvSpPr>
            <p:spPr>
              <a:xfrm>
                <a:off x="6364475" y="2292044"/>
                <a:ext cx="1957748" cy="1479248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r" rtl="1"/>
                <a:r>
                  <a:rPr lang="ar-DZ" sz="2800" dirty="0">
                    <a:solidFill>
                      <a:schemeClr val="bg1"/>
                    </a:solidFill>
                    <a:cs typeface="Sultan Medium" pitchFamily="2" charset="-78"/>
                  </a:rPr>
                  <a:t>شبكة  وضعية</a:t>
                </a:r>
              </a:p>
              <a:p>
                <a:pPr algn="ctr"/>
                <a:r>
                  <a:rPr lang="ar-DZ" sz="2800" dirty="0">
                    <a:solidFill>
                      <a:schemeClr val="bg1"/>
                    </a:solidFill>
                    <a:cs typeface="Sultan Medium" pitchFamily="2" charset="-78"/>
                  </a:rPr>
                  <a:t>تعلم الادماج</a:t>
                </a:r>
              </a:p>
              <a:p>
                <a:pPr algn="ctr"/>
                <a:r>
                  <a:rPr lang="ar-DZ" sz="2800" dirty="0">
                    <a:solidFill>
                      <a:schemeClr val="bg1"/>
                    </a:solidFill>
                    <a:cs typeface="Sultan Medium" pitchFamily="2" charset="-78"/>
                  </a:rPr>
                  <a:t>ص14</a:t>
                </a:r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07E9195E-BA39-4E48-AC7E-F51F1436A5B2}"/>
                </a:ext>
              </a:extLst>
            </p:cNvPr>
            <p:cNvGrpSpPr/>
            <p:nvPr/>
          </p:nvGrpSpPr>
          <p:grpSpPr>
            <a:xfrm>
              <a:off x="4464150" y="3360605"/>
              <a:ext cx="6030348" cy="2009396"/>
              <a:chOff x="4154662" y="2010106"/>
              <a:chExt cx="6030348" cy="2009396"/>
            </a:xfrm>
          </p:grpSpPr>
          <p:sp>
            <p:nvSpPr>
              <p:cNvPr id="65" name="AutoShape 14">
                <a:extLst>
                  <a:ext uri="{FF2B5EF4-FFF2-40B4-BE49-F238E27FC236}">
                    <a16:creationId xmlns:a16="http://schemas.microsoft.com/office/drawing/2014/main" id="{7AE6A036-EE36-473A-9D54-10408D73C3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00394" y="2039815"/>
                <a:ext cx="1586142" cy="1979687"/>
              </a:xfrm>
              <a:prstGeom prst="roundRect">
                <a:avLst>
                  <a:gd name="adj" fmla="val 16667"/>
                </a:avLst>
              </a:prstGeom>
              <a:solidFill>
                <a:schemeClr val="tx1"/>
              </a:solidFill>
              <a:ln w="9525">
                <a:solidFill>
                  <a:srgbClr val="FF0066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r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r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r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r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ar-DZ" sz="300" dirty="0">
                  <a:solidFill>
                    <a:srgbClr val="FFFF00"/>
                  </a:solidFill>
                  <a:cs typeface="Sultan Medium" pitchFamily="2" charset="-78"/>
                </a:endParaRPr>
              </a:p>
            </p:txBody>
          </p:sp>
          <p:sp>
            <p:nvSpPr>
              <p:cNvPr id="29" name="AutoShape 14">
                <a:extLst>
                  <a:ext uri="{FF2B5EF4-FFF2-40B4-BE49-F238E27FC236}">
                    <a16:creationId xmlns:a16="http://schemas.microsoft.com/office/drawing/2014/main" id="{75A8C3BD-758E-4E67-9179-EF5B3E1B0D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54662" y="2010106"/>
                <a:ext cx="1486484" cy="1116559"/>
              </a:xfrm>
              <a:prstGeom prst="roundRect">
                <a:avLst>
                  <a:gd name="adj" fmla="val 16667"/>
                </a:avLst>
              </a:prstGeom>
              <a:ln>
                <a:headEnd/>
                <a:tailEnd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r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r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r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r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ar-DZ" sz="200" dirty="0">
                  <a:solidFill>
                    <a:srgbClr val="FFFF00"/>
                  </a:solidFill>
                  <a:cs typeface="Sultan Medium" pitchFamily="2" charset="-78"/>
                </a:endParaRPr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5E071898-4690-4BC0-89D9-D72144B42E0D}"/>
                  </a:ext>
                </a:extLst>
              </p:cNvPr>
              <p:cNvSpPr txBox="1"/>
              <p:nvPr/>
            </p:nvSpPr>
            <p:spPr>
              <a:xfrm>
                <a:off x="8367937" y="2151321"/>
                <a:ext cx="1817073" cy="174222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 rtlCol="1">
                <a:spAutoFit/>
              </a:bodyPr>
              <a:lstStyle/>
              <a:p>
                <a:pPr algn="ctr"/>
                <a:r>
                  <a:rPr lang="ar-DZ" sz="2400" dirty="0">
                    <a:solidFill>
                      <a:schemeClr val="bg1"/>
                    </a:solidFill>
                    <a:cs typeface="Sultan Medium" pitchFamily="2" charset="-78"/>
                  </a:rPr>
                  <a:t>المذكرة</a:t>
                </a:r>
              </a:p>
              <a:p>
                <a:pPr algn="ctr"/>
                <a:r>
                  <a:rPr lang="ar-DZ" sz="2400" dirty="0">
                    <a:solidFill>
                      <a:schemeClr val="bg1"/>
                    </a:solidFill>
                    <a:cs typeface="Sultan Medium" pitchFamily="2" charset="-78"/>
                  </a:rPr>
                  <a:t>(الموارد المعرفية)</a:t>
                </a:r>
                <a:r>
                  <a:rPr lang="ar-DZ" sz="3200" dirty="0">
                    <a:solidFill>
                      <a:schemeClr val="bg1"/>
                    </a:solidFill>
                    <a:cs typeface="Sultan Medium" pitchFamily="2" charset="-78"/>
                  </a:rPr>
                  <a:t> </a:t>
                </a:r>
                <a:r>
                  <a:rPr lang="ar-DZ" sz="2800" dirty="0">
                    <a:solidFill>
                      <a:schemeClr val="bg1"/>
                    </a:solidFill>
                    <a:cs typeface="Sultan Medium" pitchFamily="2" charset="-78"/>
                  </a:rPr>
                  <a:t>والدرس</a:t>
                </a:r>
                <a:endParaRPr lang="ar-DZ" sz="3200" dirty="0">
                  <a:solidFill>
                    <a:schemeClr val="bg1"/>
                  </a:solidFill>
                  <a:cs typeface="Sultan Medium" pitchFamily="2" charset="-78"/>
                </a:endParaRPr>
              </a:p>
            </p:txBody>
          </p:sp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5F6A0BBF-D583-49FF-A638-CEF01E203D14}"/>
                  </a:ext>
                </a:extLst>
              </p:cNvPr>
              <p:cNvSpPr txBox="1"/>
              <p:nvPr/>
            </p:nvSpPr>
            <p:spPr>
              <a:xfrm>
                <a:off x="4192174" y="2053884"/>
                <a:ext cx="1364566" cy="954107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ctr"/>
                <a:r>
                  <a:rPr lang="ar-DZ" sz="2800" dirty="0">
                    <a:solidFill>
                      <a:schemeClr val="bg1"/>
                    </a:solidFill>
                    <a:cs typeface="Sultan Medium" pitchFamily="2" charset="-78"/>
                  </a:rPr>
                  <a:t>وضعيات</a:t>
                </a:r>
                <a:r>
                  <a:rPr lang="ar-DZ" sz="3200" dirty="0">
                    <a:solidFill>
                      <a:schemeClr val="bg1"/>
                    </a:solidFill>
                    <a:cs typeface="Sultan Medium" pitchFamily="2" charset="-78"/>
                  </a:rPr>
                  <a:t> </a:t>
                </a:r>
                <a:r>
                  <a:rPr lang="ar-DZ" sz="2800" dirty="0">
                    <a:solidFill>
                      <a:schemeClr val="bg1"/>
                    </a:solidFill>
                    <a:cs typeface="Sultan Medium" pitchFamily="2" charset="-78"/>
                  </a:rPr>
                  <a:t>الادماج</a:t>
                </a:r>
                <a:endParaRPr lang="ar-DZ" sz="3200" dirty="0">
                  <a:solidFill>
                    <a:schemeClr val="bg1"/>
                  </a:solidFill>
                  <a:cs typeface="Sultan Medium" pitchFamily="2" charset="-78"/>
                </a:endParaRPr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D18CAB1B-5383-444D-A8AA-D2A168483006}"/>
                </a:ext>
              </a:extLst>
            </p:cNvPr>
            <p:cNvGrpSpPr/>
            <p:nvPr/>
          </p:nvGrpSpPr>
          <p:grpSpPr>
            <a:xfrm>
              <a:off x="2236761" y="3316209"/>
              <a:ext cx="1943683" cy="2062103"/>
              <a:chOff x="8710783" y="1839101"/>
              <a:chExt cx="2256570" cy="2062103"/>
            </a:xfrm>
          </p:grpSpPr>
          <p:sp>
            <p:nvSpPr>
              <p:cNvPr id="32" name="AutoShape 14">
                <a:extLst>
                  <a:ext uri="{FF2B5EF4-FFF2-40B4-BE49-F238E27FC236}">
                    <a16:creationId xmlns:a16="http://schemas.microsoft.com/office/drawing/2014/main" id="{C7D103E2-7669-4BD3-B441-B40CA578D2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10783" y="1851724"/>
                <a:ext cx="2232074" cy="2002823"/>
              </a:xfrm>
              <a:prstGeom prst="roundRect">
                <a:avLst>
                  <a:gd name="adj" fmla="val 16667"/>
                </a:avLst>
              </a:prstGeom>
              <a:ln>
                <a:headEnd/>
                <a:tailEnd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r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r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r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r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ar-DZ" sz="300" dirty="0">
                  <a:solidFill>
                    <a:srgbClr val="FFFF00"/>
                  </a:solidFill>
                  <a:cs typeface="Sultan Medium" pitchFamily="2" charset="-78"/>
                </a:endParaRP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5340A3B-F095-4C1D-B8F9-236915D96BB2}"/>
                  </a:ext>
                </a:extLst>
              </p:cNvPr>
              <p:cNvSpPr txBox="1"/>
              <p:nvPr/>
            </p:nvSpPr>
            <p:spPr>
              <a:xfrm>
                <a:off x="8820006" y="1839101"/>
                <a:ext cx="2147347" cy="2062103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ctr"/>
                <a:r>
                  <a:rPr lang="ar-DZ" sz="3200" dirty="0">
                    <a:solidFill>
                      <a:schemeClr val="bg1"/>
                    </a:solidFill>
                    <a:cs typeface="Sultan Medium" pitchFamily="2" charset="-78"/>
                  </a:rPr>
                  <a:t>التحضير المرحلي</a:t>
                </a:r>
              </a:p>
              <a:p>
                <a:pPr algn="ctr"/>
                <a:r>
                  <a:rPr lang="ar-DZ" sz="3200" dirty="0">
                    <a:solidFill>
                      <a:schemeClr val="bg1"/>
                    </a:solidFill>
                    <a:cs typeface="Sultan Medium" pitchFamily="2" charset="-78"/>
                  </a:rPr>
                  <a:t>والتنفيذ</a:t>
                </a:r>
              </a:p>
              <a:p>
                <a:pPr algn="ctr"/>
                <a:r>
                  <a:rPr lang="ar-DZ" sz="3200" dirty="0">
                    <a:solidFill>
                      <a:schemeClr val="bg1"/>
                    </a:solidFill>
                    <a:cs typeface="Sultan Medium" pitchFamily="2" charset="-78"/>
                  </a:rPr>
                  <a:t>المرحلي </a:t>
                </a:r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0CA84630-F458-46D0-B2EC-AD1946409DD2}"/>
                </a:ext>
              </a:extLst>
            </p:cNvPr>
            <p:cNvGrpSpPr/>
            <p:nvPr/>
          </p:nvGrpSpPr>
          <p:grpSpPr>
            <a:xfrm>
              <a:off x="255983" y="3181542"/>
              <a:ext cx="1824109" cy="1789854"/>
              <a:chOff x="9448946" y="1732569"/>
              <a:chExt cx="2117747" cy="1789854"/>
            </a:xfrm>
          </p:grpSpPr>
          <p:sp>
            <p:nvSpPr>
              <p:cNvPr id="35" name="AutoShape 14">
                <a:extLst>
                  <a:ext uri="{FF2B5EF4-FFF2-40B4-BE49-F238E27FC236}">
                    <a16:creationId xmlns:a16="http://schemas.microsoft.com/office/drawing/2014/main" id="{285CF740-047D-4FA4-BF35-2BB84A48EE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48946" y="1748754"/>
                <a:ext cx="2117747" cy="1773669"/>
              </a:xfrm>
              <a:prstGeom prst="roundRect">
                <a:avLst>
                  <a:gd name="adj" fmla="val 16667"/>
                </a:avLst>
              </a:prstGeom>
              <a:ln>
                <a:headEnd/>
                <a:tailEnd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r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r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r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r" rtl="1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ar-DZ" sz="300" dirty="0">
                  <a:solidFill>
                    <a:srgbClr val="FFFF00"/>
                  </a:solidFill>
                  <a:cs typeface="Sultan Medium" pitchFamily="2" charset="-78"/>
                </a:endParaRP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5D486673-309D-4CB9-8438-7BAB88E4E8F7}"/>
                  </a:ext>
                </a:extLst>
              </p:cNvPr>
              <p:cNvSpPr txBox="1"/>
              <p:nvPr/>
            </p:nvSpPr>
            <p:spPr>
              <a:xfrm>
                <a:off x="9548204" y="1732569"/>
                <a:ext cx="1871003" cy="1676480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ctr"/>
                <a:r>
                  <a:rPr lang="ar-DZ" sz="3200" dirty="0">
                    <a:solidFill>
                      <a:schemeClr val="bg1"/>
                    </a:solidFill>
                    <a:cs typeface="Sultan Medium" pitchFamily="2" charset="-78"/>
                  </a:rPr>
                  <a:t>التنسيق والندوات المحلية</a:t>
                </a:r>
              </a:p>
            </p:txBody>
          </p:sp>
        </p:grpSp>
      </p:grpSp>
      <p:sp>
        <p:nvSpPr>
          <p:cNvPr id="46" name="AutoShape 52">
            <a:extLst>
              <a:ext uri="{FF2B5EF4-FFF2-40B4-BE49-F238E27FC236}">
                <a16:creationId xmlns:a16="http://schemas.microsoft.com/office/drawing/2014/main" id="{7C9FB1E0-2C1B-4238-8419-45E262C8B8CA}"/>
              </a:ext>
            </a:extLst>
          </p:cNvPr>
          <p:cNvSpPr>
            <a:spLocks noChangeArrowheads="1"/>
          </p:cNvSpPr>
          <p:nvPr/>
        </p:nvSpPr>
        <p:spPr bwMode="gray">
          <a:xfrm>
            <a:off x="7397173" y="100093"/>
            <a:ext cx="1707326" cy="790837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rgbClr val="B2B2B2"/>
            </a:solidFill>
            <a:round/>
            <a:headEnd/>
            <a:tailEnd/>
          </a:ln>
        </p:spPr>
        <p:txBody>
          <a:bodyPr wrap="none" anchor="ctr"/>
          <a:lstStyle/>
          <a:p>
            <a:pPr algn="r" rtl="1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ar-DZ" sz="4000" b="1" kern="0" dirty="0">
                <a:ln w="900" cmpd="sng">
                  <a:solidFill>
                    <a:srgbClr val="E03754">
                      <a:satMod val="190000"/>
                      <a:alpha val="55000"/>
                    </a:srgbClr>
                  </a:solidFill>
                  <a:prstDash val="solid"/>
                </a:ln>
                <a:solidFill>
                  <a:srgbClr val="E03754">
                    <a:satMod val="200000"/>
                    <a:tint val="3000"/>
                  </a:srgbClr>
                </a:solidFill>
                <a:effectLst>
                  <a:innerShdw blurRad="101600" dist="76200" dir="5400000">
                    <a:srgbClr val="E03754">
                      <a:satMod val="190000"/>
                      <a:tint val="100000"/>
                      <a:alpha val="74000"/>
                    </a:srgbClr>
                  </a:innerShdw>
                </a:effectLst>
                <a:latin typeface="Constantia" pitchFamily="18" charset="0"/>
                <a:cs typeface="Sultan Medium" pitchFamily="2" charset="-78"/>
              </a:rPr>
              <a:t>1- العقد </a:t>
            </a:r>
            <a:endParaRPr lang="en-US" sz="4000" b="1" kern="0" dirty="0">
              <a:ln w="900" cmpd="sng">
                <a:solidFill>
                  <a:srgbClr val="E03754">
                    <a:satMod val="190000"/>
                    <a:alpha val="55000"/>
                  </a:srgbClr>
                </a:solidFill>
                <a:prstDash val="solid"/>
              </a:ln>
              <a:solidFill>
                <a:srgbClr val="E03754">
                  <a:satMod val="200000"/>
                  <a:tint val="3000"/>
                </a:srgbClr>
              </a:solidFill>
              <a:effectLst>
                <a:innerShdw blurRad="101600" dist="76200" dir="5400000">
                  <a:srgbClr val="E03754">
                    <a:satMod val="190000"/>
                    <a:tint val="100000"/>
                    <a:alpha val="74000"/>
                  </a:srgbClr>
                </a:innerShdw>
              </a:effectLst>
              <a:latin typeface="Constantia" pitchFamily="18" charset="0"/>
              <a:cs typeface="Sultan Medium" pitchFamily="2" charset="-78"/>
            </a:endParaRPr>
          </a:p>
        </p:txBody>
      </p:sp>
      <p:sp>
        <p:nvSpPr>
          <p:cNvPr id="61" name="Rectangle 11">
            <a:extLst>
              <a:ext uri="{FF2B5EF4-FFF2-40B4-BE49-F238E27FC236}">
                <a16:creationId xmlns:a16="http://schemas.microsoft.com/office/drawing/2014/main" id="{8DB2590E-F860-4C83-83F2-B13D9D9364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9" y="0"/>
            <a:ext cx="3139561" cy="1077218"/>
          </a:xfrm>
          <a:prstGeom prst="rect">
            <a:avLst/>
          </a:prstGeom>
          <a:solidFill>
            <a:srgbClr val="0000FF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 rtl="1"/>
            <a:r>
              <a:rPr lang="ar-DZ" sz="3200" b="1" dirty="0">
                <a:cs typeface="Sultan Medium" pitchFamily="2" charset="-78"/>
              </a:rPr>
              <a:t>3- تقارير المعالجة قبل نهاية أكتوبر</a:t>
            </a:r>
            <a:endParaRPr lang="fr-FR" sz="3200" b="1" dirty="0">
              <a:cs typeface="Sultan Medium" pitchFamily="2" charset="-78"/>
            </a:endParaRPr>
          </a:p>
        </p:txBody>
      </p:sp>
      <p:sp>
        <p:nvSpPr>
          <p:cNvPr id="63" name="Rectangle 11">
            <a:extLst>
              <a:ext uri="{FF2B5EF4-FFF2-40B4-BE49-F238E27FC236}">
                <a16:creationId xmlns:a16="http://schemas.microsoft.com/office/drawing/2014/main" id="{55D80E90-7E92-4BC2-BEC3-F43827883F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6996" y="1278111"/>
            <a:ext cx="1744393" cy="584775"/>
          </a:xfrm>
          <a:prstGeom prst="rect">
            <a:avLst/>
          </a:prstGeom>
          <a:solidFill>
            <a:srgbClr val="0000FF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 rtl="1"/>
            <a:r>
              <a:rPr lang="ar-DZ" sz="3200" b="1" dirty="0">
                <a:cs typeface="Sultan Medium" pitchFamily="2" charset="-78"/>
              </a:rPr>
              <a:t>4- الاملاء</a:t>
            </a:r>
            <a:endParaRPr lang="fr-FR" sz="3200" b="1" dirty="0">
              <a:cs typeface="Sultan Medium" pitchFamily="2" charset="-78"/>
            </a:endParaRPr>
          </a:p>
        </p:txBody>
      </p:sp>
      <p:sp>
        <p:nvSpPr>
          <p:cNvPr id="68" name="Rectangle 11">
            <a:extLst>
              <a:ext uri="{FF2B5EF4-FFF2-40B4-BE49-F238E27FC236}">
                <a16:creationId xmlns:a16="http://schemas.microsoft.com/office/drawing/2014/main" id="{05EB20DA-0266-4AE4-B94C-52D5ADE9B1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85348" y="0"/>
            <a:ext cx="2842262" cy="584775"/>
          </a:xfrm>
          <a:prstGeom prst="rect">
            <a:avLst/>
          </a:prstGeom>
          <a:solidFill>
            <a:srgbClr val="0000FF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 rtl="1"/>
            <a:r>
              <a:rPr lang="ar-DZ" sz="3200" b="1" dirty="0">
                <a:cs typeface="Sultan Medium" pitchFamily="2" charset="-78"/>
              </a:rPr>
              <a:t>1-نشاط المكتسبات  </a:t>
            </a:r>
            <a:endParaRPr lang="fr-FR" sz="3200" b="1" dirty="0">
              <a:cs typeface="Sultan Medium" pitchFamily="2" charset="-78"/>
            </a:endParaRPr>
          </a:p>
        </p:txBody>
      </p:sp>
      <p:sp>
        <p:nvSpPr>
          <p:cNvPr id="30" name="Rectangle 11">
            <a:extLst>
              <a:ext uri="{FF2B5EF4-FFF2-40B4-BE49-F238E27FC236}">
                <a16:creationId xmlns:a16="http://schemas.microsoft.com/office/drawing/2014/main" id="{2ABB9A07-F975-4782-480E-8794704EED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3" y="1308044"/>
            <a:ext cx="3995469" cy="584775"/>
          </a:xfrm>
          <a:prstGeom prst="rect">
            <a:avLst/>
          </a:prstGeom>
          <a:solidFill>
            <a:srgbClr val="0000FF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 rtl="1"/>
            <a:r>
              <a:rPr lang="ar-DZ" sz="3200" b="1" dirty="0">
                <a:cs typeface="Sultan Medium" pitchFamily="2" charset="-78"/>
              </a:rPr>
              <a:t>5- استعمال الكتاب المدرسي</a:t>
            </a:r>
            <a:endParaRPr lang="fr-FR" sz="3200" b="1" dirty="0">
              <a:cs typeface="Sultan Medium" pitchFamily="2" charset="-78"/>
            </a:endParaRPr>
          </a:p>
        </p:txBody>
      </p:sp>
      <p:sp>
        <p:nvSpPr>
          <p:cNvPr id="38" name="Rectangle 11">
            <a:extLst>
              <a:ext uri="{FF2B5EF4-FFF2-40B4-BE49-F238E27FC236}">
                <a16:creationId xmlns:a16="http://schemas.microsoft.com/office/drawing/2014/main" id="{087CCD57-7E64-6ED4-8777-3E4423C7AD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09422"/>
            <a:ext cx="4671096" cy="584775"/>
          </a:xfrm>
          <a:prstGeom prst="rect">
            <a:avLst/>
          </a:prstGeom>
          <a:solidFill>
            <a:srgbClr val="0000FF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 rtl="1"/>
            <a:r>
              <a:rPr lang="ar-DZ" sz="3200" b="1" dirty="0">
                <a:cs typeface="Sultan Medium" pitchFamily="2" charset="-78"/>
              </a:rPr>
              <a:t>7- لا يخرج المتعلم دون ارساء</a:t>
            </a:r>
            <a:endParaRPr lang="fr-FR" sz="3200" b="1" dirty="0">
              <a:cs typeface="Sultan Medium" pitchFamily="2" charset="-78"/>
            </a:endParaRPr>
          </a:p>
        </p:txBody>
      </p:sp>
      <p:sp>
        <p:nvSpPr>
          <p:cNvPr id="83" name="Rectangle 11">
            <a:extLst>
              <a:ext uri="{FF2B5EF4-FFF2-40B4-BE49-F238E27FC236}">
                <a16:creationId xmlns:a16="http://schemas.microsoft.com/office/drawing/2014/main" id="{C13130AE-5399-C391-A9D3-7424F782D4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1343" y="2249759"/>
            <a:ext cx="6454805" cy="584775"/>
          </a:xfrm>
          <a:prstGeom prst="rect">
            <a:avLst/>
          </a:prstGeom>
          <a:solidFill>
            <a:srgbClr val="0000FF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 rtl="1"/>
            <a:r>
              <a:rPr lang="ar-DZ" sz="3200" b="1" dirty="0">
                <a:cs typeface="Sultan Medium" pitchFamily="2" charset="-78"/>
              </a:rPr>
              <a:t>6- المنهجية ‘وضعيات التعلم’ المسعى العلمي</a:t>
            </a:r>
            <a:endParaRPr lang="fr-FR" sz="3200" b="1" dirty="0">
              <a:cs typeface="Sultan Medium" pitchFamily="2" charset="-78"/>
            </a:endParaRPr>
          </a:p>
        </p:txBody>
      </p:sp>
      <p:sp>
        <p:nvSpPr>
          <p:cNvPr id="39" name="Rectangle 11">
            <a:extLst>
              <a:ext uri="{FF2B5EF4-FFF2-40B4-BE49-F238E27FC236}">
                <a16:creationId xmlns:a16="http://schemas.microsoft.com/office/drawing/2014/main" id="{49778A2A-6FE9-6234-10FA-F533A287E9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78764" y="1299625"/>
            <a:ext cx="2128735" cy="584775"/>
          </a:xfrm>
          <a:prstGeom prst="rect">
            <a:avLst/>
          </a:prstGeom>
          <a:solidFill>
            <a:srgbClr val="0000FF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 rtl="1"/>
            <a:r>
              <a:rPr lang="ar-DZ" sz="3200" b="1" dirty="0">
                <a:cs typeface="Sultan Medium" pitchFamily="2" charset="-78"/>
              </a:rPr>
              <a:t>2- التلقين</a:t>
            </a:r>
            <a:endParaRPr lang="fr-FR" sz="3200" b="1" dirty="0">
              <a:cs typeface="Sultan Medium" pitchFamily="2" charset="-78"/>
            </a:endParaRPr>
          </a:p>
        </p:txBody>
      </p:sp>
      <p:sp>
        <p:nvSpPr>
          <p:cNvPr id="40" name="Rectangle 11">
            <a:extLst>
              <a:ext uri="{FF2B5EF4-FFF2-40B4-BE49-F238E27FC236}">
                <a16:creationId xmlns:a16="http://schemas.microsoft.com/office/drawing/2014/main" id="{7D6A3CFF-B879-1903-A455-5A7EDBD4BB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2102" y="2916686"/>
            <a:ext cx="8857598" cy="584775"/>
          </a:xfrm>
          <a:prstGeom prst="rect">
            <a:avLst/>
          </a:prstGeom>
          <a:solidFill>
            <a:srgbClr val="0000FF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 rtl="1"/>
            <a:r>
              <a:rPr lang="ar-DZ" sz="3200" b="1" dirty="0">
                <a:cs typeface="Sultan Medium" pitchFamily="2" charset="-78"/>
              </a:rPr>
              <a:t>8- دور المنسق في الرد على المراسلات في الآجال المحددة</a:t>
            </a:r>
            <a:endParaRPr lang="fr-FR" sz="3200" b="1" dirty="0">
              <a:cs typeface="Sultan Medium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12168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3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61" grpId="0" animBg="1"/>
      <p:bldP spid="63" grpId="0" animBg="1"/>
      <p:bldP spid="68" grpId="0" animBg="1"/>
      <p:bldP spid="30" grpId="0" animBg="1"/>
      <p:bldP spid="38" grpId="0" animBg="1"/>
      <p:bldP spid="83" grpId="0" animBg="1"/>
      <p:bldP spid="39" grpId="0" animBg="1"/>
      <p:bldP spid="40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CB80E964-ACFD-009A-97D9-4788F11EE6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0008" y="1569559"/>
            <a:ext cx="9480365" cy="5095174"/>
          </a:xfrm>
          <a:prstGeom prst="rect">
            <a:avLst/>
          </a:prstGeom>
        </p:spPr>
      </p:pic>
      <p:sp>
        <p:nvSpPr>
          <p:cNvPr id="4" name="AutoShape 1">
            <a:extLst>
              <a:ext uri="{FF2B5EF4-FFF2-40B4-BE49-F238E27FC236}">
                <a16:creationId xmlns:a16="http://schemas.microsoft.com/office/drawing/2014/main" id="{CB9D653F-895D-05F0-7B4B-602D6E159E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8731" y="0"/>
            <a:ext cx="4726742" cy="1403252"/>
          </a:xfrm>
          <a:prstGeom prst="horizontalScroll">
            <a:avLst>
              <a:gd name="adj" fmla="val 12500"/>
            </a:avLst>
          </a:prstGeom>
          <a:solidFill>
            <a:schemeClr val="bg1"/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ar-DZ" sz="66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FF00"/>
                </a:solidFill>
                <a:effectLst>
                  <a:outerShdw dist="38100" dir="2640000" algn="bl" rotWithShape="0">
                    <a:schemeClr val="accent1"/>
                  </a:outerShdw>
                </a:effectLst>
              </a:rPr>
              <a:t>فشل التخطيط</a:t>
            </a:r>
            <a:endParaRPr lang="fr-FR" sz="6600" b="1" dirty="0">
              <a:ln w="12700">
                <a:solidFill>
                  <a:schemeClr val="accent1"/>
                </a:solidFill>
                <a:prstDash val="solid"/>
              </a:ln>
              <a:solidFill>
                <a:srgbClr val="FFFF00"/>
              </a:solid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04478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82D02321-BD13-6A21-D461-3426267BB46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6967"/>
          <a:stretch>
            <a:fillRect/>
          </a:stretch>
        </p:blipFill>
        <p:spPr>
          <a:xfrm>
            <a:off x="2517906" y="4481331"/>
            <a:ext cx="8379480" cy="1218736"/>
          </a:xfrm>
          <a:prstGeom prst="rect">
            <a:avLst/>
          </a:prstGeom>
          <a:solidFill>
            <a:srgbClr val="0000FF"/>
          </a:solidFill>
          <a:ln>
            <a:solidFill>
              <a:srgbClr val="FF0000"/>
            </a:solidFill>
          </a:ln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D17D6393-1CC3-13B7-98AA-987D9F71CE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8276" y="0"/>
            <a:ext cx="5995448" cy="4632846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B5AABD60-4A16-80F5-0E35-2C9BF718F1CF}"/>
              </a:ext>
            </a:extLst>
          </p:cNvPr>
          <p:cNvSpPr txBox="1"/>
          <p:nvPr/>
        </p:nvSpPr>
        <p:spPr>
          <a:xfrm>
            <a:off x="537328" y="5853612"/>
            <a:ext cx="2366127" cy="769441"/>
          </a:xfrm>
          <a:prstGeom prst="rect">
            <a:avLst/>
          </a:prstGeom>
          <a:solidFill>
            <a:srgbClr val="0000FF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ar-DZ" sz="4400" dirty="0"/>
              <a:t>أدولف هتلر</a:t>
            </a:r>
            <a:endParaRPr lang="fr-FR" sz="4400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D6CBA045-6664-4471-42F4-9BBE02300863}"/>
              </a:ext>
            </a:extLst>
          </p:cNvPr>
          <p:cNvSpPr txBox="1"/>
          <p:nvPr/>
        </p:nvSpPr>
        <p:spPr>
          <a:xfrm>
            <a:off x="7984503" y="5853611"/>
            <a:ext cx="3377938" cy="769441"/>
          </a:xfrm>
          <a:prstGeom prst="rect">
            <a:avLst/>
          </a:prstGeom>
          <a:solidFill>
            <a:srgbClr val="0000FF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ar-DZ" sz="4400" dirty="0"/>
              <a:t>المقولة تنسب إلى</a:t>
            </a:r>
            <a:endParaRPr lang="fr-FR" sz="4400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8DB73394-BD6E-B9D6-CCCB-89E6A18641B4}"/>
              </a:ext>
            </a:extLst>
          </p:cNvPr>
          <p:cNvSpPr txBox="1"/>
          <p:nvPr/>
        </p:nvSpPr>
        <p:spPr>
          <a:xfrm>
            <a:off x="4835951" y="5853612"/>
            <a:ext cx="2366127" cy="769441"/>
          </a:xfrm>
          <a:prstGeom prst="rect">
            <a:avLst/>
          </a:prstGeom>
          <a:solidFill>
            <a:srgbClr val="0000FF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ar-DZ" sz="4400" dirty="0"/>
              <a:t>بوب نلسون</a:t>
            </a:r>
            <a:endParaRPr lang="fr-FR" sz="4400" dirty="0"/>
          </a:p>
        </p:txBody>
      </p:sp>
    </p:spTree>
    <p:extLst>
      <p:ext uri="{BB962C8B-B14F-4D97-AF65-F5344CB8AC3E}">
        <p14:creationId xmlns:p14="http://schemas.microsoft.com/office/powerpoint/2010/main" val="2856979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  <p:bldP spid="10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FC5D9E-04B8-CF8F-B2C2-E4C89E40A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D5E8C5E7-AD92-1E68-1152-8AEB617D82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0335" y="75415"/>
            <a:ext cx="5608947" cy="4334186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36C43868-2342-28AC-9CDE-83B5C631C4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90" y="4246515"/>
            <a:ext cx="9575445" cy="2611485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40266518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 descr="C:\Users\hp\Downloads\ندوة 14-12-2016\1178b04cb63dae9f4a1bf9733749923dالأمواج.gif">
            <a:extLst>
              <a:ext uri="{FF2B5EF4-FFF2-40B4-BE49-F238E27FC236}">
                <a16:creationId xmlns:a16="http://schemas.microsoft.com/office/drawing/2014/main" id="{59B7E73C-EE63-44CC-94D1-E0E66698962A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2283" y="-16968"/>
            <a:ext cx="12127434" cy="6741368"/>
          </a:xfrm>
          <a:prstGeom prst="rect">
            <a:avLst/>
          </a:prstGeom>
          <a:noFill/>
        </p:spPr>
      </p:pic>
      <p:sp>
        <p:nvSpPr>
          <p:cNvPr id="5" name="AutoShape 1">
            <a:extLst>
              <a:ext uri="{FF2B5EF4-FFF2-40B4-BE49-F238E27FC236}">
                <a16:creationId xmlns:a16="http://schemas.microsoft.com/office/drawing/2014/main" id="{1E3802B2-D986-4FA2-998A-10E4BE2566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8150" y="133600"/>
            <a:ext cx="4726742" cy="1403252"/>
          </a:xfrm>
          <a:prstGeom prst="horizontalScroll">
            <a:avLst>
              <a:gd name="adj" fmla="val 12500"/>
            </a:avLst>
          </a:prstGeom>
          <a:solidFill>
            <a:schemeClr val="bg1"/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ar-DZ" sz="66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FF00"/>
                </a:solidFill>
                <a:effectLst>
                  <a:outerShdw dist="38100" dir="2640000" algn="bl" rotWithShape="0">
                    <a:schemeClr val="accent1"/>
                  </a:outerShdw>
                </a:effectLst>
              </a:rPr>
              <a:t>شكرا</a:t>
            </a:r>
            <a:r>
              <a:rPr lang="ar-DZ" sz="66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 </a:t>
            </a:r>
            <a:r>
              <a:rPr lang="ar-DZ" sz="66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FF00"/>
                </a:solidFill>
                <a:effectLst>
                  <a:outerShdw dist="38100" dir="2640000" algn="bl" rotWithShape="0">
                    <a:schemeClr val="accent1"/>
                  </a:outerShdw>
                </a:effectLst>
              </a:rPr>
              <a:t>للجميع</a:t>
            </a:r>
            <a:endParaRPr lang="fr-FR" sz="6600" b="1" dirty="0">
              <a:ln w="12700">
                <a:solidFill>
                  <a:schemeClr val="accent1"/>
                </a:solidFill>
                <a:prstDash val="solid"/>
              </a:ln>
              <a:solidFill>
                <a:srgbClr val="FFFF00"/>
              </a:solid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8" name="WordArt 9">
            <a:extLst>
              <a:ext uri="{FF2B5EF4-FFF2-40B4-BE49-F238E27FC236}">
                <a16:creationId xmlns:a16="http://schemas.microsoft.com/office/drawing/2014/main" id="{A961A4FB-EAC9-4C25-97BF-38771F5D4134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495600" y="4221088"/>
            <a:ext cx="7776864" cy="2031664"/>
          </a:xfrm>
          <a:prstGeom prst="rect">
            <a:avLst/>
          </a:prstGeom>
          <a:noFill/>
        </p:spPr>
        <p:txBody>
          <a:bodyPr wrap="none" fromWordArt="1">
            <a:prstTxWarp prst="textPlain">
              <a:avLst>
                <a:gd name="adj" fmla="val 50481"/>
              </a:avLst>
            </a:prstTxWarp>
          </a:bodyPr>
          <a:lstStyle/>
          <a:p>
            <a:pPr algn="ctr"/>
            <a:r>
              <a:rPr lang="ar-DZ" sz="3300" b="1" kern="10" dirty="0">
                <a:ln w="19050">
                  <a:solidFill>
                    <a:srgbClr val="FFFF00"/>
                  </a:solidFill>
                  <a:round/>
                  <a:headEnd/>
                  <a:tailEnd/>
                </a:ln>
                <a:solidFill>
                  <a:srgbClr val="CC0066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Monotype Koufi"/>
              </a:rPr>
              <a:t>السلام عليكم ورحمة الله تعالى وبركاته</a:t>
            </a:r>
            <a:endParaRPr lang="fr-FR" sz="3300" b="1" kern="10" dirty="0">
              <a:ln w="19050">
                <a:solidFill>
                  <a:srgbClr val="FFFF00"/>
                </a:solidFill>
                <a:round/>
                <a:headEnd/>
                <a:tailEnd/>
              </a:ln>
              <a:solidFill>
                <a:srgbClr val="CC0066"/>
              </a:solidFill>
              <a:effectLst>
                <a:outerShdw dist="35921" dir="2700000" algn="ctr" rotWithShape="0">
                  <a:srgbClr val="990000"/>
                </a:outerShdw>
              </a:effectLst>
              <a:latin typeface="Monotype Koufi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96B481EA-E355-3A5A-31F9-6EBDFCE332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l="11829" t="21766" r="8771" b="26787"/>
          <a:stretch>
            <a:fillRect/>
          </a:stretch>
        </p:blipFill>
        <p:spPr bwMode="auto">
          <a:xfrm>
            <a:off x="6838487" y="0"/>
            <a:ext cx="5321230" cy="39404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711677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" dur="19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23" dur="19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4" dur="19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" dur="19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  <p:animScale>
                                      <p:cBhvr>
                                        <p:cTn id="2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100000" y="100000"/>
                                      <p:to x="100000" y="5000"/>
                                    </p:animScale>
                                    <p:animScale>
                                      <p:cBhvr>
                                        <p:cTn id="2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100000" y="5000"/>
                                      <p:to x="120000" y="150000"/>
                                    </p:animScale>
                                    <p:animScale>
                                      <p:cBhvr>
                                        <p:cTn id="28" dur="600" fill="hold">
                                          <p:stCondLst>
                                            <p:cond delay="14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2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35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/>
      <p:bldP spid="8" grpId="1"/>
      <p:bldP spid="8" grpId="2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F0A40-AD3A-4D3E-A7E3-D42E3CA6EA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07123" y="1521542"/>
            <a:ext cx="8825658" cy="3329581"/>
          </a:xfrm>
        </p:spPr>
        <p:txBody>
          <a:bodyPr>
            <a:normAutofit fontScale="90000"/>
          </a:bodyPr>
          <a:lstStyle/>
          <a:p>
            <a:r>
              <a:rPr lang="ar-DZ" sz="287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اضافي</a:t>
            </a:r>
            <a:endParaRPr lang="ar-DZ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26477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03D38E52-D605-2600-3E1D-2ACBD45E5F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7724" y="1527142"/>
            <a:ext cx="6928307" cy="3419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7961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1466FA-6C99-B35F-7F5A-9032473F2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67757B9-4E46-1989-BF4F-145163F9F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636" y="241952"/>
            <a:ext cx="10353762" cy="970450"/>
          </a:xfrm>
          <a:solidFill>
            <a:schemeClr val="bg1"/>
          </a:solidFill>
          <a:ln>
            <a:solidFill>
              <a:srgbClr val="FF0000"/>
            </a:solidFill>
          </a:ln>
        </p:spPr>
        <p:txBody>
          <a:bodyPr>
            <a:normAutofit fontScale="90000"/>
          </a:bodyPr>
          <a:lstStyle/>
          <a:p>
            <a:r>
              <a:rPr lang="ar-DZ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00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 مثال : استعمال مخطط ‘’ سمكة’’ ايشيكاوا في البحث عن الأسباب </a:t>
            </a:r>
            <a:endParaRPr lang="fr-FR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13F609D-7847-3366-DBEF-FFD73EF23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B1A08-6A26-43A0-B48E-2ABDF235525A}" type="slidenum">
              <a:rPr lang="fr-FR" smtClean="0"/>
              <a:pPr/>
              <a:t>28</a:t>
            </a:fld>
            <a:endParaRPr lang="fr-FR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F6F4B3E8-A69E-977D-077C-A1336B386FE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92" r="1787"/>
          <a:stretch>
            <a:fillRect/>
          </a:stretch>
        </p:blipFill>
        <p:spPr>
          <a:xfrm>
            <a:off x="131974" y="1414223"/>
            <a:ext cx="11745799" cy="5311600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39874137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0FBF8F55-CF9E-8201-FF07-D77947DAEE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8645" y="0"/>
            <a:ext cx="6453355" cy="3037162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F15F3900-68E8-81E6-3B52-8C17EA4915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2" y="2273126"/>
            <a:ext cx="8688620" cy="4584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29940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rdoise">
  <a:themeElements>
    <a:clrScheme name="Ardois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Ardois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rdois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Ardoise">
    <a:dk1>
      <a:sysClr val="windowText" lastClr="000000"/>
    </a:dk1>
    <a:lt1>
      <a:sysClr val="window" lastClr="FFFFFF"/>
    </a:lt1>
    <a:dk2>
      <a:srgbClr val="212123"/>
    </a:dk2>
    <a:lt2>
      <a:srgbClr val="DADADA"/>
    </a:lt2>
    <a:accent1>
      <a:srgbClr val="BC451B"/>
    </a:accent1>
    <a:accent2>
      <a:srgbClr val="D3BA68"/>
    </a:accent2>
    <a:accent3>
      <a:srgbClr val="BB8640"/>
    </a:accent3>
    <a:accent4>
      <a:srgbClr val="AD9277"/>
    </a:accent4>
    <a:accent5>
      <a:srgbClr val="A55A43"/>
    </a:accent5>
    <a:accent6>
      <a:srgbClr val="AD9D7B"/>
    </a:accent6>
    <a:hlink>
      <a:srgbClr val="E98052"/>
    </a:hlink>
    <a:folHlink>
      <a:srgbClr val="F4B69B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6284</TotalTime>
  <Words>1073</Words>
  <Application>Microsoft Office PowerPoint</Application>
  <PresentationFormat>Grand écran</PresentationFormat>
  <Paragraphs>295</Paragraphs>
  <Slides>29</Slides>
  <Notes>2</Notes>
  <HiddenSlides>0</HiddenSlides>
  <MMClips>0</MMClips>
  <ScaleCrop>false</ScaleCrop>
  <HeadingPairs>
    <vt:vector size="8" baseType="variant">
      <vt:variant>
        <vt:lpstr>Polices utilisées</vt:lpstr>
      </vt:variant>
      <vt:variant>
        <vt:i4>9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29</vt:i4>
      </vt:variant>
    </vt:vector>
  </HeadingPairs>
  <TitlesOfParts>
    <vt:vector size="40" baseType="lpstr">
      <vt:lpstr>Arial</vt:lpstr>
      <vt:lpstr>Calibri</vt:lpstr>
      <vt:lpstr>Calisto MT</vt:lpstr>
      <vt:lpstr>Constantia</vt:lpstr>
      <vt:lpstr>Monotype Koufi</vt:lpstr>
      <vt:lpstr>Sultan Medium</vt:lpstr>
      <vt:lpstr>Times New Roman</vt:lpstr>
      <vt:lpstr>Traditional Arabic</vt:lpstr>
      <vt:lpstr>Wingdings 2</vt:lpstr>
      <vt:lpstr>Ardoise</vt:lpstr>
      <vt:lpstr>Document</vt:lpstr>
      <vt:lpstr>Présentation PowerPoint</vt:lpstr>
      <vt:lpstr>Présentation PowerPoint</vt:lpstr>
      <vt:lpstr>     تأمل </vt:lpstr>
      <vt:lpstr>     تأمل </vt:lpstr>
      <vt:lpstr>لماذا لا يتمكن أستاذ ع ط ح من تنفيذ المنهاج حسب ما هو مخطط له ؟ س 4 </vt:lpstr>
      <vt:lpstr>Présentation PowerPoint</vt:lpstr>
      <vt:lpstr>مخطط ‘’ سمكة  ’’ ايشيكاوا –السبب والأثر </vt:lpstr>
      <vt:lpstr>Présentation PowerPoint</vt:lpstr>
      <vt:lpstr> مثال : استعمال مخطط ‘’ سمكة ايشيكاوا’’ في البحث عن الأسباب 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اضافي</vt:lpstr>
      <vt:lpstr>Présentation PowerPoint</vt:lpstr>
      <vt:lpstr> مثال : استعمال مخطط ‘’ سمكة’’ ايشيكاوا في البحث عن الأسباب 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</dc:creator>
  <cp:lastModifiedBy>hp</cp:lastModifiedBy>
  <cp:revision>30</cp:revision>
  <dcterms:created xsi:type="dcterms:W3CDTF">2025-10-11T09:27:34Z</dcterms:created>
  <dcterms:modified xsi:type="dcterms:W3CDTF">2025-10-21T20:31:29Z</dcterms:modified>
</cp:coreProperties>
</file>